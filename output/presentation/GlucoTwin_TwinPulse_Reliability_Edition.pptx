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06d5231f2404e74" /><Relationship Type="http://schemas.openxmlformats.org/officeDocument/2006/relationships/extended-properties" Target="/docProps/app.xml" Id="R48ac1d43d5a74e87" /><Relationship Type="http://schemas.openxmlformats.org/officeDocument/2006/relationships/officeDocument" Target="/ppt/presentation.xml" Id="R2b2af7e3e7f149a3" /></Relationships>
</file>

<file path=ppt/presentation.xml><?xml version="1.0" encoding="utf-8"?>
<p:presentation xmlns:p="http://schemas.openxmlformats.org/presentationml/2006/main">
  <p:sldMasterIdLst>
    <p:sldMasterId xmlns:r="http://schemas.openxmlformats.org/officeDocument/2006/relationships" id="2147483648" r:id="R7d2eaada6db54411"/>
  </p:sldMasterIdLst>
  <p:notesMasterIdLst>
    <p:notesMasterId xmlns:r="http://schemas.openxmlformats.org/officeDocument/2006/relationships" r:id="R8aec2bd59078473e"/>
  </p:notesMasterIdLst>
  <p:sldIdLst>
    <p:sldId xmlns:r="http://schemas.openxmlformats.org/officeDocument/2006/relationships" id="256" r:id="R1cc0e3405f7c4063"/>
    <p:sldId xmlns:r="http://schemas.openxmlformats.org/officeDocument/2006/relationships" id="257" r:id="Rcc8ae1b216434863"/>
    <p:sldId xmlns:r="http://schemas.openxmlformats.org/officeDocument/2006/relationships" id="258" r:id="R8f8bd182faf74048"/>
    <p:sldId xmlns:r="http://schemas.openxmlformats.org/officeDocument/2006/relationships" id="259" r:id="R0d0e96299c2640a3"/>
    <p:sldId xmlns:r="http://schemas.openxmlformats.org/officeDocument/2006/relationships" id="260" r:id="Rbea0a88404394df3"/>
    <p:sldId xmlns:r="http://schemas.openxmlformats.org/officeDocument/2006/relationships" id="261" r:id="R6287fda1de4b47b3"/>
    <p:sldId xmlns:r="http://schemas.openxmlformats.org/officeDocument/2006/relationships" id="262" r:id="R5d0fa6e639634bb4"/>
    <p:sldId xmlns:r="http://schemas.openxmlformats.org/officeDocument/2006/relationships" id="263" r:id="R7c6599fd76444303"/>
    <p:sldId xmlns:r="http://schemas.openxmlformats.org/officeDocument/2006/relationships" id="264" r:id="Rc381ed66aecd4144"/>
    <p:sldId xmlns:r="http://schemas.openxmlformats.org/officeDocument/2006/relationships" id="265" r:id="R6d53c44f28694408"/>
    <p:sldId xmlns:r="http://schemas.openxmlformats.org/officeDocument/2006/relationships" id="266" r:id="Rf59abe58e3ed4ab2"/>
    <p:sldId xmlns:r="http://schemas.openxmlformats.org/officeDocument/2006/relationships" id="267" r:id="R96c6c9d221ca4b7b"/>
    <p:sldId xmlns:r="http://schemas.openxmlformats.org/officeDocument/2006/relationships" id="268" r:id="Rb6eb121e13e1498c"/>
    <p:sldId xmlns:r="http://schemas.openxmlformats.org/officeDocument/2006/relationships" id="269" r:id="R7ee95e84e45f4ecf"/>
    <p:sldId xmlns:r="http://schemas.openxmlformats.org/officeDocument/2006/relationships" id="270" r:id="R6e937c38da444926"/>
    <p:sldId xmlns:r="http://schemas.openxmlformats.org/officeDocument/2006/relationships" id="271" r:id="R97d52b728cb5455b"/>
    <p:sldId xmlns:r="http://schemas.openxmlformats.org/officeDocument/2006/relationships" id="272" r:id="R9c9699f184354a66"/>
    <p:sldId xmlns:r="http://schemas.openxmlformats.org/officeDocument/2006/relationships" id="273" r:id="R372b269f1739474e"/>
    <p:sldId xmlns:r="http://schemas.openxmlformats.org/officeDocument/2006/relationships" id="274" r:id="Rae62cd563e1e4cb1"/>
    <p:sldId xmlns:r="http://schemas.openxmlformats.org/officeDocument/2006/relationships" id="275" r:id="R7fff6b834cd049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fa22da14d341bd" /><Relationship Type="http://schemas.openxmlformats.org/officeDocument/2006/relationships/slideMaster" Target="/ppt/slideMasters/slideMaster1.xml" Id="R7d2eaada6db54411" /><Relationship Type="http://schemas.openxmlformats.org/officeDocument/2006/relationships/notesMaster" Target="/ppt/notesMasters/notesMaster1.xml" Id="R8aec2bd59078473e" /><Relationship Type="http://schemas.openxmlformats.org/officeDocument/2006/relationships/presProps" Target="/ppt/presProps.xml" Id="Ra1ae6e90e671406e" /><Relationship Type="http://schemas.openxmlformats.org/officeDocument/2006/relationships/tableStyles" Target="/ppt/tableStyles.xml" Id="R09e3f9c21a6448b4" /><Relationship Type="http://schemas.openxmlformats.org/officeDocument/2006/relationships/slide" Target="/ppt/slides/slide1.xml" Id="R1cc0e3405f7c4063" /><Relationship Type="http://schemas.openxmlformats.org/officeDocument/2006/relationships/slide" Target="/ppt/slides/slide2.xml" Id="Rcc8ae1b216434863" /><Relationship Type="http://schemas.openxmlformats.org/officeDocument/2006/relationships/slide" Target="/ppt/slides/slide3.xml" Id="R8f8bd182faf74048" /><Relationship Type="http://schemas.openxmlformats.org/officeDocument/2006/relationships/slide" Target="/ppt/slides/slide4.xml" Id="R0d0e96299c2640a3" /><Relationship Type="http://schemas.openxmlformats.org/officeDocument/2006/relationships/slide" Target="/ppt/slides/slide5.xml" Id="Rbea0a88404394df3" /><Relationship Type="http://schemas.openxmlformats.org/officeDocument/2006/relationships/slide" Target="/ppt/slides/slide6.xml" Id="R6287fda1de4b47b3" /><Relationship Type="http://schemas.openxmlformats.org/officeDocument/2006/relationships/slide" Target="/ppt/slides/slide7.xml" Id="R5d0fa6e639634bb4" /><Relationship Type="http://schemas.openxmlformats.org/officeDocument/2006/relationships/slide" Target="/ppt/slides/slide8.xml" Id="R7c6599fd76444303" /><Relationship Type="http://schemas.openxmlformats.org/officeDocument/2006/relationships/slide" Target="/ppt/slides/slide9.xml" Id="Rc381ed66aecd4144" /><Relationship Type="http://schemas.openxmlformats.org/officeDocument/2006/relationships/slide" Target="/ppt/slides/slide10.xml" Id="R6d53c44f28694408" /><Relationship Type="http://schemas.openxmlformats.org/officeDocument/2006/relationships/slide" Target="/ppt/slides/slide11.xml" Id="Rf59abe58e3ed4ab2" /><Relationship Type="http://schemas.openxmlformats.org/officeDocument/2006/relationships/slide" Target="/ppt/slides/slide12.xml" Id="R96c6c9d221ca4b7b" /><Relationship Type="http://schemas.openxmlformats.org/officeDocument/2006/relationships/slide" Target="/ppt/slides/slide13.xml" Id="Rb6eb121e13e1498c" /><Relationship Type="http://schemas.openxmlformats.org/officeDocument/2006/relationships/slide" Target="/ppt/slides/slide14.xml" Id="R7ee95e84e45f4ecf" /><Relationship Type="http://schemas.openxmlformats.org/officeDocument/2006/relationships/slide" Target="/ppt/slides/slide15.xml" Id="R6e937c38da444926" /><Relationship Type="http://schemas.openxmlformats.org/officeDocument/2006/relationships/slide" Target="/ppt/slides/slide16.xml" Id="R97d52b728cb5455b" /><Relationship Type="http://schemas.openxmlformats.org/officeDocument/2006/relationships/slide" Target="/ppt/slides/slide17.xml" Id="R9c9699f184354a66" /><Relationship Type="http://schemas.openxmlformats.org/officeDocument/2006/relationships/slide" Target="/ppt/slides/slide18.xml" Id="R372b269f1739474e" /><Relationship Type="http://schemas.openxmlformats.org/officeDocument/2006/relationships/slide" Target="/ppt/slides/slide19.xml" Id="Rae62cd563e1e4cb1" /><Relationship Type="http://schemas.openxmlformats.org/officeDocument/2006/relationships/slide" Target="/ppt/slides/slide20.xml" Id="R7fff6b834cd049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05b34fe8a44c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d4da77afcd4c9e" /><Relationship Type="http://schemas.openxmlformats.org/officeDocument/2006/relationships/notesMaster" Target="/ppt/notesMasters/notesMaster1.xml" Id="R3b29d0edb20e47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cb797d1d8849ec" /><Relationship Type="http://schemas.openxmlformats.org/officeDocument/2006/relationships/notesMaster" Target="/ppt/notesMasters/notesMaster1.xml" Id="R16c4b99ee98346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dfbea8ecae4f47" /><Relationship Type="http://schemas.openxmlformats.org/officeDocument/2006/relationships/notesMaster" Target="/ppt/notesMasters/notesMaster1.xml" Id="R1e2f24b2fdb048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598a18d69e4b69" /><Relationship Type="http://schemas.openxmlformats.org/officeDocument/2006/relationships/notesMaster" Target="/ppt/notesMasters/notesMaster1.xml" Id="Re44fe6fff1964e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927e870f6246be" /><Relationship Type="http://schemas.openxmlformats.org/officeDocument/2006/relationships/notesMaster" Target="/ppt/notesMasters/notesMaster1.xml" Id="R3137006e3a0a4a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03b03124704cbb" /><Relationship Type="http://schemas.openxmlformats.org/officeDocument/2006/relationships/notesMaster" Target="/ppt/notesMasters/notesMaster1.xml" Id="R47fe8cb20db841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1a7dbab99d479e" /><Relationship Type="http://schemas.openxmlformats.org/officeDocument/2006/relationships/notesMaster" Target="/ppt/notesMasters/notesMaster1.xml" Id="R0996489f7a0642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5f8ef5735c4a27" /><Relationship Type="http://schemas.openxmlformats.org/officeDocument/2006/relationships/notesMaster" Target="/ppt/notesMasters/notesMaster1.xml" Id="Rc4fb5e52e0e44e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14cfc572f64505" /><Relationship Type="http://schemas.openxmlformats.org/officeDocument/2006/relationships/notesMaster" Target="/ppt/notesMasters/notesMaster1.xml" Id="Rf54f2394b7fc4d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6fa32f85e74aab" /><Relationship Type="http://schemas.openxmlformats.org/officeDocument/2006/relationships/notesMaster" Target="/ppt/notesMasters/notesMaster1.xml" Id="Rb95014236c9b40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64b12c9dc549e0" /><Relationship Type="http://schemas.openxmlformats.org/officeDocument/2006/relationships/notesMaster" Target="/ppt/notesMasters/notesMaster1.xml" Id="R0c8bde4554294c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33ddcfa6f34062" /><Relationship Type="http://schemas.openxmlformats.org/officeDocument/2006/relationships/notesMaster" Target="/ppt/notesMasters/notesMaster1.xml" Id="Rfef0f94ee86a4e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5d92b4857e4d9c" /><Relationship Type="http://schemas.openxmlformats.org/officeDocument/2006/relationships/notesMaster" Target="/ppt/notesMasters/notesMaster1.xml" Id="R872bd99cad3f416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4979ca0ba8418e" /><Relationship Type="http://schemas.openxmlformats.org/officeDocument/2006/relationships/notesMaster" Target="/ppt/notesMasters/notesMaster1.xml" Id="Rbf9cf0433b2946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a6e017c8f94f77" /><Relationship Type="http://schemas.openxmlformats.org/officeDocument/2006/relationships/notesMaster" Target="/ppt/notesMasters/notesMaster1.xml" Id="Re858951b5a3749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863eb4511d648e6" /><Relationship Type="http://schemas.openxmlformats.org/officeDocument/2006/relationships/notesMaster" Target="/ppt/notesMasters/notesMaster1.xml" Id="R8dc6acf8657842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594508f05141fe" /><Relationship Type="http://schemas.openxmlformats.org/officeDocument/2006/relationships/notesMaster" Target="/ppt/notesMasters/notesMaster1.xml" Id="Rb35c75fbc329410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d0125564f454311" /><Relationship Type="http://schemas.openxmlformats.org/officeDocument/2006/relationships/notesMaster" Target="/ppt/notesMasters/notesMaster1.xml" Id="R506adb2ba1a0435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e65a0ff2494ca8" /><Relationship Type="http://schemas.openxmlformats.org/officeDocument/2006/relationships/notesMaster" Target="/ppt/notesMasters/notesMaster1.xml" Id="R1f27f10359fe47a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d81730cebc94874" /><Relationship Type="http://schemas.openxmlformats.org/officeDocument/2006/relationships/notesMaster" Target="/ppt/notesMasters/notesMaster1.xml" Id="R6876a93fe7a445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TwinPulse presents GlucoTwin, a research prototype that forecasts glucose from recorded CGM observations. Explain the project as a limited patient-state model. The dashboard processes observations incrementally. It has no live hardware connection and offers no treatment recommendations. The central result is an 11.1% relative reduction in patient-mean 30-minute MAE against persistence. Scoring v2 corrects causal warning emission and censoring. The Reliability Lab adds controlled delivery disruptions and forecast receipts. Team details appear on the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sensor reading describes the present. We are investigating whether recent glucose dynamics help estimate the next 30 minutes. The intended user today is a researcher or clinician reviewing recordings. Better health outcomes remain a future question. Diabetes relevance in India motivates the project but does not validate this model for Indian patients. Motivation source: WHO India, https://www.who.int/india/health-topics/diabetes. Project scope: docs/PROTOCOL.md.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receives linked baseline clinical information and dynamic observations. Its patient state records recent glucose, quality and previously issued forecasts. It computes six future estimates. The dashboard can reveal later readings for comparison, but those readings never enter the earlier forecast. The clinical and activity engines implement data fusion. Validation chose the simpler CGM-only model. Sources: core.py, prepare.py, app.py, reports/frozen_config.json.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CGMacros v1.0.0: https://physionet.org/content/cgmacros/1.0.0/</a:t>
            </a:r>
          </a:p>
          <a:p xmlns:a="http://schemas.openxmlformats.org/drawingml/2006/main">
            <a:r>
              <a:t>Local sources: reports/audit_summary.json, reports/data_audit.csv, docs/PROTOCOL.md.</a:t>
            </a:r>
          </a:p>
          <a:p xmlns:a="http://schemas.openxmlformats.org/drawingml/2006/main">
            <a:r>
              <a:t>We downloaded 48 numeric CSV members, verified member CRC32 checks, and recorded member SHA256 values. We did not download or verify the complete photo archive. The source contains interpolation. Our fixed five-minute phase reconstruction reduces reuse of interpolated minute values, but cannot establish original sensor timestamps. Keep this caveat visible. Source license: CC BY-NC-SA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limited digital twin is a changing patient-specific data representation. It does not estimate physiology such as insulin sensitivity. The state stores the linked profile, thirteen five-minute glucose points spanning an hour, quality information and pending predictions. Each update matures old errors before issuing a new forecast. It requires sufficient uninterrupted glucose history. Optional online bias correction uses matured errors only. Validation selected an update rate of zero, so deployed adaptation is disabled. Sources: core.py; reports/frozen_config.json.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participant and engine selection, the linked clinical profile, controls, current reading and forecast. Each step passes a new observation to TwinState.update. The chart shows observed CGM, the issued forecast and, for the selected model, empirical residual bands. Future outcomes are hidden until explicitly revealed. Screenshot source: local http://127.0.0.1:8502/, captured 19 October 2026. Original screenshot stored in tmp/pptx/assets/dashboard-overview.png. No patient name or identifying original date is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current value is 166 mg/dL. The issued path peaks near 181 and ends near 178 at +30 minutes. The path satisfies the alert criterion of 170. A sustained research onset begins at 19:35, twenty minutes after this saved qualifying score. Reveal later CGM only for review. Scenario jumps reset local replay state and cooldown, so this is a selected forecast example, not an exact reproduction of every emitted alert. Sources: reports/documentation_event_audit.json; reports/test_results.json; saved artifacts/test_replay.joblib. Screenshot source: local dashboard, tmp/pptx/assets/success-full.png.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is deterministic and cohort-stratified: 27 training, 9 validation, 9 reserved test participants. No participant belongs to multiple partitions. The first 24 hours establish cadence and do not enter scored predictions. One test participant has no supported post-initialization windows under the fixed cadence rule. Eight participants therefore contribute forecast-error metrics, including only three with Type 2 diabetes. All nine remain in monitoring coverage. Model and warning thresholds were selected on validation and frozen before the recorded test. Sources: reports/splits.json; reports/frozen_config.json; reports/test_comparison.csv; docs/PROTOCOL.md.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frozen evaluation, 19 Oct 2026. Patient means at +30 minutes, mg/dL.</a:t>
            </a:r>
          </a:p>
          <a:p xmlns:a="http://schemas.openxmlformats.org/drawingml/2006/main">
            <a:r>
              <a:t>Boosted CGM was selected on validation, not the test ranking. Persistence MAE 14.2117565142; boosted MAE 12.6384222076. Relative reduction 11.0707%. This is an average error reduction, not an accuracy percentage. Clinical fusion is numerically slightly lower on test but did not win validation. RMSE remains 18.62 for selected boosted CGM, versus 21.14 for persistence. No independent-cohort replication or confidence interval establishes the small fusion difference. Source: reports/test_comparison.csv; reports/validation_forecasts.csv.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crop of the actual application results table, with model identifiers and all-cohort and Type 2 MAE columns. It is not a rendered mockup or a chart invented for the slides. The adaptive_twin row equals boosted_cgm because validation disabled bias correction. A separate native chart and appendix table provide fully editable values. Screenshot source: local application Performance &amp; evidence tab, 19 October 2026, tmp/pptx/assets/results-full.png.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clinical_cgm engine adds baseline age, BMI, HbA1c and fasting glucose. The clinical_activity engine adds available dynamic activity and coverage indicators. The selected model remains boosted CGM because it had the best validation MAE. The small fusion advantage in test does not establish general improvement. We should retain the frozen winner and repeat matched ablations on independent data. Tested online bias update rates were 0, 0.03 and 0.1. Zero won validation, so adaptation is disabled. Sources: reports/validation_forecasts.csv, reports/test_comparison.csv, reports/frozen_config.json.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Scoring v2 emits warnings using current supported scores, advances cooldown for every emission, and matches observed sustained positive onsets despite gaps later in follow-up. Unmatched alerts without 45-minute complete follow-up are censored. Selected model: 162/163 onsets credited, 268 false warnings, 3 censored alerts, 0.231600 false warnings per eligible non-event hour, median credited lead 10 minutes. Type 2: 106/106 credited, 161 false warnings, 1 censored, 0.466441/hour, three participants. Persistence: 139/163 at 0.212588/hour. No retraining or threshold tuning. Thresholds were originally selected with scoring v1. The test cohort is small and inspected. No clinical usefulness claim follows. Sources: reports/scoring_v2_audit.json; reports/test_results.json. Old outputs remain in reports/scoring_v1/.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activated loss for incoming CGM, advanced a single five-minute step, and captured the resulting unavailable input, withheld forecast and insufficient-data state. This proves an input-rule behavior rather than clinical reliability. The historic source data can contain interpolation, so raw native sensor missingness still requires validation. The revealed future curve is a review-only outcome and is not available to the inference function. Screenshot source: local app at P042, 19:20 shifted research time, captured 19 October 2026, tmp/pptx/assets/loss-full.png.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Residual interval half-widths come from the validation absolute-error 90th quantile at each forecast horizon. Test outcomes fall within the band 86.5% on average across scoreable participants, below its nominal 90% target. The 30-minute width is 50.8 mg/dL. This is an empirical error interval and not an event probability. Forecast monitoring coverage is 78.8% across nine reserved participants including P018 with no supported windows, and 93.7% in the Type 2 subset. Source: reports/test_results.json, reports/frozen_config.json, reports/test_comparison.csv.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Frozen-model engineering stress test. Normal patient-mean coverage 78.7997%, repeated 15-minute loss every 6 hours 62.4216%, 10-minute delivery delay for 30 minutes every 6 hours 59.1904%. The latter rejects packets older than five minutes. Gaps require new uninterrupted history, with no carry-forward or backfill. Loss withholds 3909 extra rows. Delay withholds 4680 extra rows and rejects 2213 stale packets. Scenario MAEs use different retained targets; paired normal MAE matches exactly on each retained set. No accuracy improvement is claimed. The mask can reuse saved predictions because retained inputs are unchanged. Tests establish incremental parity of retained windows. This is a controlled transport stress test on inspected test data, not new independent clinical validation. Source: reports/reliability_benchmark.json.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Receipt generated from P042 at the first supported timestamp, using the frozen boosted-CGM model and actual incremental updates. The receipt preserves an input snapshot, model-artifact SHA256, issued timestamp and six forecast values. Outcomes append after target readings arrive. The payload hash excludes later outcomes and remains checkable. Clinical profile is retained but not used by the CGM-only model. Recent errors use only observed matured +30-minute targets, with a maximum of 20, and are descriptive overlapping errors. Source: output/evidence/example_forecast_receipt.json; reliability.py; tests/test_reliability.py.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scorer correction and engineering disruption lab are complete. Future work is independent replication on native CGM observations, broader transport fault schedules, and prospective evaluation. Current source interpolation, small cohort and Type 2 false-warning burden remain material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details supplied by the user: Rimzim Kumari, leader, CSE, VIT Bhopal; Aksh Agrawal, ECE, VIT Vellore. No specific work split or qualifications beyond those details have been inferred. Close with the measured result and the transparent limits. Project proof today is a functioning incremental forecast demo with separate-patient evaluation and a documented scoring weakness.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frozen evaluation, 19 Oct 2026. Patient means at +30 minutes, mg/dL.</a:t>
            </a:r>
          </a:p>
          <a:p xmlns:a="http://schemas.openxmlformats.org/drawingml/2006/main">
            <a:r>
              <a:t>All model values come from reports/test_comparison.csv and reports/validation_forecasts.csv. Adaptive_twin equals boosted_cgm with alpha 0 and is not an independent method improvement. Trend extrapolates 15-minute slope capped at +/-2 mg/dL/minute. Learned models predict deltas from the current glucose. Training balances participant contributions. No confidence interval is reported. Preserve units and cohort denominators when quoting these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source: CGMacros v1.0.0 https://physionet.org/content/cgmacros/1.0.0/. Motivation: WHO India Diabetes https://www.who.int/india/health-topics/diabetes. Experiment and evidence: reports/frozen_config.json; reports/test_comparison.csv; reports/test_results.json; reports/documentation_event_audit.json; reports/verification.json. Eight existing meaningful checks passed before the warning boundary audit. That audit shows why passing tests does not establish model validity. Reproducing the old evaluator reproduces its flaw. Scoring v2 corrects causal emission and censoring, retaining frozen thresholds. Team and institution details come directly from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2fb4c35d2748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5f13b5b97149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ee8758cf394d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4085b844fad47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226886bf7f42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479b12d3674f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D12BB3-4A04-4E77-8108-86AA23E69A3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059A90-36DD-448D-9CB8-D0E6EEE1A1A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E30551-C4C6-484F-9FCC-09691615403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F1CB80-0D93-439C-A1CB-C4F023DF3B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F7FE23-FBF4-40DB-99BE-953A212E50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222BD8-B09C-44DE-8628-7289A738CF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92C113-9A21-4B8E-8680-184F1E8625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E9C5F5-6E91-4A28-88A6-358C900112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8DDBAD-8273-4C0E-85ED-54C2E100B9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BAB9AA-9829-4288-9233-63C9939463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ac5ff72b2c422f" /><Relationship Type="http://schemas.openxmlformats.org/officeDocument/2006/relationships/slideLayout" Target="/ppt/slideLayouts/slideLayout1.xml" Id="Ra60b6d001fe045c7" /><Relationship Type="http://schemas.openxmlformats.org/officeDocument/2006/relationships/slideLayout" Target="/ppt/slideLayouts/slideLayout2.xml" Id="R488dbf8844504e79" /><Relationship Type="http://schemas.openxmlformats.org/officeDocument/2006/relationships/slideLayout" Target="/ppt/slideLayouts/slideLayout3.xml" Id="Rb3f36a0464284c48" /><Relationship Type="http://schemas.openxmlformats.org/officeDocument/2006/relationships/slideLayout" Target="/ppt/slideLayouts/slideLayout4.xml" Id="R6c1cb463047e4907" /><Relationship Type="http://schemas.openxmlformats.org/officeDocument/2006/relationships/slideLayout" Target="/ppt/slideLayouts/slideLayout5.xml" Id="R3dc1aafa807044e5" /><Relationship Type="http://schemas.openxmlformats.org/officeDocument/2006/relationships/slideLayout" Target="/ppt/slideLayouts/slideLayout6.xml" Id="R3f97f84ab12143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0b6d001fe045c7"/>
    <p:sldLayoutId xmlns:r="http://schemas.openxmlformats.org/officeDocument/2006/relationships" id="2147483650" r:id="R488dbf8844504e79"/>
    <p:sldLayoutId xmlns:r="http://schemas.openxmlformats.org/officeDocument/2006/relationships" id="2147483651" r:id="Rb3f36a0464284c48"/>
    <p:sldLayoutId xmlns:r="http://schemas.openxmlformats.org/officeDocument/2006/relationships" id="2147483652" r:id="R6c1cb463047e4907"/>
    <p:sldLayoutId xmlns:r="http://schemas.openxmlformats.org/officeDocument/2006/relationships" id="2147483653" r:id="R3dc1aafa807044e5"/>
    <p:sldLayoutId xmlns:r="http://schemas.openxmlformats.org/officeDocument/2006/relationships" id="2147483654" r:id="R3f97f84ab121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6bb020c40b48bb" /><Relationship Type="http://schemas.openxmlformats.org/officeDocument/2006/relationships/notesSlide" Target="/ppt/notesSlides/notesSlide1.xml" Id="Re8194c8350e64a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acd389017e84599" /><Relationship Type="http://schemas.openxmlformats.org/officeDocument/2006/relationships/notesSlide" Target="/ppt/notesSlides/notesSlide2.xml" Id="Raa0c51288d244b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dc2aa89a15423c" /><Relationship Type="http://schemas.openxmlformats.org/officeDocument/2006/relationships/notesSlide" Target="/ppt/notesSlides/notesSlide3.xml" Id="R8e88809bf4ee4e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9193e1f07b4717" /><Relationship Type="http://schemas.openxmlformats.org/officeDocument/2006/relationships/notesSlide" Target="/ppt/notesSlides/notesSlide4.xml" Id="R594047c0fe9d46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4e8de65ce845cc" /><Relationship Type="http://schemas.openxmlformats.org/officeDocument/2006/relationships/notesSlide" Target="/ppt/notesSlides/notesSlide5.xml" Id="Rf8169f2078cd43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985e0e5acf4440" /><Relationship Type="http://schemas.openxmlformats.org/officeDocument/2006/relationships/image" Target="/ppt/media/image.png" Id="Ra37987627fb54ac5" /><Relationship Type="http://schemas.openxmlformats.org/officeDocument/2006/relationships/notesSlide" Target="/ppt/notesSlides/notesSlide6.xml" Id="Ra3c2b26fb8b745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4e372c1a8434612" /><Relationship Type="http://schemas.openxmlformats.org/officeDocument/2006/relationships/image" Target="/ppt/media/image2.png" Id="R5b0aef9575534137" /><Relationship Type="http://schemas.openxmlformats.org/officeDocument/2006/relationships/notesSlide" Target="/ppt/notesSlides/notesSlide7.xml" Id="R29c443f444fa49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d58e5cbe6e74525" /><Relationship Type="http://schemas.openxmlformats.org/officeDocument/2006/relationships/notesSlide" Target="/ppt/notesSlides/notesSlide8.xml" Id="Re2682fea07e949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3e84df79226429b" /><Relationship Type="http://schemas.openxmlformats.org/officeDocument/2006/relationships/chart" Target="/ppt/slides/charts/chart1.xml" Id="Rb1fa7f499c654f6c" /><Relationship Type="http://schemas.openxmlformats.org/officeDocument/2006/relationships/notesSlide" Target="/ppt/notesSlides/notesSlide9.xml" Id="R5b94f66596dd48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6b669adc364185" /><Relationship Type="http://schemas.openxmlformats.org/officeDocument/2006/relationships/image" Target="/ppt/media/image3.png" Id="Rf75b65a0588d4957" /><Relationship Type="http://schemas.openxmlformats.org/officeDocument/2006/relationships/notesSlide" Target="/ppt/notesSlides/notesSlide10.xml" Id="R08b7c814530348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e71214827c64db7" /><Relationship Type="http://schemas.openxmlformats.org/officeDocument/2006/relationships/notesSlide" Target="/ppt/notesSlides/notesSlide11.xml" Id="R9007974ac20c46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65b956f49014cba" /><Relationship Type="http://schemas.openxmlformats.org/officeDocument/2006/relationships/notesSlide" Target="/ppt/notesSlides/notesSlide12.xml" Id="Ra6ea40e342c6418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26dab27b74d4791" /><Relationship Type="http://schemas.openxmlformats.org/officeDocument/2006/relationships/image" Target="/ppt/media/image4.png" Id="Ra6539bcd5c3a4a25" /><Relationship Type="http://schemas.openxmlformats.org/officeDocument/2006/relationships/notesSlide" Target="/ppt/notesSlides/notesSlide13.xml" Id="R7e0625d7a43048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4dda50e112f4b04" /><Relationship Type="http://schemas.openxmlformats.org/officeDocument/2006/relationships/notesSlide" Target="/ppt/notesSlides/notesSlide14.xml" Id="R4c9af554a3364c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5d9eaf3dcb64b92" /><Relationship Type="http://schemas.openxmlformats.org/officeDocument/2006/relationships/chart" Target="/ppt/slides/charts/chart2.xml" Id="R1984be0648e14f4d" /><Relationship Type="http://schemas.openxmlformats.org/officeDocument/2006/relationships/notesSlide" Target="/ppt/notesSlides/notesSlide15.xml" Id="R69e3f6b3748b40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bbfc1513ae34185" /><Relationship Type="http://schemas.openxmlformats.org/officeDocument/2006/relationships/notesSlide" Target="/ppt/notesSlides/notesSlide16.xml" Id="Rb0984e444cce4c6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0ab2033cad74745" /><Relationship Type="http://schemas.openxmlformats.org/officeDocument/2006/relationships/notesSlide" Target="/ppt/notesSlides/notesSlide17.xml" Id="R8b9e56e37cf548f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1eb7064978f4956" /><Relationship Type="http://schemas.openxmlformats.org/officeDocument/2006/relationships/notesSlide" Target="/ppt/notesSlides/notesSlide18.xml" Id="R0e9ed97478424f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94f2a768fc14dc8" /><Relationship Type="http://schemas.openxmlformats.org/officeDocument/2006/relationships/notesSlide" Target="/ppt/notesSlides/notesSlide19.xml" Id="Rf4c3ce5a7f614c6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86887776783469d" /><Relationship Type="http://schemas.openxmlformats.org/officeDocument/2006/relationships/notesSlide" Target="/ppt/notesSlides/notesSlide20.xml" Id="Ra1e782f4279d4f5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30-minute MAE</c:v>
          </c:tx>
          <c:spPr>
            <a:solidFill xmlns:a="http://schemas.openxmlformats.org/drawingml/2006/main">
              <a:srgbClr val="A5BFBC"/>
            </a:solidFill>
          </c:spPr>
          <c:invertIfNegative val="0"/>
          <c:dPt>
            <c:idx val="0"/>
            <c:invertIfNegative val="0"/>
            <c:spPr>
              <a:solidFill xmlns:a="http://schemas.openxmlformats.org/drawingml/2006/main">
                <a:srgbClr val="A5BFBC"/>
              </a:solidFill>
            </c:spPr>
          </c:dPt>
          <c:dPt>
            <c:idx val="1"/>
            <c:invertIfNegative val="0"/>
            <c:spPr>
              <a:solidFill xmlns:a="http://schemas.openxmlformats.org/drawingml/2006/main">
                <a:srgbClr val="A5BFBC"/>
              </a:solidFill>
            </c:spPr>
          </c:dPt>
          <c:dPt>
            <c:idx val="2"/>
            <c:invertIfNegative val="0"/>
            <c:spPr>
              <a:solidFill xmlns:a="http://schemas.openxmlformats.org/drawingml/2006/main">
                <a:srgbClr val="A5BFBC"/>
              </a:solidFill>
            </c:spPr>
          </c:dPt>
          <c:dPt>
            <c:idx val="3"/>
            <c:invertIfNegative val="0"/>
            <c:spPr>
              <a:solidFill xmlns:a="http://schemas.openxmlformats.org/drawingml/2006/main">
                <a:srgbClr val="087E80"/>
              </a:solidFill>
            </c:spPr>
          </c:dPt>
          <c:dPt>
            <c:idx val="4"/>
            <c:invertIfNegative val="0"/>
            <c:spPr>
              <a:solidFill xmlns:a="http://schemas.openxmlformats.org/drawingml/2006/main">
                <a:srgbClr val="A5BFBC"/>
              </a:solidFill>
            </c:spPr>
          </c:dPt>
          <c:dPt>
            <c:idx val="5"/>
            <c:invertIfNegative val="0"/>
            <c:spPr>
              <a:solidFill xmlns:a="http://schemas.openxmlformats.org/drawingml/2006/main">
                <a:srgbClr val="A5BFBC"/>
              </a:solidFill>
            </c:spPr>
          </c:dPt>
          <c:cat>
            <c:strRef>
              <c:f>'Chart Data'!$A$2:$A$7</c:f>
              <c:strCache>
                <c:ptCount val="6"/>
                <c:pt idx="0">
                  <c:v>Unchanged glucose</c:v>
                </c:pt>
                <c:pt idx="1">
                  <c:v>Recent trend</c:v>
                </c:pt>
                <c:pt idx="2">
                  <c:v>Linear CGM</c:v>
                </c:pt>
                <c:pt idx="3">
                  <c:v>Boosted CGM (selected)</c:v>
                </c:pt>
                <c:pt idx="4">
                  <c:v>Clinical + CGM</c:v>
                </c:pt>
                <c:pt idx="5">
                  <c:v>Clinical + activity</c:v>
                </c:pt>
              </c:strCache>
            </c:strRef>
          </c:cat>
          <c:val>
            <c:numRef>
              <c:f>'Chart Data'!$B$2:$B$7</c:f>
              <c:numCache>
                <c:formatCode>General</c:formatCode>
                <c:ptCount val="6"/>
                <c:pt idx="0">
                  <c:v>14.21</c:v>
                </c:pt>
                <c:pt idx="1">
                  <c:v>19.8</c:v>
                </c:pt>
                <c:pt idx="2">
                  <c:v>13.19</c:v>
                </c:pt>
                <c:pt idx="3">
                  <c:v>12.64</c:v>
                </c:pt>
                <c:pt idx="4">
                  <c:v>12.53</c:v>
                </c:pt>
                <c:pt idx="5">
                  <c:v>12.47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32E3B"/>
                  </a:solidFill>
                  <a:latin typeface="Arial"/>
                  <a:ea typeface="Arial"/>
                  <a:cs typeface="Arial"/>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32E3B"/>
                </a:solidFill>
                <a:latin typeface="Arial"/>
                <a:ea typeface="Arial"/>
                <a:cs typeface="Arial"/>
              </a:defRPr>
            </a:pPr>
          </a:p>
        </c:txPr>
        <c:crossAx val="48672768"/>
      </c:catAx>
      <c:valAx>
        <c:axId val="48672768"/>
        <c:scaling>
          <c:orientation val="minMax"/>
          <c:max val="22"/>
          <c:min val="0"/>
        </c:scaling>
        <c:delete val="0"/>
        <c:axPos val="b"/>
        <c:majorGridlines>
          <c:spPr>
            <a:ln xmlns:a="http://schemas.openxmlformats.org/drawingml/2006/main" w="9525">
              <a:solidFill>
                <a:srgbClr val="D6DEDB"/>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B7B"/>
                </a:solidFill>
                <a:latin typeface="Arial"/>
                <a:ea typeface="Arial"/>
                <a:cs typeface="Arial"/>
              </a:defRPr>
            </a:pPr>
          </a:p>
        </c:txPr>
        <c:crossAx val="48650112"/>
        <c:crossBetween val="between"/>
      </c:valAx>
      <c:spPr>
        <a:solidFill xmlns:a="http://schemas.openxmlformats.org/drawingml/2006/main">
          <a:srgbClr val="F2F3EE"/>
        </a:solidFill>
      </c:spPr>
    </c:plotArea>
    <c:plotVisOnly val="1"/>
  </c:chart>
  <c:spPr>
    <a:solidFill xmlns:a="http://schemas.openxmlformats.org/drawingml/2006/main">
      <a:srgbClr val="F2F3EE"/>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Forecast coverage (%)</c:v>
          </c:tx>
          <c:spPr>
            <a:solidFill xmlns:a="http://schemas.openxmlformats.org/drawingml/2006/main">
              <a:srgbClr val="087E80"/>
            </a:solidFill>
          </c:spPr>
          <c:invertIfNegative val="0"/>
          <c:cat>
            <c:strRef>
              <c:f>'Chart Data'!$A$2:$A$4</c:f>
              <c:strCache>
                <c:ptCount val="3"/>
                <c:pt idx="0">
                  <c:v>Original delivery</c:v>
                </c:pt>
                <c:pt idx="1">
                  <c:v>Repeated signal loss</c:v>
                </c:pt>
                <c:pt idx="2">
                  <c:v>Delayed packets</c:v>
                </c:pt>
              </c:strCache>
            </c:strRef>
          </c:cat>
          <c:val>
            <c:numRef>
              <c:f>'Chart Data'!$B$2:$B$4</c:f>
              <c:numCache>
                <c:formatCode>General</c:formatCode>
                <c:ptCount val="3"/>
                <c:pt idx="0">
                  <c:v>78.8</c:v>
                </c:pt>
                <c:pt idx="1">
                  <c:v>62.4</c:v>
                </c:pt>
                <c:pt idx="2">
                  <c:v>59.2</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2250" b="1">
                  <a:solidFill>
                    <a:srgbClr val="132E3B"/>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32E3B"/>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6DED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B7B"/>
                </a:solidFill>
                <a:latin typeface="Arial"/>
                <a:ea typeface="Arial"/>
                <a:cs typeface="Arial"/>
              </a:defRPr>
            </a:pPr>
          </a:p>
        </c:txPr>
        <c:crossAx val="48650112"/>
        <c:crossBetween val="between"/>
        <c:majorUnit val="20"/>
      </c:valAx>
      <c:spPr>
        <a:solidFill xmlns:a="http://schemas.openxmlformats.org/drawingml/2006/main">
          <a:srgbClr val="F2F3EE"/>
        </a:solidFill>
      </c:spPr>
    </c:plotArea>
    <c:plotVisOnly val="1"/>
  </c:chart>
  <c:spPr>
    <a:solidFill xmlns:a="http://schemas.openxmlformats.org/drawingml/2006/main">
      <a:srgbClr val="F2F3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3D57F6-2994-4BE9-A984-BB13DEEAFA7B}"/>
              </a:ext>
            </a:extLst>
          </p:cNvPr>
          <p:cNvSpPr>
            <a:spLocks xmlns:a="http://schemas.openxmlformats.org/drawingml/2006/main" noGrp="1"/>
          </p:cNvSpPr>
          <p:nvPr/>
        </p:nvSpPr>
        <p:spPr>
          <a:xfrm xmlns:a="http://schemas.openxmlformats.org/drawingml/2006/main">
            <a:off x="647700" y="5524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67E2D0"/>
                </a:solidFill>
                <a:latin typeface="Arial"/>
                <a:ea typeface="Arial"/>
                <a:cs typeface="Arial"/>
              </a:defRPr>
            </a:defPPr>
            <a:lvl1pPr>
              <a:defRPr sz="1500" b="1">
                <a:solidFill>
                  <a:srgbClr val="67E2D0"/>
                </a:solidFill>
                <a:latin typeface="Arial"/>
                <a:ea typeface="Arial"/>
                <a:cs typeface="Arial"/>
              </a:defRPr>
            </a:lvl1pPr>
            <a:lvl2pPr>
              <a:defRPr sz="1500" b="1">
                <a:solidFill>
                  <a:srgbClr val="67E2D0"/>
                </a:solidFill>
                <a:latin typeface="Arial"/>
                <a:ea typeface="Arial"/>
                <a:cs typeface="Arial"/>
              </a:defRPr>
            </a:lvl2pPr>
            <a:lvl3pPr>
              <a:defRPr sz="1500" b="1">
                <a:solidFill>
                  <a:srgbClr val="67E2D0"/>
                </a:solidFill>
                <a:latin typeface="Arial"/>
                <a:ea typeface="Arial"/>
                <a:cs typeface="Arial"/>
              </a:defRPr>
            </a:lvl3pPr>
            <a:lvl4pPr>
              <a:defRPr sz="1500" b="1">
                <a:solidFill>
                  <a:srgbClr val="67E2D0"/>
                </a:solidFill>
                <a:latin typeface="Arial"/>
                <a:ea typeface="Arial"/>
                <a:cs typeface="Arial"/>
              </a:defRPr>
            </a:lvl4pPr>
            <a:lvl5pPr>
              <a:defRPr sz="1500" b="1">
                <a:solidFill>
                  <a:srgbClr val="67E2D0"/>
                </a:solidFill>
                <a:latin typeface="Arial"/>
                <a:ea typeface="Arial"/>
                <a:cs typeface="Arial"/>
              </a:defRPr>
            </a:lvl5pPr>
            <a:lvl6pPr>
              <a:defRPr sz="1500" b="1">
                <a:solidFill>
                  <a:srgbClr val="67E2D0"/>
                </a:solidFill>
                <a:latin typeface="Arial"/>
                <a:ea typeface="Arial"/>
                <a:cs typeface="Arial"/>
              </a:defRPr>
            </a:lvl6pPr>
            <a:lvl7pPr>
              <a:defRPr sz="1500" b="1">
                <a:solidFill>
                  <a:srgbClr val="67E2D0"/>
                </a:solidFill>
                <a:latin typeface="Arial"/>
                <a:ea typeface="Arial"/>
                <a:cs typeface="Arial"/>
              </a:defRPr>
            </a:lvl7pPr>
            <a:lvl8pPr>
              <a:defRPr sz="1500" b="1">
                <a:solidFill>
                  <a:srgbClr val="67E2D0"/>
                </a:solidFill>
                <a:latin typeface="Arial"/>
                <a:ea typeface="Arial"/>
                <a:cs typeface="Arial"/>
              </a:defRPr>
            </a:lvl8pPr>
            <a:lvl9pPr>
              <a:defRPr sz="1500" b="1">
                <a:solidFill>
                  <a:srgbClr val="67E2D0"/>
                </a:solidFill>
                <a:latin typeface="Arial"/>
                <a:ea typeface="Arial"/>
                <a:cs typeface="Arial"/>
              </a:defRPr>
            </a:lvl9pPr>
          </a:lstStyle>
          <a:p xmlns:a="http://schemas.openxmlformats.org/drawingml/2006/main">
            <a:pPr>
              <a:defRPr sz="1500" b="1">
                <a:solidFill>
                  <a:srgbClr val="67E2D0"/>
                </a:solidFill>
                <a:latin typeface="Arial"/>
                <a:ea typeface="Arial"/>
                <a:cs typeface="Arial"/>
              </a:defRPr>
            </a:pPr>
            <a:r>
              <a:rPr sz="1500" b="1">
                <a:solidFill>
                  <a:srgbClr val="67E2D0"/>
                </a:solidFill>
                <a:latin typeface="Arial"/>
                <a:ea typeface="Arial"/>
                <a:cs typeface="Arial"/>
              </a:rPr>
              <a:t>TEAM TWINPULSE</a:t>
            </a:r>
          </a:p>
        </p:txBody>
      </p:sp>
      <p:sp>
        <p:nvSpPr>
          <p:cNvPr id="2" name="">
            <a:extLst xmlns:a="http://schemas.openxmlformats.org/drawingml/2006/main">
              <a:ext uri="{FF2B5EF4-FFF2-40B4-BE49-F238E27FC236}">
                <a16:creationId xmlns:a16="http://schemas.microsoft.com/office/drawing/2014/main" id="{D04A04D9-7781-4586-81F2-7605D1D21BEB}"/>
              </a:ext>
            </a:extLst>
          </p:cNvPr>
          <p:cNvSpPr>
            <a:spLocks xmlns:a="http://schemas.openxmlformats.org/drawingml/2006/main" noGrp="1"/>
          </p:cNvSpPr>
          <p:nvPr/>
        </p:nvSpPr>
        <p:spPr>
          <a:xfrm xmlns:a="http://schemas.openxmlformats.org/drawingml/2006/main">
            <a:off x="590550" y="158115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700" b="1">
                <a:solidFill>
                  <a:srgbClr val="F5F7F8"/>
                </a:solidFill>
                <a:latin typeface="Arial"/>
                <a:ea typeface="Arial"/>
                <a:cs typeface="Arial"/>
              </a:defRPr>
            </a:defPPr>
            <a:lvl1pPr>
              <a:defRPr sz="8700" b="1">
                <a:solidFill>
                  <a:srgbClr val="F5F7F8"/>
                </a:solidFill>
                <a:latin typeface="Arial"/>
                <a:ea typeface="Arial"/>
                <a:cs typeface="Arial"/>
              </a:defRPr>
            </a:lvl1pPr>
            <a:lvl2pPr>
              <a:defRPr sz="8700" b="1">
                <a:solidFill>
                  <a:srgbClr val="F5F7F8"/>
                </a:solidFill>
                <a:latin typeface="Arial"/>
                <a:ea typeface="Arial"/>
                <a:cs typeface="Arial"/>
              </a:defRPr>
            </a:lvl2pPr>
            <a:lvl3pPr>
              <a:defRPr sz="8700" b="1">
                <a:solidFill>
                  <a:srgbClr val="F5F7F8"/>
                </a:solidFill>
                <a:latin typeface="Arial"/>
                <a:ea typeface="Arial"/>
                <a:cs typeface="Arial"/>
              </a:defRPr>
            </a:lvl3pPr>
            <a:lvl4pPr>
              <a:defRPr sz="8700" b="1">
                <a:solidFill>
                  <a:srgbClr val="F5F7F8"/>
                </a:solidFill>
                <a:latin typeface="Arial"/>
                <a:ea typeface="Arial"/>
                <a:cs typeface="Arial"/>
              </a:defRPr>
            </a:lvl4pPr>
            <a:lvl5pPr>
              <a:defRPr sz="8700" b="1">
                <a:solidFill>
                  <a:srgbClr val="F5F7F8"/>
                </a:solidFill>
                <a:latin typeface="Arial"/>
                <a:ea typeface="Arial"/>
                <a:cs typeface="Arial"/>
              </a:defRPr>
            </a:lvl5pPr>
            <a:lvl6pPr>
              <a:defRPr sz="8700" b="1">
                <a:solidFill>
                  <a:srgbClr val="F5F7F8"/>
                </a:solidFill>
                <a:latin typeface="Arial"/>
                <a:ea typeface="Arial"/>
                <a:cs typeface="Arial"/>
              </a:defRPr>
            </a:lvl6pPr>
            <a:lvl7pPr>
              <a:defRPr sz="8700" b="1">
                <a:solidFill>
                  <a:srgbClr val="F5F7F8"/>
                </a:solidFill>
                <a:latin typeface="Arial"/>
                <a:ea typeface="Arial"/>
                <a:cs typeface="Arial"/>
              </a:defRPr>
            </a:lvl7pPr>
            <a:lvl8pPr>
              <a:defRPr sz="8700" b="1">
                <a:solidFill>
                  <a:srgbClr val="F5F7F8"/>
                </a:solidFill>
                <a:latin typeface="Arial"/>
                <a:ea typeface="Arial"/>
                <a:cs typeface="Arial"/>
              </a:defRPr>
            </a:lvl8pPr>
            <a:lvl9pPr>
              <a:defRPr sz="8700" b="1">
                <a:solidFill>
                  <a:srgbClr val="F5F7F8"/>
                </a:solidFill>
                <a:latin typeface="Arial"/>
                <a:ea typeface="Arial"/>
                <a:cs typeface="Arial"/>
              </a:defRPr>
            </a:lvl9pPr>
          </a:lstStyle>
          <a:p xmlns:a="http://schemas.openxmlformats.org/drawingml/2006/main">
            <a:pPr>
              <a:defRPr sz="8700" b="1">
                <a:solidFill>
                  <a:srgbClr val="F5F7F8"/>
                </a:solidFill>
                <a:latin typeface="Arial"/>
                <a:ea typeface="Arial"/>
                <a:cs typeface="Arial"/>
              </a:defRPr>
            </a:pPr>
            <a:r>
              <a:rPr sz="8700" b="1">
                <a:solidFill>
                  <a:srgbClr val="F5F7F8"/>
                </a:solidFill>
                <a:latin typeface="Arial"/>
                <a:ea typeface="Arial"/>
                <a:cs typeface="Arial"/>
              </a:rPr>
              <a:t>GlucoTwin</a:t>
            </a:r>
          </a:p>
        </p:txBody>
      </p:sp>
      <p:sp>
        <p:nvSpPr>
          <p:cNvPr id="3" name="">
            <a:extLst xmlns:a="http://schemas.openxmlformats.org/drawingml/2006/main">
              <a:ext uri="{FF2B5EF4-FFF2-40B4-BE49-F238E27FC236}">
                <a16:creationId xmlns:a16="http://schemas.microsoft.com/office/drawing/2014/main" id="{3E6FAD32-7440-4E79-B64C-E9A2D6B7E5D1}"/>
              </a:ext>
            </a:extLst>
          </p:cNvPr>
          <p:cNvSpPr>
            <a:spLocks xmlns:a="http://schemas.openxmlformats.org/drawingml/2006/main" noGrp="1"/>
          </p:cNvSpPr>
          <p:nvPr/>
        </p:nvSpPr>
        <p:spPr>
          <a:xfrm xmlns:a="http://schemas.openxmlformats.org/drawingml/2006/main">
            <a:off x="647700" y="319087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0">
                <a:solidFill>
                  <a:srgbClr val="67E2D0"/>
                </a:solidFill>
                <a:latin typeface="Arial"/>
                <a:ea typeface="Arial"/>
                <a:cs typeface="Arial"/>
              </a:defRPr>
            </a:defPPr>
            <a:lvl1pPr>
              <a:defRPr sz="3375" b="0">
                <a:solidFill>
                  <a:srgbClr val="67E2D0"/>
                </a:solidFill>
                <a:latin typeface="Arial"/>
                <a:ea typeface="Arial"/>
                <a:cs typeface="Arial"/>
              </a:defRPr>
            </a:lvl1pPr>
            <a:lvl2pPr>
              <a:defRPr sz="3375" b="0">
                <a:solidFill>
                  <a:srgbClr val="67E2D0"/>
                </a:solidFill>
                <a:latin typeface="Arial"/>
                <a:ea typeface="Arial"/>
                <a:cs typeface="Arial"/>
              </a:defRPr>
            </a:lvl2pPr>
            <a:lvl3pPr>
              <a:defRPr sz="3375" b="0">
                <a:solidFill>
                  <a:srgbClr val="67E2D0"/>
                </a:solidFill>
                <a:latin typeface="Arial"/>
                <a:ea typeface="Arial"/>
                <a:cs typeface="Arial"/>
              </a:defRPr>
            </a:lvl3pPr>
            <a:lvl4pPr>
              <a:defRPr sz="3375" b="0">
                <a:solidFill>
                  <a:srgbClr val="67E2D0"/>
                </a:solidFill>
                <a:latin typeface="Arial"/>
                <a:ea typeface="Arial"/>
                <a:cs typeface="Arial"/>
              </a:defRPr>
            </a:lvl4pPr>
            <a:lvl5pPr>
              <a:defRPr sz="3375" b="0">
                <a:solidFill>
                  <a:srgbClr val="67E2D0"/>
                </a:solidFill>
                <a:latin typeface="Arial"/>
                <a:ea typeface="Arial"/>
                <a:cs typeface="Arial"/>
              </a:defRPr>
            </a:lvl5pPr>
            <a:lvl6pPr>
              <a:defRPr sz="3375" b="0">
                <a:solidFill>
                  <a:srgbClr val="67E2D0"/>
                </a:solidFill>
                <a:latin typeface="Arial"/>
                <a:ea typeface="Arial"/>
                <a:cs typeface="Arial"/>
              </a:defRPr>
            </a:lvl6pPr>
            <a:lvl7pPr>
              <a:defRPr sz="3375" b="0">
                <a:solidFill>
                  <a:srgbClr val="67E2D0"/>
                </a:solidFill>
                <a:latin typeface="Arial"/>
                <a:ea typeface="Arial"/>
                <a:cs typeface="Arial"/>
              </a:defRPr>
            </a:lvl7pPr>
            <a:lvl8pPr>
              <a:defRPr sz="3375" b="0">
                <a:solidFill>
                  <a:srgbClr val="67E2D0"/>
                </a:solidFill>
                <a:latin typeface="Arial"/>
                <a:ea typeface="Arial"/>
                <a:cs typeface="Arial"/>
              </a:defRPr>
            </a:lvl8pPr>
            <a:lvl9pPr>
              <a:defRPr sz="3375" b="0">
                <a:solidFill>
                  <a:srgbClr val="67E2D0"/>
                </a:solidFill>
                <a:latin typeface="Arial"/>
                <a:ea typeface="Arial"/>
                <a:cs typeface="Arial"/>
              </a:defRPr>
            </a:lvl9pPr>
          </a:lstStyle>
          <a:p xmlns:a="http://schemas.openxmlformats.org/drawingml/2006/main">
            <a:pPr>
              <a:defRPr sz="3375" b="0">
                <a:solidFill>
                  <a:srgbClr val="67E2D0"/>
                </a:solidFill>
                <a:latin typeface="Arial"/>
                <a:ea typeface="Arial"/>
                <a:cs typeface="Arial"/>
              </a:defRPr>
            </a:pPr>
            <a:r>
              <a:rPr sz="3375" b="0">
                <a:solidFill>
                  <a:srgbClr val="67E2D0"/>
                </a:solidFill>
                <a:latin typeface="Arial"/>
                <a:ea typeface="Arial"/>
                <a:cs typeface="Arial"/>
              </a:rPr>
              <a:t>Glucose forecasting with</a:t>
            </a:r>
          </a:p>
          <a:p xmlns:a="http://schemas.openxmlformats.org/drawingml/2006/main">
            <a:pPr>
              <a:defRPr sz="3375" b="0">
                <a:solidFill>
                  <a:srgbClr val="67E2D0"/>
                </a:solidFill>
                <a:latin typeface="Arial"/>
                <a:ea typeface="Arial"/>
                <a:cs typeface="Arial"/>
              </a:defRPr>
            </a:pPr>
            <a:r>
              <a:rPr sz="3375" b="0">
                <a:solidFill>
                  <a:srgbClr val="67E2D0"/>
                </a:solidFill>
                <a:latin typeface="Arial"/>
                <a:ea typeface="Arial"/>
                <a:cs typeface="Arial"/>
              </a:rPr>
              <a:t>inspectable reliability</a:t>
            </a:r>
          </a:p>
        </p:txBody>
      </p:sp>
      <p:sp>
        <p:nvSpPr>
          <p:cNvPr id="4" name="">
            <a:extLst xmlns:a="http://schemas.openxmlformats.org/drawingml/2006/main">
              <a:ext uri="{FF2B5EF4-FFF2-40B4-BE49-F238E27FC236}">
                <a16:creationId xmlns:a16="http://schemas.microsoft.com/office/drawing/2014/main" id="{062BDD39-83BB-4E96-8815-38324C492D0D}"/>
              </a:ext>
            </a:extLst>
          </p:cNvPr>
          <p:cNvSpPr>
            <a:spLocks xmlns:a="http://schemas.openxmlformats.org/drawingml/2006/main" noGrp="1"/>
          </p:cNvSpPr>
          <p:nvPr/>
        </p:nvSpPr>
        <p:spPr>
          <a:xfrm xmlns:a="http://schemas.openxmlformats.org/drawingml/2006/main">
            <a:off x="647700" y="5429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ABCCF"/>
                </a:solidFill>
                <a:latin typeface="Arial"/>
                <a:ea typeface="Arial"/>
                <a:cs typeface="Arial"/>
              </a:defRPr>
            </a:defPPr>
            <a:lvl1pPr>
              <a:defRPr sz="1800" b="0">
                <a:solidFill>
                  <a:srgbClr val="AABCCF"/>
                </a:solidFill>
                <a:latin typeface="Arial"/>
                <a:ea typeface="Arial"/>
                <a:cs typeface="Arial"/>
              </a:defRPr>
            </a:lvl1pPr>
            <a:lvl2pPr>
              <a:defRPr sz="1800" b="0">
                <a:solidFill>
                  <a:srgbClr val="AABCCF"/>
                </a:solidFill>
                <a:latin typeface="Arial"/>
                <a:ea typeface="Arial"/>
                <a:cs typeface="Arial"/>
              </a:defRPr>
            </a:lvl2pPr>
            <a:lvl3pPr>
              <a:defRPr sz="1800" b="0">
                <a:solidFill>
                  <a:srgbClr val="AABCCF"/>
                </a:solidFill>
                <a:latin typeface="Arial"/>
                <a:ea typeface="Arial"/>
                <a:cs typeface="Arial"/>
              </a:defRPr>
            </a:lvl3pPr>
            <a:lvl4pPr>
              <a:defRPr sz="1800" b="0">
                <a:solidFill>
                  <a:srgbClr val="AABCCF"/>
                </a:solidFill>
                <a:latin typeface="Arial"/>
                <a:ea typeface="Arial"/>
                <a:cs typeface="Arial"/>
              </a:defRPr>
            </a:lvl4pPr>
            <a:lvl5pPr>
              <a:defRPr sz="1800" b="0">
                <a:solidFill>
                  <a:srgbClr val="AABCCF"/>
                </a:solidFill>
                <a:latin typeface="Arial"/>
                <a:ea typeface="Arial"/>
                <a:cs typeface="Arial"/>
              </a:defRPr>
            </a:lvl5pPr>
            <a:lvl6pPr>
              <a:defRPr sz="1800" b="0">
                <a:solidFill>
                  <a:srgbClr val="AABCCF"/>
                </a:solidFill>
                <a:latin typeface="Arial"/>
                <a:ea typeface="Arial"/>
                <a:cs typeface="Arial"/>
              </a:defRPr>
            </a:lvl6pPr>
            <a:lvl7pPr>
              <a:defRPr sz="1800" b="0">
                <a:solidFill>
                  <a:srgbClr val="AABCCF"/>
                </a:solidFill>
                <a:latin typeface="Arial"/>
                <a:ea typeface="Arial"/>
                <a:cs typeface="Arial"/>
              </a:defRPr>
            </a:lvl7pPr>
            <a:lvl8pPr>
              <a:defRPr sz="1800" b="0">
                <a:solidFill>
                  <a:srgbClr val="AABCCF"/>
                </a:solidFill>
                <a:latin typeface="Arial"/>
                <a:ea typeface="Arial"/>
                <a:cs typeface="Arial"/>
              </a:defRPr>
            </a:lvl8pPr>
            <a:lvl9pPr>
              <a:defRPr sz="1800" b="0">
                <a:solidFill>
                  <a:srgbClr val="AABCCF"/>
                </a:solidFill>
                <a:latin typeface="Arial"/>
                <a:ea typeface="Arial"/>
                <a:cs typeface="Arial"/>
              </a:defRPr>
            </a:lvl9pPr>
          </a:lstStyle>
          <a:p xmlns:a="http://schemas.openxmlformats.org/drawingml/2006/main">
            <a:pPr>
              <a:defRPr sz="1800" b="0">
                <a:solidFill>
                  <a:srgbClr val="AABCCF"/>
                </a:solidFill>
                <a:latin typeface="Arial"/>
                <a:ea typeface="Arial"/>
                <a:cs typeface="Arial"/>
              </a:defRPr>
            </a:pPr>
            <a:r>
              <a:rPr sz="1800" b="0">
                <a:solidFill>
                  <a:srgbClr val="AABCCF"/>
                </a:solidFill>
                <a:latin typeface="Arial"/>
                <a:ea typeface="Arial"/>
                <a:cs typeface="Arial"/>
              </a:rPr>
              <a:t>Digital Twin Challenge 2026</a:t>
            </a:r>
          </a:p>
        </p:txBody>
      </p:sp>
      <p:sp>
        <p:nvSpPr>
          <p:cNvPr id="5" name="">
            <a:extLst xmlns:a="http://schemas.openxmlformats.org/drawingml/2006/main">
              <a:ext uri="{FF2B5EF4-FFF2-40B4-BE49-F238E27FC236}">
                <a16:creationId xmlns:a16="http://schemas.microsoft.com/office/drawing/2014/main" id="{151B591D-6CAE-4EC7-8CBF-333DC84EEA26}"/>
              </a:ext>
            </a:extLst>
          </p:cNvPr>
          <p:cNvSpPr>
            <a:spLocks xmlns:a="http://schemas.openxmlformats.org/drawingml/2006/main" noGrp="1"/>
          </p:cNvSpPr>
          <p:nvPr/>
        </p:nvSpPr>
        <p:spPr>
          <a:xfrm xmlns:a="http://schemas.openxmlformats.org/drawingml/2006/main">
            <a:off x="647700" y="58959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ABCCF"/>
                </a:solidFill>
                <a:latin typeface="Arial"/>
                <a:ea typeface="Arial"/>
                <a:cs typeface="Arial"/>
              </a:defRPr>
            </a:defPPr>
            <a:lvl1pPr>
              <a:defRPr sz="1500" b="0">
                <a:solidFill>
                  <a:srgbClr val="AABCCF"/>
                </a:solidFill>
                <a:latin typeface="Arial"/>
                <a:ea typeface="Arial"/>
                <a:cs typeface="Arial"/>
              </a:defRPr>
            </a:lvl1pPr>
            <a:lvl2pPr>
              <a:defRPr sz="1500" b="0">
                <a:solidFill>
                  <a:srgbClr val="AABCCF"/>
                </a:solidFill>
                <a:latin typeface="Arial"/>
                <a:ea typeface="Arial"/>
                <a:cs typeface="Arial"/>
              </a:defRPr>
            </a:lvl2pPr>
            <a:lvl3pPr>
              <a:defRPr sz="1500" b="0">
                <a:solidFill>
                  <a:srgbClr val="AABCCF"/>
                </a:solidFill>
                <a:latin typeface="Arial"/>
                <a:ea typeface="Arial"/>
                <a:cs typeface="Arial"/>
              </a:defRPr>
            </a:lvl3pPr>
            <a:lvl4pPr>
              <a:defRPr sz="1500" b="0">
                <a:solidFill>
                  <a:srgbClr val="AABCCF"/>
                </a:solidFill>
                <a:latin typeface="Arial"/>
                <a:ea typeface="Arial"/>
                <a:cs typeface="Arial"/>
              </a:defRPr>
            </a:lvl4pPr>
            <a:lvl5pPr>
              <a:defRPr sz="1500" b="0">
                <a:solidFill>
                  <a:srgbClr val="AABCCF"/>
                </a:solidFill>
                <a:latin typeface="Arial"/>
                <a:ea typeface="Arial"/>
                <a:cs typeface="Arial"/>
              </a:defRPr>
            </a:lvl5pPr>
            <a:lvl6pPr>
              <a:defRPr sz="1500" b="0">
                <a:solidFill>
                  <a:srgbClr val="AABCCF"/>
                </a:solidFill>
                <a:latin typeface="Arial"/>
                <a:ea typeface="Arial"/>
                <a:cs typeface="Arial"/>
              </a:defRPr>
            </a:lvl6pPr>
            <a:lvl7pPr>
              <a:defRPr sz="1500" b="0">
                <a:solidFill>
                  <a:srgbClr val="AABCCF"/>
                </a:solidFill>
                <a:latin typeface="Arial"/>
                <a:ea typeface="Arial"/>
                <a:cs typeface="Arial"/>
              </a:defRPr>
            </a:lvl7pPr>
            <a:lvl8pPr>
              <a:defRPr sz="1500" b="0">
                <a:solidFill>
                  <a:srgbClr val="AABCCF"/>
                </a:solidFill>
                <a:latin typeface="Arial"/>
                <a:ea typeface="Arial"/>
                <a:cs typeface="Arial"/>
              </a:defRPr>
            </a:lvl8pPr>
            <a:lvl9pPr>
              <a:defRPr sz="1500" b="0">
                <a:solidFill>
                  <a:srgbClr val="AABCCF"/>
                </a:solidFill>
                <a:latin typeface="Arial"/>
                <a:ea typeface="Arial"/>
                <a:cs typeface="Arial"/>
              </a:defRPr>
            </a:lvl9pPr>
          </a:lstStyle>
          <a:p xmlns:a="http://schemas.openxmlformats.org/drawingml/2006/main">
            <a:pPr>
              <a:defRPr sz="1500" b="0">
                <a:solidFill>
                  <a:srgbClr val="AABCCF"/>
                </a:solidFill>
                <a:latin typeface="Arial"/>
                <a:ea typeface="Arial"/>
                <a:cs typeface="Arial"/>
              </a:defRPr>
            </a:pPr>
            <a:r>
              <a:rPr sz="1500" b="0">
                <a:solidFill>
                  <a:srgbClr val="AABCCF"/>
                </a:solidFill>
                <a:latin typeface="Arial"/>
                <a:ea typeface="Arial"/>
                <a:cs typeface="Arial"/>
              </a:rPr>
              <a:t>Research prototype</a:t>
            </a:r>
          </a:p>
        </p:txBody>
      </p:sp>
    </p:spTree>
    <p:extLst>
      <p:ext uri="{BB962C8B-B14F-4D97-AF65-F5344CB8AC3E}">
        <p14:creationId xmlns:p14="http://schemas.microsoft.com/office/powerpoint/2010/main" val="904898522"/>
      </p:ext>
    </p:extLst>
  </p:cSld>
</p:sld>
</file>

<file path=ppt/slides/slide2.xml><?xml version="1.0" encoding="utf-8"?>
<p:sld xmlns:p="http://schemas.openxmlformats.org/presentationml/2006/main">
  <p:cSld>
    <p:bg>
      <p:bgPr>
        <a:solidFill xmlns:a="http://schemas.openxmlformats.org/drawingml/2006/main">
          <a:srgbClr val="F2F3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6691FC-796C-4FD2-85F4-B5F41B92582A}"/>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E3B"/>
                </a:solidFill>
                <a:latin typeface="Arial"/>
                <a:ea typeface="Arial"/>
                <a:cs typeface="Arial"/>
              </a:defRPr>
            </a:defPPr>
            <a:lvl1pPr>
              <a:defRPr sz="3450" b="1">
                <a:solidFill>
                  <a:srgbClr val="132E3B"/>
                </a:solidFill>
                <a:latin typeface="Arial"/>
                <a:ea typeface="Arial"/>
                <a:cs typeface="Arial"/>
              </a:defRPr>
            </a:lvl1pPr>
            <a:lvl2pPr>
              <a:defRPr sz="3450" b="1">
                <a:solidFill>
                  <a:srgbClr val="132E3B"/>
                </a:solidFill>
                <a:latin typeface="Arial"/>
                <a:ea typeface="Arial"/>
                <a:cs typeface="Arial"/>
              </a:defRPr>
            </a:lvl2pPr>
            <a:lvl3pPr>
              <a:defRPr sz="3450" b="1">
                <a:solidFill>
                  <a:srgbClr val="132E3B"/>
                </a:solidFill>
                <a:latin typeface="Arial"/>
                <a:ea typeface="Arial"/>
                <a:cs typeface="Arial"/>
              </a:defRPr>
            </a:lvl3pPr>
            <a:lvl4pPr>
              <a:defRPr sz="3450" b="1">
                <a:solidFill>
                  <a:srgbClr val="132E3B"/>
                </a:solidFill>
                <a:latin typeface="Arial"/>
                <a:ea typeface="Arial"/>
                <a:cs typeface="Arial"/>
              </a:defRPr>
            </a:lvl4pPr>
            <a:lvl5pPr>
              <a:defRPr sz="3450" b="1">
                <a:solidFill>
                  <a:srgbClr val="132E3B"/>
                </a:solidFill>
                <a:latin typeface="Arial"/>
                <a:ea typeface="Arial"/>
                <a:cs typeface="Arial"/>
              </a:defRPr>
            </a:lvl5pPr>
            <a:lvl6pPr>
              <a:defRPr sz="3450" b="1">
                <a:solidFill>
                  <a:srgbClr val="132E3B"/>
                </a:solidFill>
                <a:latin typeface="Arial"/>
                <a:ea typeface="Arial"/>
                <a:cs typeface="Arial"/>
              </a:defRPr>
            </a:lvl6pPr>
            <a:lvl7pPr>
              <a:defRPr sz="3450" b="1">
                <a:solidFill>
                  <a:srgbClr val="132E3B"/>
                </a:solidFill>
                <a:latin typeface="Arial"/>
                <a:ea typeface="Arial"/>
                <a:cs typeface="Arial"/>
              </a:defRPr>
            </a:lvl7pPr>
            <a:lvl8pPr>
              <a:defRPr sz="3450" b="1">
                <a:solidFill>
                  <a:srgbClr val="132E3B"/>
                </a:solidFill>
                <a:latin typeface="Arial"/>
                <a:ea typeface="Arial"/>
                <a:cs typeface="Arial"/>
              </a:defRPr>
            </a:lvl8pPr>
            <a:lvl9pPr>
              <a:defRPr sz="3450" b="1">
                <a:solidFill>
                  <a:srgbClr val="132E3B"/>
                </a:solidFill>
                <a:latin typeface="Arial"/>
                <a:ea typeface="Arial"/>
                <a:cs typeface="Arial"/>
              </a:defRPr>
            </a:lvl9pPr>
          </a:lstStyle>
          <a:p xmlns:a="http://schemas.openxmlformats.org/drawingml/2006/main">
            <a:pPr>
              <a:defRPr sz="3450" b="1">
                <a:solidFill>
                  <a:srgbClr val="132E3B"/>
                </a:solidFill>
                <a:latin typeface="Arial"/>
                <a:ea typeface="Arial"/>
                <a:cs typeface="Arial"/>
              </a:defRPr>
            </a:pPr>
            <a:r>
              <a:rPr sz="3450" b="1">
                <a:solidFill>
                  <a:srgbClr val="132E3B"/>
                </a:solidFill>
                <a:latin typeface="Arial"/>
                <a:ea typeface="Arial"/>
                <a:cs typeface="Arial"/>
              </a:rPr>
              <a:t>Why glucose forecasting?</a:t>
            </a:r>
          </a:p>
        </p:txBody>
      </p:sp>
      <p:sp>
        <p:nvSpPr>
          <p:cNvPr id="2" name="">
            <a:extLst xmlns:a="http://schemas.openxmlformats.org/drawingml/2006/main">
              <a:ext uri="{FF2B5EF4-FFF2-40B4-BE49-F238E27FC236}">
                <a16:creationId xmlns:a16="http://schemas.microsoft.com/office/drawing/2014/main" id="{0E006E64-0CC5-4BB2-A431-7733AFD13923}"/>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087E80"/>
                </a:solidFill>
                <a:latin typeface="Arial"/>
                <a:ea typeface="Arial"/>
                <a:cs typeface="Arial"/>
              </a:defRPr>
            </a:defPPr>
            <a:lvl1pPr>
              <a:defRPr sz="1200" b="1">
                <a:solidFill>
                  <a:srgbClr val="087E80"/>
                </a:solidFill>
                <a:latin typeface="Arial"/>
                <a:ea typeface="Arial"/>
                <a:cs typeface="Arial"/>
              </a:defRPr>
            </a:lvl1pPr>
            <a:lvl2pPr>
              <a:defRPr sz="1200" b="1">
                <a:solidFill>
                  <a:srgbClr val="087E80"/>
                </a:solidFill>
                <a:latin typeface="Arial"/>
                <a:ea typeface="Arial"/>
                <a:cs typeface="Arial"/>
              </a:defRPr>
            </a:lvl2pPr>
            <a:lvl3pPr>
              <a:defRPr sz="1200" b="1">
                <a:solidFill>
                  <a:srgbClr val="087E80"/>
                </a:solidFill>
                <a:latin typeface="Arial"/>
                <a:ea typeface="Arial"/>
                <a:cs typeface="Arial"/>
              </a:defRPr>
            </a:lvl3pPr>
            <a:lvl4pPr>
              <a:defRPr sz="1200" b="1">
                <a:solidFill>
                  <a:srgbClr val="087E80"/>
                </a:solidFill>
                <a:latin typeface="Arial"/>
                <a:ea typeface="Arial"/>
                <a:cs typeface="Arial"/>
              </a:defRPr>
            </a:lvl4pPr>
            <a:lvl5pPr>
              <a:defRPr sz="1200" b="1">
                <a:solidFill>
                  <a:srgbClr val="087E80"/>
                </a:solidFill>
                <a:latin typeface="Arial"/>
                <a:ea typeface="Arial"/>
                <a:cs typeface="Arial"/>
              </a:defRPr>
            </a:lvl5pPr>
            <a:lvl6pPr>
              <a:defRPr sz="1200" b="1">
                <a:solidFill>
                  <a:srgbClr val="087E80"/>
                </a:solidFill>
                <a:latin typeface="Arial"/>
                <a:ea typeface="Arial"/>
                <a:cs typeface="Arial"/>
              </a:defRPr>
            </a:lvl6pPr>
            <a:lvl7pPr>
              <a:defRPr sz="1200" b="1">
                <a:solidFill>
                  <a:srgbClr val="087E80"/>
                </a:solidFill>
                <a:latin typeface="Arial"/>
                <a:ea typeface="Arial"/>
                <a:cs typeface="Arial"/>
              </a:defRPr>
            </a:lvl7pPr>
            <a:lvl8pPr>
              <a:defRPr sz="1200" b="1">
                <a:solidFill>
                  <a:srgbClr val="087E80"/>
                </a:solidFill>
                <a:latin typeface="Arial"/>
                <a:ea typeface="Arial"/>
                <a:cs typeface="Arial"/>
              </a:defRPr>
            </a:lvl8pPr>
            <a:lvl9pPr>
              <a:defRPr sz="1200" b="1">
                <a:solidFill>
                  <a:srgbClr val="087E80"/>
                </a:solidFill>
                <a:latin typeface="Arial"/>
                <a:ea typeface="Arial"/>
                <a:cs typeface="Arial"/>
              </a:defRPr>
            </a:lvl9pPr>
          </a:lstStyle>
          <a:p xmlns:a="http://schemas.openxmlformats.org/drawingml/2006/main">
            <a:pPr>
              <a:defRPr sz="1200" b="1">
                <a:solidFill>
                  <a:srgbClr val="087E80"/>
                </a:solidFill>
                <a:latin typeface="Arial"/>
                <a:ea typeface="Arial"/>
                <a:cs typeface="Arial"/>
              </a:defRPr>
            </a:pPr>
            <a:r>
              <a:rPr sz="1200" b="1">
                <a:solidFill>
                  <a:srgbClr val="087E80"/>
                </a:solidFill>
                <a:latin typeface="Arial"/>
                <a:ea typeface="Arial"/>
                <a:cs typeface="Arial"/>
              </a:rPr>
              <a:t>THE PROBLEM</a:t>
            </a:r>
          </a:p>
        </p:txBody>
      </p:sp>
      <p:sp>
        <p:nvSpPr>
          <p:cNvPr id="3" name="">
            <a:extLst xmlns:a="http://schemas.openxmlformats.org/drawingml/2006/main">
              <a:ext uri="{FF2B5EF4-FFF2-40B4-BE49-F238E27FC236}">
                <a16:creationId xmlns:a16="http://schemas.microsoft.com/office/drawing/2014/main" id="{737A4FCC-C410-4599-BAC3-D6BF2E7B20C2}"/>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5FEC4D4A-FBA2-4682-9823-06AE47B9CFBA}"/>
              </a:ext>
            </a:extLst>
          </p:cNvPr>
          <p:cNvSpPr>
            <a:spLocks xmlns:a="http://schemas.openxmlformats.org/drawingml/2006/main" noGrp="1"/>
          </p:cNvSpPr>
          <p:nvPr/>
        </p:nvSpPr>
        <p:spPr>
          <a:xfrm xmlns:a="http://schemas.openxmlformats.org/drawingml/2006/main">
            <a:off x="647700" y="1905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32E3B"/>
                </a:solidFill>
                <a:latin typeface="Arial"/>
                <a:ea typeface="Arial"/>
                <a:cs typeface="Arial"/>
              </a:defRPr>
            </a:defPPr>
            <a:lvl1pPr>
              <a:defRPr sz="3525" b="1">
                <a:solidFill>
                  <a:srgbClr val="132E3B"/>
                </a:solidFill>
                <a:latin typeface="Arial"/>
                <a:ea typeface="Arial"/>
                <a:cs typeface="Arial"/>
              </a:defRPr>
            </a:lvl1pPr>
            <a:lvl2pPr>
              <a:defRPr sz="3525" b="1">
                <a:solidFill>
                  <a:srgbClr val="132E3B"/>
                </a:solidFill>
                <a:latin typeface="Arial"/>
                <a:ea typeface="Arial"/>
                <a:cs typeface="Arial"/>
              </a:defRPr>
            </a:lvl2pPr>
            <a:lvl3pPr>
              <a:defRPr sz="3525" b="1">
                <a:solidFill>
                  <a:srgbClr val="132E3B"/>
                </a:solidFill>
                <a:latin typeface="Arial"/>
                <a:ea typeface="Arial"/>
                <a:cs typeface="Arial"/>
              </a:defRPr>
            </a:lvl3pPr>
            <a:lvl4pPr>
              <a:defRPr sz="3525" b="1">
                <a:solidFill>
                  <a:srgbClr val="132E3B"/>
                </a:solidFill>
                <a:latin typeface="Arial"/>
                <a:ea typeface="Arial"/>
                <a:cs typeface="Arial"/>
              </a:defRPr>
            </a:lvl4pPr>
            <a:lvl5pPr>
              <a:defRPr sz="3525" b="1">
                <a:solidFill>
                  <a:srgbClr val="132E3B"/>
                </a:solidFill>
                <a:latin typeface="Arial"/>
                <a:ea typeface="Arial"/>
                <a:cs typeface="Arial"/>
              </a:defRPr>
            </a:lvl5pPr>
            <a:lvl6pPr>
              <a:defRPr sz="3525" b="1">
                <a:solidFill>
                  <a:srgbClr val="132E3B"/>
                </a:solidFill>
                <a:latin typeface="Arial"/>
                <a:ea typeface="Arial"/>
                <a:cs typeface="Arial"/>
              </a:defRPr>
            </a:lvl6pPr>
            <a:lvl7pPr>
              <a:defRPr sz="3525" b="1">
                <a:solidFill>
                  <a:srgbClr val="132E3B"/>
                </a:solidFill>
                <a:latin typeface="Arial"/>
                <a:ea typeface="Arial"/>
                <a:cs typeface="Arial"/>
              </a:defRPr>
            </a:lvl7pPr>
            <a:lvl8pPr>
              <a:defRPr sz="3525" b="1">
                <a:solidFill>
                  <a:srgbClr val="132E3B"/>
                </a:solidFill>
                <a:latin typeface="Arial"/>
                <a:ea typeface="Arial"/>
                <a:cs typeface="Arial"/>
              </a:defRPr>
            </a:lvl8pPr>
            <a:lvl9pPr>
              <a:defRPr sz="3525" b="1">
                <a:solidFill>
                  <a:srgbClr val="132E3B"/>
                </a:solidFill>
                <a:latin typeface="Arial"/>
                <a:ea typeface="Arial"/>
                <a:cs typeface="Arial"/>
              </a:defRPr>
            </a:lvl9pPr>
          </a:lstStyle>
          <a:p xmlns:a="http://schemas.openxmlformats.org/drawingml/2006/main">
            <a:pPr>
              <a:defRPr sz="3525" b="1">
                <a:solidFill>
                  <a:srgbClr val="132E3B"/>
                </a:solidFill>
                <a:latin typeface="Arial"/>
                <a:ea typeface="Arial"/>
                <a:cs typeface="Arial"/>
              </a:defRPr>
            </a:pPr>
            <a:r>
              <a:rPr sz="3525" b="1">
                <a:solidFill>
                  <a:srgbClr val="132E3B"/>
                </a:solidFill>
                <a:latin typeface="Arial"/>
                <a:ea typeface="Arial"/>
                <a:cs typeface="Arial"/>
              </a:rPr>
              <a:t>A reading describes now.</a:t>
            </a:r>
          </a:p>
        </p:txBody>
      </p:sp>
      <p:sp>
        <p:nvSpPr>
          <p:cNvPr id="5" name="">
            <a:extLst xmlns:a="http://schemas.openxmlformats.org/drawingml/2006/main">
              <a:ext uri="{FF2B5EF4-FFF2-40B4-BE49-F238E27FC236}">
                <a16:creationId xmlns:a16="http://schemas.microsoft.com/office/drawing/2014/main" id="{9D4DA5D1-6B74-49A1-906A-74E031A4ED9B}"/>
              </a:ext>
            </a:extLst>
          </p:cNvPr>
          <p:cNvSpPr>
            <a:spLocks xmlns:a="http://schemas.openxmlformats.org/drawingml/2006/main" noGrp="1"/>
          </p:cNvSpPr>
          <p:nvPr/>
        </p:nvSpPr>
        <p:spPr>
          <a:xfrm xmlns:a="http://schemas.openxmlformats.org/drawingml/2006/main">
            <a:off x="647700" y="27622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087E80"/>
                </a:solidFill>
                <a:latin typeface="Arial"/>
                <a:ea typeface="Arial"/>
                <a:cs typeface="Arial"/>
              </a:defRPr>
            </a:defPPr>
            <a:lvl1pPr>
              <a:defRPr sz="3525" b="1">
                <a:solidFill>
                  <a:srgbClr val="087E80"/>
                </a:solidFill>
                <a:latin typeface="Arial"/>
                <a:ea typeface="Arial"/>
                <a:cs typeface="Arial"/>
              </a:defRPr>
            </a:lvl1pPr>
            <a:lvl2pPr>
              <a:defRPr sz="3525" b="1">
                <a:solidFill>
                  <a:srgbClr val="087E80"/>
                </a:solidFill>
                <a:latin typeface="Arial"/>
                <a:ea typeface="Arial"/>
                <a:cs typeface="Arial"/>
              </a:defRPr>
            </a:lvl2pPr>
            <a:lvl3pPr>
              <a:defRPr sz="3525" b="1">
                <a:solidFill>
                  <a:srgbClr val="087E80"/>
                </a:solidFill>
                <a:latin typeface="Arial"/>
                <a:ea typeface="Arial"/>
                <a:cs typeface="Arial"/>
              </a:defRPr>
            </a:lvl3pPr>
            <a:lvl4pPr>
              <a:defRPr sz="3525" b="1">
                <a:solidFill>
                  <a:srgbClr val="087E80"/>
                </a:solidFill>
                <a:latin typeface="Arial"/>
                <a:ea typeface="Arial"/>
                <a:cs typeface="Arial"/>
              </a:defRPr>
            </a:lvl4pPr>
            <a:lvl5pPr>
              <a:defRPr sz="3525" b="1">
                <a:solidFill>
                  <a:srgbClr val="087E80"/>
                </a:solidFill>
                <a:latin typeface="Arial"/>
                <a:ea typeface="Arial"/>
                <a:cs typeface="Arial"/>
              </a:defRPr>
            </a:lvl5pPr>
            <a:lvl6pPr>
              <a:defRPr sz="3525" b="1">
                <a:solidFill>
                  <a:srgbClr val="087E80"/>
                </a:solidFill>
                <a:latin typeface="Arial"/>
                <a:ea typeface="Arial"/>
                <a:cs typeface="Arial"/>
              </a:defRPr>
            </a:lvl6pPr>
            <a:lvl7pPr>
              <a:defRPr sz="3525" b="1">
                <a:solidFill>
                  <a:srgbClr val="087E80"/>
                </a:solidFill>
                <a:latin typeface="Arial"/>
                <a:ea typeface="Arial"/>
                <a:cs typeface="Arial"/>
              </a:defRPr>
            </a:lvl7pPr>
            <a:lvl8pPr>
              <a:defRPr sz="3525" b="1">
                <a:solidFill>
                  <a:srgbClr val="087E80"/>
                </a:solidFill>
                <a:latin typeface="Arial"/>
                <a:ea typeface="Arial"/>
                <a:cs typeface="Arial"/>
              </a:defRPr>
            </a:lvl8pPr>
            <a:lvl9pPr>
              <a:defRPr sz="3525" b="1">
                <a:solidFill>
                  <a:srgbClr val="087E80"/>
                </a:solidFill>
                <a:latin typeface="Arial"/>
                <a:ea typeface="Arial"/>
                <a:cs typeface="Arial"/>
              </a:defRPr>
            </a:lvl9pPr>
          </a:lstStyle>
          <a:p xmlns:a="http://schemas.openxmlformats.org/drawingml/2006/main">
            <a:pPr>
              <a:defRPr sz="3525" b="1">
                <a:solidFill>
                  <a:srgbClr val="087E80"/>
                </a:solidFill>
                <a:latin typeface="Arial"/>
                <a:ea typeface="Arial"/>
                <a:cs typeface="Arial"/>
              </a:defRPr>
            </a:pPr>
            <a:r>
              <a:rPr sz="3525" b="1">
                <a:solidFill>
                  <a:srgbClr val="087E80"/>
                </a:solidFill>
                <a:latin typeface="Arial"/>
                <a:ea typeface="Arial"/>
                <a:cs typeface="Arial"/>
              </a:rPr>
              <a:t>A forecast estimates what comes next.</a:t>
            </a:r>
          </a:p>
        </p:txBody>
      </p:sp>
      <p:sp>
        <p:nvSpPr>
          <p:cNvPr id="6" name="">
            <a:extLst xmlns:a="http://schemas.openxmlformats.org/drawingml/2006/main">
              <a:ext uri="{FF2B5EF4-FFF2-40B4-BE49-F238E27FC236}">
                <a16:creationId xmlns:a16="http://schemas.microsoft.com/office/drawing/2014/main" id="{84B98F82-311C-47A6-93ED-ACF42E94D444}"/>
              </a:ext>
            </a:extLst>
          </p:cNvPr>
          <p:cNvSpPr>
            <a:spLocks xmlns:a="http://schemas.openxmlformats.org/drawingml/2006/main" noGrp="1"/>
          </p:cNvSpPr>
          <p:nvPr/>
        </p:nvSpPr>
        <p:spPr>
          <a:xfrm xmlns:a="http://schemas.openxmlformats.org/drawingml/2006/main">
            <a:off x="666750" y="4429125"/>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32E3B"/>
                </a:solidFill>
                <a:latin typeface="Arial"/>
                <a:ea typeface="Arial"/>
                <a:cs typeface="Arial"/>
              </a:defRPr>
            </a:defPPr>
            <a:lvl1pPr>
              <a:defRPr sz="2250" b="0">
                <a:solidFill>
                  <a:srgbClr val="132E3B"/>
                </a:solidFill>
                <a:latin typeface="Arial"/>
                <a:ea typeface="Arial"/>
                <a:cs typeface="Arial"/>
              </a:defRPr>
            </a:lvl1pPr>
            <a:lvl2pPr>
              <a:defRPr sz="2250" b="0">
                <a:solidFill>
                  <a:srgbClr val="132E3B"/>
                </a:solidFill>
                <a:latin typeface="Arial"/>
                <a:ea typeface="Arial"/>
                <a:cs typeface="Arial"/>
              </a:defRPr>
            </a:lvl2pPr>
            <a:lvl3pPr>
              <a:defRPr sz="2250" b="0">
                <a:solidFill>
                  <a:srgbClr val="132E3B"/>
                </a:solidFill>
                <a:latin typeface="Arial"/>
                <a:ea typeface="Arial"/>
                <a:cs typeface="Arial"/>
              </a:defRPr>
            </a:lvl3pPr>
            <a:lvl4pPr>
              <a:defRPr sz="2250" b="0">
                <a:solidFill>
                  <a:srgbClr val="132E3B"/>
                </a:solidFill>
                <a:latin typeface="Arial"/>
                <a:ea typeface="Arial"/>
                <a:cs typeface="Arial"/>
              </a:defRPr>
            </a:lvl4pPr>
            <a:lvl5pPr>
              <a:defRPr sz="2250" b="0">
                <a:solidFill>
                  <a:srgbClr val="132E3B"/>
                </a:solidFill>
                <a:latin typeface="Arial"/>
                <a:ea typeface="Arial"/>
                <a:cs typeface="Arial"/>
              </a:defRPr>
            </a:lvl5pPr>
            <a:lvl6pPr>
              <a:defRPr sz="2250" b="0">
                <a:solidFill>
                  <a:srgbClr val="132E3B"/>
                </a:solidFill>
                <a:latin typeface="Arial"/>
                <a:ea typeface="Arial"/>
                <a:cs typeface="Arial"/>
              </a:defRPr>
            </a:lvl6pPr>
            <a:lvl7pPr>
              <a:defRPr sz="2250" b="0">
                <a:solidFill>
                  <a:srgbClr val="132E3B"/>
                </a:solidFill>
                <a:latin typeface="Arial"/>
                <a:ea typeface="Arial"/>
                <a:cs typeface="Arial"/>
              </a:defRPr>
            </a:lvl7pPr>
            <a:lvl8pPr>
              <a:defRPr sz="2250" b="0">
                <a:solidFill>
                  <a:srgbClr val="132E3B"/>
                </a:solidFill>
                <a:latin typeface="Arial"/>
                <a:ea typeface="Arial"/>
                <a:cs typeface="Arial"/>
              </a:defRPr>
            </a:lvl8pPr>
            <a:lvl9pPr>
              <a:defRPr sz="2250" b="0">
                <a:solidFill>
                  <a:srgbClr val="132E3B"/>
                </a:solidFill>
                <a:latin typeface="Arial"/>
                <a:ea typeface="Arial"/>
                <a:cs typeface="Arial"/>
              </a:defRPr>
            </a:lvl9pPr>
          </a:lstStyle>
          <a:p xmlns:a="http://schemas.openxmlformats.org/drawingml/2006/main">
            <a:pPr>
              <a:defRPr sz="2250" b="0">
                <a:solidFill>
                  <a:srgbClr val="132E3B"/>
                </a:solidFill>
                <a:latin typeface="Arial"/>
                <a:ea typeface="Arial"/>
                <a:cs typeface="Arial"/>
              </a:defRPr>
            </a:pPr>
            <a:r>
              <a:rPr sz="2250" b="0">
                <a:solidFill>
                  <a:srgbClr val="132E3B"/>
                </a:solidFill>
                <a:latin typeface="Arial"/>
                <a:ea typeface="Arial"/>
                <a:cs typeface="Arial"/>
              </a:rPr>
              <a:t>We want to support earlier review of rising glucose</a:t>
            </a:r>
          </a:p>
          <a:p xmlns:a="http://schemas.openxmlformats.org/drawingml/2006/main">
            <a:pPr>
              <a:defRPr sz="2250" b="0">
                <a:solidFill>
                  <a:srgbClr val="132E3B"/>
                </a:solidFill>
                <a:latin typeface="Arial"/>
                <a:ea typeface="Arial"/>
                <a:cs typeface="Arial"/>
              </a:defRPr>
            </a:pPr>
            <a:r>
              <a:rPr sz="2250" b="0">
                <a:solidFill>
                  <a:srgbClr val="132E3B"/>
                </a:solidFill>
                <a:latin typeface="Arial"/>
                <a:ea typeface="Arial"/>
                <a:cs typeface="Arial"/>
              </a:rPr>
              <a:t>and make the evidence behind each forecast visible.</a:t>
            </a:r>
          </a:p>
        </p:txBody>
      </p:sp>
      <p:sp>
        <p:nvSpPr>
          <p:cNvPr id="7" name="">
            <a:extLst xmlns:a="http://schemas.openxmlformats.org/drawingml/2006/main">
              <a:ext uri="{FF2B5EF4-FFF2-40B4-BE49-F238E27FC236}">
                <a16:creationId xmlns:a16="http://schemas.microsoft.com/office/drawing/2014/main" id="{EB364CF9-6966-4F41-8D25-8610A6C78D63}"/>
              </a:ext>
            </a:extLst>
          </p:cNvPr>
          <p:cNvSpPr>
            <a:spLocks xmlns:a="http://schemas.openxmlformats.org/drawingml/2006/main" noGrp="1"/>
          </p:cNvSpPr>
          <p:nvPr/>
        </p:nvSpPr>
        <p:spPr>
          <a:xfrm xmlns:a="http://schemas.openxmlformats.org/drawingml/2006/main">
            <a:off x="628650" y="57912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B7B"/>
                </a:solidFill>
                <a:latin typeface="Arial"/>
                <a:ea typeface="Arial"/>
                <a:cs typeface="Arial"/>
              </a:defRPr>
            </a:defPPr>
            <a:lvl1pPr>
              <a:defRPr sz="1500" b="0">
                <a:solidFill>
                  <a:srgbClr val="586B7B"/>
                </a:solidFill>
                <a:latin typeface="Arial"/>
                <a:ea typeface="Arial"/>
                <a:cs typeface="Arial"/>
              </a:defRPr>
            </a:lvl1pPr>
            <a:lvl2pPr>
              <a:defRPr sz="1500" b="0">
                <a:solidFill>
                  <a:srgbClr val="586B7B"/>
                </a:solidFill>
                <a:latin typeface="Arial"/>
                <a:ea typeface="Arial"/>
                <a:cs typeface="Arial"/>
              </a:defRPr>
            </a:lvl2pPr>
            <a:lvl3pPr>
              <a:defRPr sz="1500" b="0">
                <a:solidFill>
                  <a:srgbClr val="586B7B"/>
                </a:solidFill>
                <a:latin typeface="Arial"/>
                <a:ea typeface="Arial"/>
                <a:cs typeface="Arial"/>
              </a:defRPr>
            </a:lvl3pPr>
            <a:lvl4pPr>
              <a:defRPr sz="1500" b="0">
                <a:solidFill>
                  <a:srgbClr val="586B7B"/>
                </a:solidFill>
                <a:latin typeface="Arial"/>
                <a:ea typeface="Arial"/>
                <a:cs typeface="Arial"/>
              </a:defRPr>
            </a:lvl4pPr>
            <a:lvl5pPr>
              <a:defRPr sz="1500" b="0">
                <a:solidFill>
                  <a:srgbClr val="586B7B"/>
                </a:solidFill>
                <a:latin typeface="Arial"/>
                <a:ea typeface="Arial"/>
                <a:cs typeface="Arial"/>
              </a:defRPr>
            </a:lvl5pPr>
            <a:lvl6pPr>
              <a:defRPr sz="1500" b="0">
                <a:solidFill>
                  <a:srgbClr val="586B7B"/>
                </a:solidFill>
                <a:latin typeface="Arial"/>
                <a:ea typeface="Arial"/>
                <a:cs typeface="Arial"/>
              </a:defRPr>
            </a:lvl6pPr>
            <a:lvl7pPr>
              <a:defRPr sz="1500" b="0">
                <a:solidFill>
                  <a:srgbClr val="586B7B"/>
                </a:solidFill>
                <a:latin typeface="Arial"/>
                <a:ea typeface="Arial"/>
                <a:cs typeface="Arial"/>
              </a:defRPr>
            </a:lvl7pPr>
            <a:lvl8pPr>
              <a:defRPr sz="1500" b="0">
                <a:solidFill>
                  <a:srgbClr val="586B7B"/>
                </a:solidFill>
                <a:latin typeface="Arial"/>
                <a:ea typeface="Arial"/>
                <a:cs typeface="Arial"/>
              </a:defRPr>
            </a:lvl8pPr>
            <a:lvl9pPr>
              <a:defRPr sz="1500" b="0">
                <a:solidFill>
                  <a:srgbClr val="586B7B"/>
                </a:solidFill>
                <a:latin typeface="Arial"/>
                <a:ea typeface="Arial"/>
                <a:cs typeface="Arial"/>
              </a:defRPr>
            </a:lvl9pPr>
          </a:lstStyle>
          <a:p xmlns:a="http://schemas.openxmlformats.org/drawingml/2006/main">
            <a:pPr>
              <a:defRPr sz="1500" b="0">
                <a:solidFill>
                  <a:srgbClr val="586B7B"/>
                </a:solidFill>
                <a:latin typeface="Arial"/>
                <a:ea typeface="Arial"/>
                <a:cs typeface="Arial"/>
              </a:defRPr>
            </a:pPr>
            <a:r>
              <a:rPr sz="1500" b="0">
                <a:solidFill>
                  <a:srgbClr val="586B7B"/>
                </a:solidFill>
                <a:latin typeface="Arial"/>
                <a:ea typeface="Arial"/>
                <a:cs typeface="Arial"/>
              </a:rPr>
              <a:t>Intended benefit: better-informed review. Clinical benefit requires a separate study.</a:t>
            </a:r>
          </a:p>
        </p:txBody>
      </p:sp>
    </p:spTree>
    <p:extLst>
      <p:ext uri="{BB962C8B-B14F-4D97-AF65-F5344CB8AC3E}">
        <p14:creationId xmlns:p14="http://schemas.microsoft.com/office/powerpoint/2010/main" val="1225943361"/>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EE1EA2-2E10-4459-B54B-4BE9EDD1D78C}"/>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5F7F8"/>
                </a:solidFill>
                <a:latin typeface="Arial"/>
                <a:ea typeface="Arial"/>
                <a:cs typeface="Arial"/>
              </a:defRPr>
            </a:defPPr>
            <a:lvl1pPr>
              <a:defRPr sz="3450" b="1">
                <a:solidFill>
                  <a:srgbClr val="F5F7F8"/>
                </a:solidFill>
                <a:latin typeface="Arial"/>
                <a:ea typeface="Arial"/>
                <a:cs typeface="Arial"/>
              </a:defRPr>
            </a:lvl1pPr>
            <a:lvl2pPr>
              <a:defRPr sz="3450" b="1">
                <a:solidFill>
                  <a:srgbClr val="F5F7F8"/>
                </a:solidFill>
                <a:latin typeface="Arial"/>
                <a:ea typeface="Arial"/>
                <a:cs typeface="Arial"/>
              </a:defRPr>
            </a:lvl2pPr>
            <a:lvl3pPr>
              <a:defRPr sz="3450" b="1">
                <a:solidFill>
                  <a:srgbClr val="F5F7F8"/>
                </a:solidFill>
                <a:latin typeface="Arial"/>
                <a:ea typeface="Arial"/>
                <a:cs typeface="Arial"/>
              </a:defRPr>
            </a:lvl3pPr>
            <a:lvl4pPr>
              <a:defRPr sz="3450" b="1">
                <a:solidFill>
                  <a:srgbClr val="F5F7F8"/>
                </a:solidFill>
                <a:latin typeface="Arial"/>
                <a:ea typeface="Arial"/>
                <a:cs typeface="Arial"/>
              </a:defRPr>
            </a:lvl4pPr>
            <a:lvl5pPr>
              <a:defRPr sz="3450" b="1">
                <a:solidFill>
                  <a:srgbClr val="F5F7F8"/>
                </a:solidFill>
                <a:latin typeface="Arial"/>
                <a:ea typeface="Arial"/>
                <a:cs typeface="Arial"/>
              </a:defRPr>
            </a:lvl5pPr>
            <a:lvl6pPr>
              <a:defRPr sz="3450" b="1">
                <a:solidFill>
                  <a:srgbClr val="F5F7F8"/>
                </a:solidFill>
                <a:latin typeface="Arial"/>
                <a:ea typeface="Arial"/>
                <a:cs typeface="Arial"/>
              </a:defRPr>
            </a:lvl6pPr>
            <a:lvl7pPr>
              <a:defRPr sz="3450" b="1">
                <a:solidFill>
                  <a:srgbClr val="F5F7F8"/>
                </a:solidFill>
                <a:latin typeface="Arial"/>
                <a:ea typeface="Arial"/>
                <a:cs typeface="Arial"/>
              </a:defRPr>
            </a:lvl7pPr>
            <a:lvl8pPr>
              <a:defRPr sz="3450" b="1">
                <a:solidFill>
                  <a:srgbClr val="F5F7F8"/>
                </a:solidFill>
                <a:latin typeface="Arial"/>
                <a:ea typeface="Arial"/>
                <a:cs typeface="Arial"/>
              </a:defRPr>
            </a:lvl8pPr>
            <a:lvl9pPr>
              <a:defRPr sz="3450" b="1">
                <a:solidFill>
                  <a:srgbClr val="F5F7F8"/>
                </a:solidFill>
                <a:latin typeface="Arial"/>
                <a:ea typeface="Arial"/>
                <a:cs typeface="Arial"/>
              </a:defRPr>
            </a:lvl9pPr>
          </a:lstStyle>
          <a:p xmlns:a="http://schemas.openxmlformats.org/drawingml/2006/main">
            <a:pPr>
              <a:defRPr sz="3450" b="1">
                <a:solidFill>
                  <a:srgbClr val="F5F7F8"/>
                </a:solidFill>
                <a:latin typeface="Arial"/>
                <a:ea typeface="Arial"/>
                <a:cs typeface="Arial"/>
              </a:defRPr>
            </a:pPr>
            <a:r>
              <a:rPr sz="3450" b="1">
                <a:solidFill>
                  <a:srgbClr val="F5F7F8"/>
                </a:solidFill>
                <a:latin typeface="Arial"/>
                <a:ea typeface="Arial"/>
                <a:cs typeface="Arial"/>
              </a:rPr>
              <a:t>What GlucoTwin does</a:t>
            </a:r>
          </a:p>
        </p:txBody>
      </p:sp>
      <p:sp>
        <p:nvSpPr>
          <p:cNvPr id="2" name="">
            <a:extLst xmlns:a="http://schemas.openxmlformats.org/drawingml/2006/main">
              <a:ext uri="{FF2B5EF4-FFF2-40B4-BE49-F238E27FC236}">
                <a16:creationId xmlns:a16="http://schemas.microsoft.com/office/drawing/2014/main" id="{B108B3BC-1078-4717-8768-11DED411BC4A}"/>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7E2D0"/>
                </a:solidFill>
                <a:latin typeface="Arial"/>
                <a:ea typeface="Arial"/>
                <a:cs typeface="Arial"/>
              </a:defRPr>
            </a:defPPr>
            <a:lvl1pPr>
              <a:defRPr sz="1200" b="1">
                <a:solidFill>
                  <a:srgbClr val="67E2D0"/>
                </a:solidFill>
                <a:latin typeface="Arial"/>
                <a:ea typeface="Arial"/>
                <a:cs typeface="Arial"/>
              </a:defRPr>
            </a:lvl1pPr>
            <a:lvl2pPr>
              <a:defRPr sz="1200" b="1">
                <a:solidFill>
                  <a:srgbClr val="67E2D0"/>
                </a:solidFill>
                <a:latin typeface="Arial"/>
                <a:ea typeface="Arial"/>
                <a:cs typeface="Arial"/>
              </a:defRPr>
            </a:lvl2pPr>
            <a:lvl3pPr>
              <a:defRPr sz="1200" b="1">
                <a:solidFill>
                  <a:srgbClr val="67E2D0"/>
                </a:solidFill>
                <a:latin typeface="Arial"/>
                <a:ea typeface="Arial"/>
                <a:cs typeface="Arial"/>
              </a:defRPr>
            </a:lvl3pPr>
            <a:lvl4pPr>
              <a:defRPr sz="1200" b="1">
                <a:solidFill>
                  <a:srgbClr val="67E2D0"/>
                </a:solidFill>
                <a:latin typeface="Arial"/>
                <a:ea typeface="Arial"/>
                <a:cs typeface="Arial"/>
              </a:defRPr>
            </a:lvl4pPr>
            <a:lvl5pPr>
              <a:defRPr sz="1200" b="1">
                <a:solidFill>
                  <a:srgbClr val="67E2D0"/>
                </a:solidFill>
                <a:latin typeface="Arial"/>
                <a:ea typeface="Arial"/>
                <a:cs typeface="Arial"/>
              </a:defRPr>
            </a:lvl5pPr>
            <a:lvl6pPr>
              <a:defRPr sz="1200" b="1">
                <a:solidFill>
                  <a:srgbClr val="67E2D0"/>
                </a:solidFill>
                <a:latin typeface="Arial"/>
                <a:ea typeface="Arial"/>
                <a:cs typeface="Arial"/>
              </a:defRPr>
            </a:lvl6pPr>
            <a:lvl7pPr>
              <a:defRPr sz="1200" b="1">
                <a:solidFill>
                  <a:srgbClr val="67E2D0"/>
                </a:solidFill>
                <a:latin typeface="Arial"/>
                <a:ea typeface="Arial"/>
                <a:cs typeface="Arial"/>
              </a:defRPr>
            </a:lvl7pPr>
            <a:lvl8pPr>
              <a:defRPr sz="1200" b="1">
                <a:solidFill>
                  <a:srgbClr val="67E2D0"/>
                </a:solidFill>
                <a:latin typeface="Arial"/>
                <a:ea typeface="Arial"/>
                <a:cs typeface="Arial"/>
              </a:defRPr>
            </a:lvl8pPr>
            <a:lvl9pPr>
              <a:defRPr sz="1200" b="1">
                <a:solidFill>
                  <a:srgbClr val="67E2D0"/>
                </a:solidFill>
                <a:latin typeface="Arial"/>
                <a:ea typeface="Arial"/>
                <a:cs typeface="Arial"/>
              </a:defRPr>
            </a:lvl9pPr>
          </a:lstStyle>
          <a:p xmlns:a="http://schemas.openxmlformats.org/drawingml/2006/main">
            <a:pPr>
              <a:defRPr sz="1200" b="1">
                <a:solidFill>
                  <a:srgbClr val="67E2D0"/>
                </a:solidFill>
                <a:latin typeface="Arial"/>
                <a:ea typeface="Arial"/>
                <a:cs typeface="Arial"/>
              </a:defRPr>
            </a:pPr>
            <a:r>
              <a:rPr sz="1200" b="1">
                <a:solidFill>
                  <a:srgbClr val="67E2D0"/>
                </a:solidFill>
                <a:latin typeface="Arial"/>
                <a:ea typeface="Arial"/>
                <a:cs typeface="Arial"/>
              </a:rPr>
              <a:t>THE PROTOTYPE</a:t>
            </a:r>
          </a:p>
        </p:txBody>
      </p:sp>
      <p:sp>
        <p:nvSpPr>
          <p:cNvPr id="3" name="">
            <a:extLst xmlns:a="http://schemas.openxmlformats.org/drawingml/2006/main">
              <a:ext uri="{FF2B5EF4-FFF2-40B4-BE49-F238E27FC236}">
                <a16:creationId xmlns:a16="http://schemas.microsoft.com/office/drawing/2014/main" id="{80328088-FCF5-46F4-AE50-418353671A0C}"/>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62220AAE-2DB3-4307-A1F8-45B2F8416F31}"/>
              </a:ext>
            </a:extLst>
          </p:cNvPr>
          <p:cNvSpPr>
            <a:spLocks xmlns:a="http://schemas.openxmlformats.org/drawingml/2006/main" noGrp="1"/>
          </p:cNvSpPr>
          <p:nvPr/>
        </p:nvSpPr>
        <p:spPr>
          <a:xfrm xmlns:a="http://schemas.openxmlformats.org/drawingml/2006/main">
            <a:off x="647700" y="200025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67E2D0"/>
                </a:solidFill>
                <a:latin typeface="Arial"/>
                <a:ea typeface="Arial"/>
                <a:cs typeface="Arial"/>
              </a:defRPr>
            </a:defPPr>
            <a:lvl1pPr>
              <a:defRPr sz="7200" b="1">
                <a:solidFill>
                  <a:srgbClr val="67E2D0"/>
                </a:solidFill>
                <a:latin typeface="Arial"/>
                <a:ea typeface="Arial"/>
                <a:cs typeface="Arial"/>
              </a:defRPr>
            </a:lvl1pPr>
            <a:lvl2pPr>
              <a:defRPr sz="7200" b="1">
                <a:solidFill>
                  <a:srgbClr val="67E2D0"/>
                </a:solidFill>
                <a:latin typeface="Arial"/>
                <a:ea typeface="Arial"/>
                <a:cs typeface="Arial"/>
              </a:defRPr>
            </a:lvl2pPr>
            <a:lvl3pPr>
              <a:defRPr sz="7200" b="1">
                <a:solidFill>
                  <a:srgbClr val="67E2D0"/>
                </a:solidFill>
                <a:latin typeface="Arial"/>
                <a:ea typeface="Arial"/>
                <a:cs typeface="Arial"/>
              </a:defRPr>
            </a:lvl3pPr>
            <a:lvl4pPr>
              <a:defRPr sz="7200" b="1">
                <a:solidFill>
                  <a:srgbClr val="67E2D0"/>
                </a:solidFill>
                <a:latin typeface="Arial"/>
                <a:ea typeface="Arial"/>
                <a:cs typeface="Arial"/>
              </a:defRPr>
            </a:lvl4pPr>
            <a:lvl5pPr>
              <a:defRPr sz="7200" b="1">
                <a:solidFill>
                  <a:srgbClr val="67E2D0"/>
                </a:solidFill>
                <a:latin typeface="Arial"/>
                <a:ea typeface="Arial"/>
                <a:cs typeface="Arial"/>
              </a:defRPr>
            </a:lvl5pPr>
            <a:lvl6pPr>
              <a:defRPr sz="7200" b="1">
                <a:solidFill>
                  <a:srgbClr val="67E2D0"/>
                </a:solidFill>
                <a:latin typeface="Arial"/>
                <a:ea typeface="Arial"/>
                <a:cs typeface="Arial"/>
              </a:defRPr>
            </a:lvl6pPr>
            <a:lvl7pPr>
              <a:defRPr sz="7200" b="1">
                <a:solidFill>
                  <a:srgbClr val="67E2D0"/>
                </a:solidFill>
                <a:latin typeface="Arial"/>
                <a:ea typeface="Arial"/>
                <a:cs typeface="Arial"/>
              </a:defRPr>
            </a:lvl7pPr>
            <a:lvl8pPr>
              <a:defRPr sz="7200" b="1">
                <a:solidFill>
                  <a:srgbClr val="67E2D0"/>
                </a:solidFill>
                <a:latin typeface="Arial"/>
                <a:ea typeface="Arial"/>
                <a:cs typeface="Arial"/>
              </a:defRPr>
            </a:lvl8pPr>
            <a:lvl9pPr>
              <a:defRPr sz="7200" b="1">
                <a:solidFill>
                  <a:srgbClr val="67E2D0"/>
                </a:solidFill>
                <a:latin typeface="Arial"/>
                <a:ea typeface="Arial"/>
                <a:cs typeface="Arial"/>
              </a:defRPr>
            </a:lvl9pPr>
          </a:lstStyle>
          <a:p xmlns:a="http://schemas.openxmlformats.org/drawingml/2006/main">
            <a:pPr>
              <a:defRPr sz="7200" b="1">
                <a:solidFill>
                  <a:srgbClr val="67E2D0"/>
                </a:solidFill>
                <a:latin typeface="Arial"/>
                <a:ea typeface="Arial"/>
                <a:cs typeface="Arial"/>
              </a:defRPr>
            </a:pPr>
            <a:r>
              <a:rPr sz="7200" b="1">
                <a:solidFill>
                  <a:srgbClr val="67E2D0"/>
                </a:solidFill>
                <a:latin typeface="Arial"/>
                <a:ea typeface="Arial"/>
                <a:cs typeface="Arial"/>
              </a:rPr>
              <a:t>60 min</a:t>
            </a:r>
          </a:p>
        </p:txBody>
      </p:sp>
      <p:sp>
        <p:nvSpPr>
          <p:cNvPr id="5" name="">
            <a:extLst xmlns:a="http://schemas.openxmlformats.org/drawingml/2006/main">
              <a:ext uri="{FF2B5EF4-FFF2-40B4-BE49-F238E27FC236}">
                <a16:creationId xmlns:a16="http://schemas.microsoft.com/office/drawing/2014/main" id="{CB5A6074-B440-4902-9F5F-A066E594C2EC}"/>
              </a:ext>
            </a:extLst>
          </p:cNvPr>
          <p:cNvSpPr>
            <a:spLocks xmlns:a="http://schemas.openxmlformats.org/drawingml/2006/main" noGrp="1"/>
          </p:cNvSpPr>
          <p:nvPr/>
        </p:nvSpPr>
        <p:spPr>
          <a:xfrm xmlns:a="http://schemas.openxmlformats.org/drawingml/2006/main">
            <a:off x="647700" y="314325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5F7F8"/>
                </a:solidFill>
                <a:latin typeface="Arial"/>
                <a:ea typeface="Arial"/>
                <a:cs typeface="Arial"/>
              </a:defRPr>
            </a:defPPr>
            <a:lvl1pPr>
              <a:defRPr sz="1875" b="0">
                <a:solidFill>
                  <a:srgbClr val="F5F7F8"/>
                </a:solidFill>
                <a:latin typeface="Arial"/>
                <a:ea typeface="Arial"/>
                <a:cs typeface="Arial"/>
              </a:defRPr>
            </a:lvl1pPr>
            <a:lvl2pPr>
              <a:defRPr sz="1875" b="0">
                <a:solidFill>
                  <a:srgbClr val="F5F7F8"/>
                </a:solidFill>
                <a:latin typeface="Arial"/>
                <a:ea typeface="Arial"/>
                <a:cs typeface="Arial"/>
              </a:defRPr>
            </a:lvl2pPr>
            <a:lvl3pPr>
              <a:defRPr sz="1875" b="0">
                <a:solidFill>
                  <a:srgbClr val="F5F7F8"/>
                </a:solidFill>
                <a:latin typeface="Arial"/>
                <a:ea typeface="Arial"/>
                <a:cs typeface="Arial"/>
              </a:defRPr>
            </a:lvl3pPr>
            <a:lvl4pPr>
              <a:defRPr sz="1875" b="0">
                <a:solidFill>
                  <a:srgbClr val="F5F7F8"/>
                </a:solidFill>
                <a:latin typeface="Arial"/>
                <a:ea typeface="Arial"/>
                <a:cs typeface="Arial"/>
              </a:defRPr>
            </a:lvl4pPr>
            <a:lvl5pPr>
              <a:defRPr sz="1875" b="0">
                <a:solidFill>
                  <a:srgbClr val="F5F7F8"/>
                </a:solidFill>
                <a:latin typeface="Arial"/>
                <a:ea typeface="Arial"/>
                <a:cs typeface="Arial"/>
              </a:defRPr>
            </a:lvl5pPr>
            <a:lvl6pPr>
              <a:defRPr sz="1875" b="0">
                <a:solidFill>
                  <a:srgbClr val="F5F7F8"/>
                </a:solidFill>
                <a:latin typeface="Arial"/>
                <a:ea typeface="Arial"/>
                <a:cs typeface="Arial"/>
              </a:defRPr>
            </a:lvl6pPr>
            <a:lvl7pPr>
              <a:defRPr sz="1875" b="0">
                <a:solidFill>
                  <a:srgbClr val="F5F7F8"/>
                </a:solidFill>
                <a:latin typeface="Arial"/>
                <a:ea typeface="Arial"/>
                <a:cs typeface="Arial"/>
              </a:defRPr>
            </a:lvl7pPr>
            <a:lvl8pPr>
              <a:defRPr sz="1875" b="0">
                <a:solidFill>
                  <a:srgbClr val="F5F7F8"/>
                </a:solidFill>
                <a:latin typeface="Arial"/>
                <a:ea typeface="Arial"/>
                <a:cs typeface="Arial"/>
              </a:defRPr>
            </a:lvl8pPr>
            <a:lvl9pPr>
              <a:defRPr sz="1875" b="0">
                <a:solidFill>
                  <a:srgbClr val="F5F7F8"/>
                </a:solidFill>
                <a:latin typeface="Arial"/>
                <a:ea typeface="Arial"/>
                <a:cs typeface="Arial"/>
              </a:defRPr>
            </a:lvl9pPr>
          </a:lstStyle>
          <a:p xmlns:a="http://schemas.openxmlformats.org/drawingml/2006/main">
            <a:pPr>
              <a:defRPr sz="1875" b="0">
                <a:solidFill>
                  <a:srgbClr val="F5F7F8"/>
                </a:solidFill>
                <a:latin typeface="Arial"/>
                <a:ea typeface="Arial"/>
                <a:cs typeface="Arial"/>
              </a:defRPr>
            </a:pPr>
            <a:r>
              <a:rPr sz="1875" b="0">
                <a:solidFill>
                  <a:srgbClr val="F5F7F8"/>
                </a:solidFill>
                <a:latin typeface="Arial"/>
                <a:ea typeface="Arial"/>
                <a:cs typeface="Arial"/>
              </a:rPr>
              <a:t>of recent glucose history</a:t>
            </a:r>
          </a:p>
        </p:txBody>
      </p:sp>
      <p:sp>
        <p:nvSpPr>
          <p:cNvPr id="6" name="">
            <a:extLst xmlns:a="http://schemas.openxmlformats.org/drawingml/2006/main">
              <a:ext uri="{FF2B5EF4-FFF2-40B4-BE49-F238E27FC236}">
                <a16:creationId xmlns:a16="http://schemas.microsoft.com/office/drawing/2014/main" id="{F34BA48A-6EA9-438C-AFA2-F377B22BECAD}"/>
              </a:ext>
            </a:extLst>
          </p:cNvPr>
          <p:cNvSpPr>
            <a:spLocks xmlns:a="http://schemas.openxmlformats.org/drawingml/2006/main" noGrp="1"/>
          </p:cNvSpPr>
          <p:nvPr/>
        </p:nvSpPr>
        <p:spPr>
          <a:xfrm xmlns:a="http://schemas.openxmlformats.org/drawingml/2006/main">
            <a:off x="4667250" y="2000250"/>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A6B9FF"/>
                </a:solidFill>
                <a:latin typeface="Arial"/>
                <a:ea typeface="Arial"/>
                <a:cs typeface="Arial"/>
              </a:defRPr>
            </a:defPPr>
            <a:lvl1pPr>
              <a:defRPr sz="7200" b="1">
                <a:solidFill>
                  <a:srgbClr val="A6B9FF"/>
                </a:solidFill>
                <a:latin typeface="Arial"/>
                <a:ea typeface="Arial"/>
                <a:cs typeface="Arial"/>
              </a:defRPr>
            </a:lvl1pPr>
            <a:lvl2pPr>
              <a:defRPr sz="7200" b="1">
                <a:solidFill>
                  <a:srgbClr val="A6B9FF"/>
                </a:solidFill>
                <a:latin typeface="Arial"/>
                <a:ea typeface="Arial"/>
                <a:cs typeface="Arial"/>
              </a:defRPr>
            </a:lvl2pPr>
            <a:lvl3pPr>
              <a:defRPr sz="7200" b="1">
                <a:solidFill>
                  <a:srgbClr val="A6B9FF"/>
                </a:solidFill>
                <a:latin typeface="Arial"/>
                <a:ea typeface="Arial"/>
                <a:cs typeface="Arial"/>
              </a:defRPr>
            </a:lvl3pPr>
            <a:lvl4pPr>
              <a:defRPr sz="7200" b="1">
                <a:solidFill>
                  <a:srgbClr val="A6B9FF"/>
                </a:solidFill>
                <a:latin typeface="Arial"/>
                <a:ea typeface="Arial"/>
                <a:cs typeface="Arial"/>
              </a:defRPr>
            </a:lvl4pPr>
            <a:lvl5pPr>
              <a:defRPr sz="7200" b="1">
                <a:solidFill>
                  <a:srgbClr val="A6B9FF"/>
                </a:solidFill>
                <a:latin typeface="Arial"/>
                <a:ea typeface="Arial"/>
                <a:cs typeface="Arial"/>
              </a:defRPr>
            </a:lvl5pPr>
            <a:lvl6pPr>
              <a:defRPr sz="7200" b="1">
                <a:solidFill>
                  <a:srgbClr val="A6B9FF"/>
                </a:solidFill>
                <a:latin typeface="Arial"/>
                <a:ea typeface="Arial"/>
                <a:cs typeface="Arial"/>
              </a:defRPr>
            </a:lvl6pPr>
            <a:lvl7pPr>
              <a:defRPr sz="7200" b="1">
                <a:solidFill>
                  <a:srgbClr val="A6B9FF"/>
                </a:solidFill>
                <a:latin typeface="Arial"/>
                <a:ea typeface="Arial"/>
                <a:cs typeface="Arial"/>
              </a:defRPr>
            </a:lvl7pPr>
            <a:lvl8pPr>
              <a:defRPr sz="7200" b="1">
                <a:solidFill>
                  <a:srgbClr val="A6B9FF"/>
                </a:solidFill>
                <a:latin typeface="Arial"/>
                <a:ea typeface="Arial"/>
                <a:cs typeface="Arial"/>
              </a:defRPr>
            </a:lvl8pPr>
            <a:lvl9pPr>
              <a:defRPr sz="7200" b="1">
                <a:solidFill>
                  <a:srgbClr val="A6B9FF"/>
                </a:solidFill>
                <a:latin typeface="Arial"/>
                <a:ea typeface="Arial"/>
                <a:cs typeface="Arial"/>
              </a:defRPr>
            </a:lvl9pPr>
          </a:lstStyle>
          <a:p xmlns:a="http://schemas.openxmlformats.org/drawingml/2006/main">
            <a:pPr>
              <a:defRPr sz="7200" b="1">
                <a:solidFill>
                  <a:srgbClr val="A6B9FF"/>
                </a:solidFill>
                <a:latin typeface="Arial"/>
                <a:ea typeface="Arial"/>
                <a:cs typeface="Arial"/>
              </a:defRPr>
            </a:pPr>
            <a:r>
              <a:rPr sz="7200" b="1">
                <a:solidFill>
                  <a:srgbClr val="A6B9FF"/>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688A35C3-CF83-45C4-BD26-59DD689F7C5A}"/>
              </a:ext>
            </a:extLst>
          </p:cNvPr>
          <p:cNvSpPr>
            <a:spLocks xmlns:a="http://schemas.openxmlformats.org/drawingml/2006/main" noGrp="1"/>
          </p:cNvSpPr>
          <p:nvPr/>
        </p:nvSpPr>
        <p:spPr>
          <a:xfrm xmlns:a="http://schemas.openxmlformats.org/drawingml/2006/main">
            <a:off x="4667250" y="3143250"/>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5F7F8"/>
                </a:solidFill>
                <a:latin typeface="Arial"/>
                <a:ea typeface="Arial"/>
                <a:cs typeface="Arial"/>
              </a:defRPr>
            </a:defPPr>
            <a:lvl1pPr>
              <a:defRPr sz="1875" b="0">
                <a:solidFill>
                  <a:srgbClr val="F5F7F8"/>
                </a:solidFill>
                <a:latin typeface="Arial"/>
                <a:ea typeface="Arial"/>
                <a:cs typeface="Arial"/>
              </a:defRPr>
            </a:lvl1pPr>
            <a:lvl2pPr>
              <a:defRPr sz="1875" b="0">
                <a:solidFill>
                  <a:srgbClr val="F5F7F8"/>
                </a:solidFill>
                <a:latin typeface="Arial"/>
                <a:ea typeface="Arial"/>
                <a:cs typeface="Arial"/>
              </a:defRPr>
            </a:lvl2pPr>
            <a:lvl3pPr>
              <a:defRPr sz="1875" b="0">
                <a:solidFill>
                  <a:srgbClr val="F5F7F8"/>
                </a:solidFill>
                <a:latin typeface="Arial"/>
                <a:ea typeface="Arial"/>
                <a:cs typeface="Arial"/>
              </a:defRPr>
            </a:lvl3pPr>
            <a:lvl4pPr>
              <a:defRPr sz="1875" b="0">
                <a:solidFill>
                  <a:srgbClr val="F5F7F8"/>
                </a:solidFill>
                <a:latin typeface="Arial"/>
                <a:ea typeface="Arial"/>
                <a:cs typeface="Arial"/>
              </a:defRPr>
            </a:lvl4pPr>
            <a:lvl5pPr>
              <a:defRPr sz="1875" b="0">
                <a:solidFill>
                  <a:srgbClr val="F5F7F8"/>
                </a:solidFill>
                <a:latin typeface="Arial"/>
                <a:ea typeface="Arial"/>
                <a:cs typeface="Arial"/>
              </a:defRPr>
            </a:lvl5pPr>
            <a:lvl6pPr>
              <a:defRPr sz="1875" b="0">
                <a:solidFill>
                  <a:srgbClr val="F5F7F8"/>
                </a:solidFill>
                <a:latin typeface="Arial"/>
                <a:ea typeface="Arial"/>
                <a:cs typeface="Arial"/>
              </a:defRPr>
            </a:lvl6pPr>
            <a:lvl7pPr>
              <a:defRPr sz="1875" b="0">
                <a:solidFill>
                  <a:srgbClr val="F5F7F8"/>
                </a:solidFill>
                <a:latin typeface="Arial"/>
                <a:ea typeface="Arial"/>
                <a:cs typeface="Arial"/>
              </a:defRPr>
            </a:lvl7pPr>
            <a:lvl8pPr>
              <a:defRPr sz="1875" b="0">
                <a:solidFill>
                  <a:srgbClr val="F5F7F8"/>
                </a:solidFill>
                <a:latin typeface="Arial"/>
                <a:ea typeface="Arial"/>
                <a:cs typeface="Arial"/>
              </a:defRPr>
            </a:lvl8pPr>
            <a:lvl9pPr>
              <a:defRPr sz="1875" b="0">
                <a:solidFill>
                  <a:srgbClr val="F5F7F8"/>
                </a:solidFill>
                <a:latin typeface="Arial"/>
                <a:ea typeface="Arial"/>
                <a:cs typeface="Arial"/>
              </a:defRPr>
            </a:lvl9pPr>
          </a:lstStyle>
          <a:p xmlns:a="http://schemas.openxmlformats.org/drawingml/2006/main">
            <a:pPr>
              <a:defRPr sz="1875" b="0">
                <a:solidFill>
                  <a:srgbClr val="F5F7F8"/>
                </a:solidFill>
                <a:latin typeface="Arial"/>
                <a:ea typeface="Arial"/>
                <a:cs typeface="Arial"/>
              </a:defRPr>
            </a:pPr>
            <a:r>
              <a:rPr sz="1875" b="0">
                <a:solidFill>
                  <a:srgbClr val="F5F7F8"/>
                </a:solidFill>
                <a:latin typeface="Arial"/>
                <a:ea typeface="Arial"/>
                <a:cs typeface="Arial"/>
              </a:rPr>
              <a:t>future glucose estimates</a:t>
            </a:r>
          </a:p>
        </p:txBody>
      </p:sp>
      <p:sp>
        <p:nvSpPr>
          <p:cNvPr id="8" name="">
            <a:extLst xmlns:a="http://schemas.openxmlformats.org/drawingml/2006/main">
              <a:ext uri="{FF2B5EF4-FFF2-40B4-BE49-F238E27FC236}">
                <a16:creationId xmlns:a16="http://schemas.microsoft.com/office/drawing/2014/main" id="{BAC00DD4-8F54-4E85-8AC4-F979B76F91E7}"/>
              </a:ext>
            </a:extLst>
          </p:cNvPr>
          <p:cNvSpPr>
            <a:spLocks xmlns:a="http://schemas.openxmlformats.org/drawingml/2006/main" noGrp="1"/>
          </p:cNvSpPr>
          <p:nvPr/>
        </p:nvSpPr>
        <p:spPr>
          <a:xfrm xmlns:a="http://schemas.openxmlformats.org/drawingml/2006/main">
            <a:off x="8572500" y="2000250"/>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F5F7F8"/>
                </a:solidFill>
                <a:latin typeface="Arial"/>
                <a:ea typeface="Arial"/>
                <a:cs typeface="Arial"/>
              </a:defRPr>
            </a:defPPr>
            <a:lvl1pPr>
              <a:defRPr sz="7200" b="1">
                <a:solidFill>
                  <a:srgbClr val="F5F7F8"/>
                </a:solidFill>
                <a:latin typeface="Arial"/>
                <a:ea typeface="Arial"/>
                <a:cs typeface="Arial"/>
              </a:defRPr>
            </a:lvl1pPr>
            <a:lvl2pPr>
              <a:defRPr sz="7200" b="1">
                <a:solidFill>
                  <a:srgbClr val="F5F7F8"/>
                </a:solidFill>
                <a:latin typeface="Arial"/>
                <a:ea typeface="Arial"/>
                <a:cs typeface="Arial"/>
              </a:defRPr>
            </a:lvl2pPr>
            <a:lvl3pPr>
              <a:defRPr sz="7200" b="1">
                <a:solidFill>
                  <a:srgbClr val="F5F7F8"/>
                </a:solidFill>
                <a:latin typeface="Arial"/>
                <a:ea typeface="Arial"/>
                <a:cs typeface="Arial"/>
              </a:defRPr>
            </a:lvl3pPr>
            <a:lvl4pPr>
              <a:defRPr sz="7200" b="1">
                <a:solidFill>
                  <a:srgbClr val="F5F7F8"/>
                </a:solidFill>
                <a:latin typeface="Arial"/>
                <a:ea typeface="Arial"/>
                <a:cs typeface="Arial"/>
              </a:defRPr>
            </a:lvl4pPr>
            <a:lvl5pPr>
              <a:defRPr sz="7200" b="1">
                <a:solidFill>
                  <a:srgbClr val="F5F7F8"/>
                </a:solidFill>
                <a:latin typeface="Arial"/>
                <a:ea typeface="Arial"/>
                <a:cs typeface="Arial"/>
              </a:defRPr>
            </a:lvl5pPr>
            <a:lvl6pPr>
              <a:defRPr sz="7200" b="1">
                <a:solidFill>
                  <a:srgbClr val="F5F7F8"/>
                </a:solidFill>
                <a:latin typeface="Arial"/>
                <a:ea typeface="Arial"/>
                <a:cs typeface="Arial"/>
              </a:defRPr>
            </a:lvl6pPr>
            <a:lvl7pPr>
              <a:defRPr sz="7200" b="1">
                <a:solidFill>
                  <a:srgbClr val="F5F7F8"/>
                </a:solidFill>
                <a:latin typeface="Arial"/>
                <a:ea typeface="Arial"/>
                <a:cs typeface="Arial"/>
              </a:defRPr>
            </a:lvl7pPr>
            <a:lvl8pPr>
              <a:defRPr sz="7200" b="1">
                <a:solidFill>
                  <a:srgbClr val="F5F7F8"/>
                </a:solidFill>
                <a:latin typeface="Arial"/>
                <a:ea typeface="Arial"/>
                <a:cs typeface="Arial"/>
              </a:defRPr>
            </a:lvl8pPr>
            <a:lvl9pPr>
              <a:defRPr sz="7200" b="1">
                <a:solidFill>
                  <a:srgbClr val="F5F7F8"/>
                </a:solidFill>
                <a:latin typeface="Arial"/>
                <a:ea typeface="Arial"/>
                <a:cs typeface="Arial"/>
              </a:defRPr>
            </a:lvl9pPr>
          </a:lstStyle>
          <a:p xmlns:a="http://schemas.openxmlformats.org/drawingml/2006/main">
            <a:pPr>
              <a:defRPr sz="7200" b="1">
                <a:solidFill>
                  <a:srgbClr val="F5F7F8"/>
                </a:solidFill>
                <a:latin typeface="Arial"/>
                <a:ea typeface="Arial"/>
                <a:cs typeface="Arial"/>
              </a:defRPr>
            </a:pPr>
            <a:r>
              <a:rPr sz="7200" b="1">
                <a:solidFill>
                  <a:srgbClr val="F5F7F8"/>
                </a:solidFill>
                <a:latin typeface="Arial"/>
                <a:ea typeface="Arial"/>
                <a:cs typeface="Arial"/>
              </a:rPr>
              <a:t>30 min</a:t>
            </a:r>
          </a:p>
        </p:txBody>
      </p:sp>
      <p:sp>
        <p:nvSpPr>
          <p:cNvPr id="9" name="">
            <a:extLst xmlns:a="http://schemas.openxmlformats.org/drawingml/2006/main">
              <a:ext uri="{FF2B5EF4-FFF2-40B4-BE49-F238E27FC236}">
                <a16:creationId xmlns:a16="http://schemas.microsoft.com/office/drawing/2014/main" id="{5FC82CD7-9FF1-4B56-A5F5-E8CC52B27D47}"/>
              </a:ext>
            </a:extLst>
          </p:cNvPr>
          <p:cNvSpPr>
            <a:spLocks xmlns:a="http://schemas.openxmlformats.org/drawingml/2006/main" noGrp="1"/>
          </p:cNvSpPr>
          <p:nvPr/>
        </p:nvSpPr>
        <p:spPr>
          <a:xfrm xmlns:a="http://schemas.openxmlformats.org/drawingml/2006/main">
            <a:off x="8572500" y="3143250"/>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5F7F8"/>
                </a:solidFill>
                <a:latin typeface="Arial"/>
                <a:ea typeface="Arial"/>
                <a:cs typeface="Arial"/>
              </a:defRPr>
            </a:defPPr>
            <a:lvl1pPr>
              <a:defRPr sz="1875" b="0">
                <a:solidFill>
                  <a:srgbClr val="F5F7F8"/>
                </a:solidFill>
                <a:latin typeface="Arial"/>
                <a:ea typeface="Arial"/>
                <a:cs typeface="Arial"/>
              </a:defRPr>
            </a:lvl1pPr>
            <a:lvl2pPr>
              <a:defRPr sz="1875" b="0">
                <a:solidFill>
                  <a:srgbClr val="F5F7F8"/>
                </a:solidFill>
                <a:latin typeface="Arial"/>
                <a:ea typeface="Arial"/>
                <a:cs typeface="Arial"/>
              </a:defRPr>
            </a:lvl2pPr>
            <a:lvl3pPr>
              <a:defRPr sz="1875" b="0">
                <a:solidFill>
                  <a:srgbClr val="F5F7F8"/>
                </a:solidFill>
                <a:latin typeface="Arial"/>
                <a:ea typeface="Arial"/>
                <a:cs typeface="Arial"/>
              </a:defRPr>
            </a:lvl3pPr>
            <a:lvl4pPr>
              <a:defRPr sz="1875" b="0">
                <a:solidFill>
                  <a:srgbClr val="F5F7F8"/>
                </a:solidFill>
                <a:latin typeface="Arial"/>
                <a:ea typeface="Arial"/>
                <a:cs typeface="Arial"/>
              </a:defRPr>
            </a:lvl4pPr>
            <a:lvl5pPr>
              <a:defRPr sz="1875" b="0">
                <a:solidFill>
                  <a:srgbClr val="F5F7F8"/>
                </a:solidFill>
                <a:latin typeface="Arial"/>
                <a:ea typeface="Arial"/>
                <a:cs typeface="Arial"/>
              </a:defRPr>
            </a:lvl5pPr>
            <a:lvl6pPr>
              <a:defRPr sz="1875" b="0">
                <a:solidFill>
                  <a:srgbClr val="F5F7F8"/>
                </a:solidFill>
                <a:latin typeface="Arial"/>
                <a:ea typeface="Arial"/>
                <a:cs typeface="Arial"/>
              </a:defRPr>
            </a:lvl6pPr>
            <a:lvl7pPr>
              <a:defRPr sz="1875" b="0">
                <a:solidFill>
                  <a:srgbClr val="F5F7F8"/>
                </a:solidFill>
                <a:latin typeface="Arial"/>
                <a:ea typeface="Arial"/>
                <a:cs typeface="Arial"/>
              </a:defRPr>
            </a:lvl7pPr>
            <a:lvl8pPr>
              <a:defRPr sz="1875" b="0">
                <a:solidFill>
                  <a:srgbClr val="F5F7F8"/>
                </a:solidFill>
                <a:latin typeface="Arial"/>
                <a:ea typeface="Arial"/>
                <a:cs typeface="Arial"/>
              </a:defRPr>
            </a:lvl8pPr>
            <a:lvl9pPr>
              <a:defRPr sz="1875" b="0">
                <a:solidFill>
                  <a:srgbClr val="F5F7F8"/>
                </a:solidFill>
                <a:latin typeface="Arial"/>
                <a:ea typeface="Arial"/>
                <a:cs typeface="Arial"/>
              </a:defRPr>
            </a:lvl9pPr>
          </a:lstStyle>
          <a:p xmlns:a="http://schemas.openxmlformats.org/drawingml/2006/main">
            <a:pPr>
              <a:defRPr sz="1875" b="0">
                <a:solidFill>
                  <a:srgbClr val="F5F7F8"/>
                </a:solidFill>
                <a:latin typeface="Arial"/>
                <a:ea typeface="Arial"/>
                <a:cs typeface="Arial"/>
              </a:defRPr>
            </a:pPr>
            <a:r>
              <a:rPr sz="1875" b="0">
                <a:solidFill>
                  <a:srgbClr val="F5F7F8"/>
                </a:solidFill>
                <a:latin typeface="Arial"/>
                <a:ea typeface="Arial"/>
                <a:cs typeface="Arial"/>
              </a:rPr>
              <a:t>forecast horizon</a:t>
            </a:r>
          </a:p>
        </p:txBody>
      </p:sp>
      <p:sp>
        <p:nvSpPr>
          <p:cNvPr id="10" name="">
            <a:extLst xmlns:a="http://schemas.openxmlformats.org/drawingml/2006/main">
              <a:ext uri="{FF2B5EF4-FFF2-40B4-BE49-F238E27FC236}">
                <a16:creationId xmlns:a16="http://schemas.microsoft.com/office/drawing/2014/main" id="{914600AE-3B9C-4AC3-9C65-FA713CA751C2}"/>
              </a:ext>
            </a:extLst>
          </p:cNvPr>
          <p:cNvSpPr>
            <a:spLocks xmlns:a="http://schemas.openxmlformats.org/drawingml/2006/main" noGrp="1"/>
          </p:cNvSpPr>
          <p:nvPr/>
        </p:nvSpPr>
        <p:spPr>
          <a:xfrm xmlns:a="http://schemas.openxmlformats.org/drawingml/2006/main">
            <a:off x="666750" y="47148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5F7F8"/>
                </a:solidFill>
                <a:latin typeface="Arial"/>
                <a:ea typeface="Arial"/>
                <a:cs typeface="Arial"/>
              </a:defRPr>
            </a:defPPr>
            <a:lvl1pPr>
              <a:defRPr sz="2325" b="0">
                <a:solidFill>
                  <a:srgbClr val="F5F7F8"/>
                </a:solidFill>
                <a:latin typeface="Arial"/>
                <a:ea typeface="Arial"/>
                <a:cs typeface="Arial"/>
              </a:defRPr>
            </a:lvl1pPr>
            <a:lvl2pPr>
              <a:defRPr sz="2325" b="0">
                <a:solidFill>
                  <a:srgbClr val="F5F7F8"/>
                </a:solidFill>
                <a:latin typeface="Arial"/>
                <a:ea typeface="Arial"/>
                <a:cs typeface="Arial"/>
              </a:defRPr>
            </a:lvl2pPr>
            <a:lvl3pPr>
              <a:defRPr sz="2325" b="0">
                <a:solidFill>
                  <a:srgbClr val="F5F7F8"/>
                </a:solidFill>
                <a:latin typeface="Arial"/>
                <a:ea typeface="Arial"/>
                <a:cs typeface="Arial"/>
              </a:defRPr>
            </a:lvl3pPr>
            <a:lvl4pPr>
              <a:defRPr sz="2325" b="0">
                <a:solidFill>
                  <a:srgbClr val="F5F7F8"/>
                </a:solidFill>
                <a:latin typeface="Arial"/>
                <a:ea typeface="Arial"/>
                <a:cs typeface="Arial"/>
              </a:defRPr>
            </a:lvl4pPr>
            <a:lvl5pPr>
              <a:defRPr sz="2325" b="0">
                <a:solidFill>
                  <a:srgbClr val="F5F7F8"/>
                </a:solidFill>
                <a:latin typeface="Arial"/>
                <a:ea typeface="Arial"/>
                <a:cs typeface="Arial"/>
              </a:defRPr>
            </a:lvl5pPr>
            <a:lvl6pPr>
              <a:defRPr sz="2325" b="0">
                <a:solidFill>
                  <a:srgbClr val="F5F7F8"/>
                </a:solidFill>
                <a:latin typeface="Arial"/>
                <a:ea typeface="Arial"/>
                <a:cs typeface="Arial"/>
              </a:defRPr>
            </a:lvl6pPr>
            <a:lvl7pPr>
              <a:defRPr sz="2325" b="0">
                <a:solidFill>
                  <a:srgbClr val="F5F7F8"/>
                </a:solidFill>
                <a:latin typeface="Arial"/>
                <a:ea typeface="Arial"/>
                <a:cs typeface="Arial"/>
              </a:defRPr>
            </a:lvl7pPr>
            <a:lvl8pPr>
              <a:defRPr sz="2325" b="0">
                <a:solidFill>
                  <a:srgbClr val="F5F7F8"/>
                </a:solidFill>
                <a:latin typeface="Arial"/>
                <a:ea typeface="Arial"/>
                <a:cs typeface="Arial"/>
              </a:defRPr>
            </a:lvl8pPr>
            <a:lvl9pPr>
              <a:defRPr sz="2325" b="0">
                <a:solidFill>
                  <a:srgbClr val="F5F7F8"/>
                </a:solidFill>
                <a:latin typeface="Arial"/>
                <a:ea typeface="Arial"/>
                <a:cs typeface="Arial"/>
              </a:defRPr>
            </a:lvl9pPr>
          </a:lstStyle>
          <a:p xmlns:a="http://schemas.openxmlformats.org/drawingml/2006/main">
            <a:pPr>
              <a:defRPr sz="2325" b="0">
                <a:solidFill>
                  <a:srgbClr val="F5F7F8"/>
                </a:solidFill>
                <a:latin typeface="Arial"/>
                <a:ea typeface="Arial"/>
                <a:cs typeface="Arial"/>
              </a:defRPr>
            </a:pPr>
            <a:r>
              <a:rPr sz="2325" b="0">
                <a:solidFill>
                  <a:srgbClr val="F5F7F8"/>
                </a:solidFill>
                <a:latin typeface="Arial"/>
                <a:ea typeface="Arial"/>
                <a:cs typeface="Arial"/>
              </a:rPr>
              <a:t>Receive a reading. Update the patient state.</a:t>
            </a:r>
          </a:p>
          <a:p xmlns:a="http://schemas.openxmlformats.org/drawingml/2006/main">
            <a:pPr>
              <a:defRPr sz="2325" b="0">
                <a:solidFill>
                  <a:srgbClr val="F5F7F8"/>
                </a:solidFill>
                <a:latin typeface="Arial"/>
                <a:ea typeface="Arial"/>
                <a:cs typeface="Arial"/>
              </a:defRPr>
            </a:pPr>
            <a:r>
              <a:rPr sz="2325" b="0">
                <a:solidFill>
                  <a:srgbClr val="F5F7F8"/>
                </a:solidFill>
                <a:latin typeface="Arial"/>
                <a:ea typeface="Arial"/>
                <a:cs typeface="Arial"/>
              </a:rPr>
              <a:t>Compare the issued forecast when its outcome arrives.</a:t>
            </a:r>
          </a:p>
        </p:txBody>
      </p:sp>
      <p:sp>
        <p:nvSpPr>
          <p:cNvPr id="11" name="">
            <a:extLst xmlns:a="http://schemas.openxmlformats.org/drawingml/2006/main">
              <a:ext uri="{FF2B5EF4-FFF2-40B4-BE49-F238E27FC236}">
                <a16:creationId xmlns:a16="http://schemas.microsoft.com/office/drawing/2014/main" id="{6FDFF4CF-8AE6-4072-9ACB-381DBDF9A6E3}"/>
              </a:ext>
            </a:extLst>
          </p:cNvPr>
          <p:cNvSpPr>
            <a:spLocks xmlns:a="http://schemas.openxmlformats.org/drawingml/2006/main" noGrp="1"/>
          </p:cNvSpPr>
          <p:nvPr/>
        </p:nvSpPr>
        <p:spPr>
          <a:xfrm xmlns:a="http://schemas.openxmlformats.org/drawingml/2006/main">
            <a:off x="628650" y="57912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ABCCF"/>
                </a:solidFill>
                <a:latin typeface="Arial"/>
                <a:ea typeface="Arial"/>
                <a:cs typeface="Arial"/>
              </a:defRPr>
            </a:defPPr>
            <a:lvl1pPr>
              <a:defRPr sz="1500" b="0">
                <a:solidFill>
                  <a:srgbClr val="AABCCF"/>
                </a:solidFill>
                <a:latin typeface="Arial"/>
                <a:ea typeface="Arial"/>
                <a:cs typeface="Arial"/>
              </a:defRPr>
            </a:lvl1pPr>
            <a:lvl2pPr>
              <a:defRPr sz="1500" b="0">
                <a:solidFill>
                  <a:srgbClr val="AABCCF"/>
                </a:solidFill>
                <a:latin typeface="Arial"/>
                <a:ea typeface="Arial"/>
                <a:cs typeface="Arial"/>
              </a:defRPr>
            </a:lvl2pPr>
            <a:lvl3pPr>
              <a:defRPr sz="1500" b="0">
                <a:solidFill>
                  <a:srgbClr val="AABCCF"/>
                </a:solidFill>
                <a:latin typeface="Arial"/>
                <a:ea typeface="Arial"/>
                <a:cs typeface="Arial"/>
              </a:defRPr>
            </a:lvl3pPr>
            <a:lvl4pPr>
              <a:defRPr sz="1500" b="0">
                <a:solidFill>
                  <a:srgbClr val="AABCCF"/>
                </a:solidFill>
                <a:latin typeface="Arial"/>
                <a:ea typeface="Arial"/>
                <a:cs typeface="Arial"/>
              </a:defRPr>
            </a:lvl4pPr>
            <a:lvl5pPr>
              <a:defRPr sz="1500" b="0">
                <a:solidFill>
                  <a:srgbClr val="AABCCF"/>
                </a:solidFill>
                <a:latin typeface="Arial"/>
                <a:ea typeface="Arial"/>
                <a:cs typeface="Arial"/>
              </a:defRPr>
            </a:lvl5pPr>
            <a:lvl6pPr>
              <a:defRPr sz="1500" b="0">
                <a:solidFill>
                  <a:srgbClr val="AABCCF"/>
                </a:solidFill>
                <a:latin typeface="Arial"/>
                <a:ea typeface="Arial"/>
                <a:cs typeface="Arial"/>
              </a:defRPr>
            </a:lvl6pPr>
            <a:lvl7pPr>
              <a:defRPr sz="1500" b="0">
                <a:solidFill>
                  <a:srgbClr val="AABCCF"/>
                </a:solidFill>
                <a:latin typeface="Arial"/>
                <a:ea typeface="Arial"/>
                <a:cs typeface="Arial"/>
              </a:defRPr>
            </a:lvl7pPr>
            <a:lvl8pPr>
              <a:defRPr sz="1500" b="0">
                <a:solidFill>
                  <a:srgbClr val="AABCCF"/>
                </a:solidFill>
                <a:latin typeface="Arial"/>
                <a:ea typeface="Arial"/>
                <a:cs typeface="Arial"/>
              </a:defRPr>
            </a:lvl8pPr>
            <a:lvl9pPr>
              <a:defRPr sz="1500" b="0">
                <a:solidFill>
                  <a:srgbClr val="AABCCF"/>
                </a:solidFill>
                <a:latin typeface="Arial"/>
                <a:ea typeface="Arial"/>
                <a:cs typeface="Arial"/>
              </a:defRPr>
            </a:lvl9pPr>
          </a:lstStyle>
          <a:p xmlns:a="http://schemas.openxmlformats.org/drawingml/2006/main">
            <a:pPr>
              <a:defRPr sz="1500" b="0">
                <a:solidFill>
                  <a:srgbClr val="AABCCF"/>
                </a:solidFill>
                <a:latin typeface="Arial"/>
                <a:ea typeface="Arial"/>
                <a:cs typeface="Arial"/>
              </a:defRPr>
            </a:pPr>
            <a:r>
              <a:rPr sz="1500" b="0">
                <a:solidFill>
                  <a:srgbClr val="AABCCF"/>
                </a:solidFill>
                <a:latin typeface="Arial"/>
                <a:ea typeface="Arial"/>
                <a:cs typeface="Arial"/>
              </a:rPr>
              <a:t>Clinical and activity fusion engines share the same workflow.</a:t>
            </a:r>
          </a:p>
        </p:txBody>
      </p:sp>
    </p:spTree>
    <p:extLst>
      <p:ext uri="{BB962C8B-B14F-4D97-AF65-F5344CB8AC3E}">
        <p14:creationId xmlns:p14="http://schemas.microsoft.com/office/powerpoint/2010/main" val="1264222318"/>
      </p:ext>
    </p:extLst>
  </p:cSld>
</p:sld>
</file>

<file path=ppt/slides/slide4.xml><?xml version="1.0" encoding="utf-8"?>
<p:sld xmlns:p="http://schemas.openxmlformats.org/presentationml/2006/main">
  <p:cSld>
    <p:bg>
      <p:bgPr>
        <a:solidFill xmlns:a="http://schemas.openxmlformats.org/drawingml/2006/main">
          <a:srgbClr val="F2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A474935-DC37-4B0A-821F-E9911F9D1525}"/>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E3B"/>
                </a:solidFill>
                <a:latin typeface="Arial"/>
                <a:ea typeface="Arial"/>
                <a:cs typeface="Arial"/>
              </a:defRPr>
            </a:defPPr>
            <a:lvl1pPr>
              <a:defRPr sz="3450" b="1">
                <a:solidFill>
                  <a:srgbClr val="132E3B"/>
                </a:solidFill>
                <a:latin typeface="Arial"/>
                <a:ea typeface="Arial"/>
                <a:cs typeface="Arial"/>
              </a:defRPr>
            </a:lvl1pPr>
            <a:lvl2pPr>
              <a:defRPr sz="3450" b="1">
                <a:solidFill>
                  <a:srgbClr val="132E3B"/>
                </a:solidFill>
                <a:latin typeface="Arial"/>
                <a:ea typeface="Arial"/>
                <a:cs typeface="Arial"/>
              </a:defRPr>
            </a:lvl2pPr>
            <a:lvl3pPr>
              <a:defRPr sz="3450" b="1">
                <a:solidFill>
                  <a:srgbClr val="132E3B"/>
                </a:solidFill>
                <a:latin typeface="Arial"/>
                <a:ea typeface="Arial"/>
                <a:cs typeface="Arial"/>
              </a:defRPr>
            </a:lvl3pPr>
            <a:lvl4pPr>
              <a:defRPr sz="3450" b="1">
                <a:solidFill>
                  <a:srgbClr val="132E3B"/>
                </a:solidFill>
                <a:latin typeface="Arial"/>
                <a:ea typeface="Arial"/>
                <a:cs typeface="Arial"/>
              </a:defRPr>
            </a:lvl4pPr>
            <a:lvl5pPr>
              <a:defRPr sz="3450" b="1">
                <a:solidFill>
                  <a:srgbClr val="132E3B"/>
                </a:solidFill>
                <a:latin typeface="Arial"/>
                <a:ea typeface="Arial"/>
                <a:cs typeface="Arial"/>
              </a:defRPr>
            </a:lvl5pPr>
            <a:lvl6pPr>
              <a:defRPr sz="3450" b="1">
                <a:solidFill>
                  <a:srgbClr val="132E3B"/>
                </a:solidFill>
                <a:latin typeface="Arial"/>
                <a:ea typeface="Arial"/>
                <a:cs typeface="Arial"/>
              </a:defRPr>
            </a:lvl6pPr>
            <a:lvl7pPr>
              <a:defRPr sz="3450" b="1">
                <a:solidFill>
                  <a:srgbClr val="132E3B"/>
                </a:solidFill>
                <a:latin typeface="Arial"/>
                <a:ea typeface="Arial"/>
                <a:cs typeface="Arial"/>
              </a:defRPr>
            </a:lvl7pPr>
            <a:lvl8pPr>
              <a:defRPr sz="3450" b="1">
                <a:solidFill>
                  <a:srgbClr val="132E3B"/>
                </a:solidFill>
                <a:latin typeface="Arial"/>
                <a:ea typeface="Arial"/>
                <a:cs typeface="Arial"/>
              </a:defRPr>
            </a:lvl8pPr>
            <a:lvl9pPr>
              <a:defRPr sz="3450" b="1">
                <a:solidFill>
                  <a:srgbClr val="132E3B"/>
                </a:solidFill>
                <a:latin typeface="Arial"/>
                <a:ea typeface="Arial"/>
                <a:cs typeface="Arial"/>
              </a:defRPr>
            </a:lvl9pPr>
          </a:lstStyle>
          <a:p xmlns:a="http://schemas.openxmlformats.org/drawingml/2006/main">
            <a:pPr>
              <a:defRPr sz="3450" b="1">
                <a:solidFill>
                  <a:srgbClr val="132E3B"/>
                </a:solidFill>
                <a:latin typeface="Arial"/>
                <a:ea typeface="Arial"/>
                <a:cs typeface="Arial"/>
              </a:defRPr>
            </a:pPr>
            <a:r>
              <a:rPr sz="3450" b="1">
                <a:solidFill>
                  <a:srgbClr val="132E3B"/>
                </a:solidFill>
                <a:latin typeface="Arial"/>
                <a:ea typeface="Arial"/>
                <a:cs typeface="Arial"/>
              </a:rPr>
              <a:t>Real clinical and sensor records</a:t>
            </a:r>
          </a:p>
        </p:txBody>
      </p:sp>
      <p:sp>
        <p:nvSpPr>
          <p:cNvPr id="2" name="">
            <a:extLst xmlns:a="http://schemas.openxmlformats.org/drawingml/2006/main">
              <a:ext uri="{FF2B5EF4-FFF2-40B4-BE49-F238E27FC236}">
                <a16:creationId xmlns:a16="http://schemas.microsoft.com/office/drawing/2014/main" id="{E68B9B7F-B7CE-42F8-80DA-809A53CE4C71}"/>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087E80"/>
                </a:solidFill>
                <a:latin typeface="Arial"/>
                <a:ea typeface="Arial"/>
                <a:cs typeface="Arial"/>
              </a:defRPr>
            </a:defPPr>
            <a:lvl1pPr>
              <a:defRPr sz="1200" b="1">
                <a:solidFill>
                  <a:srgbClr val="087E80"/>
                </a:solidFill>
                <a:latin typeface="Arial"/>
                <a:ea typeface="Arial"/>
                <a:cs typeface="Arial"/>
              </a:defRPr>
            </a:lvl1pPr>
            <a:lvl2pPr>
              <a:defRPr sz="1200" b="1">
                <a:solidFill>
                  <a:srgbClr val="087E80"/>
                </a:solidFill>
                <a:latin typeface="Arial"/>
                <a:ea typeface="Arial"/>
                <a:cs typeface="Arial"/>
              </a:defRPr>
            </a:lvl2pPr>
            <a:lvl3pPr>
              <a:defRPr sz="1200" b="1">
                <a:solidFill>
                  <a:srgbClr val="087E80"/>
                </a:solidFill>
                <a:latin typeface="Arial"/>
                <a:ea typeface="Arial"/>
                <a:cs typeface="Arial"/>
              </a:defRPr>
            </a:lvl3pPr>
            <a:lvl4pPr>
              <a:defRPr sz="1200" b="1">
                <a:solidFill>
                  <a:srgbClr val="087E80"/>
                </a:solidFill>
                <a:latin typeface="Arial"/>
                <a:ea typeface="Arial"/>
                <a:cs typeface="Arial"/>
              </a:defRPr>
            </a:lvl4pPr>
            <a:lvl5pPr>
              <a:defRPr sz="1200" b="1">
                <a:solidFill>
                  <a:srgbClr val="087E80"/>
                </a:solidFill>
                <a:latin typeface="Arial"/>
                <a:ea typeface="Arial"/>
                <a:cs typeface="Arial"/>
              </a:defRPr>
            </a:lvl5pPr>
            <a:lvl6pPr>
              <a:defRPr sz="1200" b="1">
                <a:solidFill>
                  <a:srgbClr val="087E80"/>
                </a:solidFill>
                <a:latin typeface="Arial"/>
                <a:ea typeface="Arial"/>
                <a:cs typeface="Arial"/>
              </a:defRPr>
            </a:lvl6pPr>
            <a:lvl7pPr>
              <a:defRPr sz="1200" b="1">
                <a:solidFill>
                  <a:srgbClr val="087E80"/>
                </a:solidFill>
                <a:latin typeface="Arial"/>
                <a:ea typeface="Arial"/>
                <a:cs typeface="Arial"/>
              </a:defRPr>
            </a:lvl7pPr>
            <a:lvl8pPr>
              <a:defRPr sz="1200" b="1">
                <a:solidFill>
                  <a:srgbClr val="087E80"/>
                </a:solidFill>
                <a:latin typeface="Arial"/>
                <a:ea typeface="Arial"/>
                <a:cs typeface="Arial"/>
              </a:defRPr>
            </a:lvl8pPr>
            <a:lvl9pPr>
              <a:defRPr sz="1200" b="1">
                <a:solidFill>
                  <a:srgbClr val="087E80"/>
                </a:solidFill>
                <a:latin typeface="Arial"/>
                <a:ea typeface="Arial"/>
                <a:cs typeface="Arial"/>
              </a:defRPr>
            </a:lvl9pPr>
          </a:lstStyle>
          <a:p xmlns:a="http://schemas.openxmlformats.org/drawingml/2006/main">
            <a:pPr>
              <a:defRPr sz="1200" b="1">
                <a:solidFill>
                  <a:srgbClr val="087E80"/>
                </a:solidFill>
                <a:latin typeface="Arial"/>
                <a:ea typeface="Arial"/>
                <a:cs typeface="Arial"/>
              </a:defRPr>
            </a:pPr>
            <a:r>
              <a:rPr sz="1200" b="1">
                <a:solidFill>
                  <a:srgbClr val="087E80"/>
                </a:solidFill>
                <a:latin typeface="Arial"/>
                <a:ea typeface="Arial"/>
                <a:cs typeface="Arial"/>
              </a:rPr>
              <a:t>DATASET</a:t>
            </a:r>
          </a:p>
        </p:txBody>
      </p:sp>
      <p:sp>
        <p:nvSpPr>
          <p:cNvPr id="3" name="">
            <a:extLst xmlns:a="http://schemas.openxmlformats.org/drawingml/2006/main">
              <a:ext uri="{FF2B5EF4-FFF2-40B4-BE49-F238E27FC236}">
                <a16:creationId xmlns:a16="http://schemas.microsoft.com/office/drawing/2014/main" id="{B29991C0-989B-438D-A407-BF519B20326D}"/>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C11D174A-1671-400D-9FEC-F8FBF857A4FD}"/>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US research cohort. Published CGM contains interpolation. Native-sensor replication required.</a:t>
            </a:r>
          </a:p>
        </p:txBody>
      </p:sp>
      <p:sp>
        <p:nvSpPr>
          <p:cNvPr id="5" name="">
            <a:extLst xmlns:a="http://schemas.openxmlformats.org/drawingml/2006/main">
              <a:ext uri="{FF2B5EF4-FFF2-40B4-BE49-F238E27FC236}">
                <a16:creationId xmlns:a16="http://schemas.microsoft.com/office/drawing/2014/main" id="{6CD1B8B1-1E39-460A-AD9A-6B34344AC85D}"/>
              </a:ext>
            </a:extLst>
          </p:cNvPr>
          <p:cNvSpPr>
            <a:spLocks xmlns:a="http://schemas.openxmlformats.org/drawingml/2006/main" noGrp="1"/>
          </p:cNvSpPr>
          <p:nvPr/>
        </p:nvSpPr>
        <p:spPr>
          <a:xfrm xmlns:a="http://schemas.openxmlformats.org/drawingml/2006/main">
            <a:off x="647700" y="1857375"/>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087E80"/>
                </a:solidFill>
                <a:latin typeface="Arial"/>
                <a:ea typeface="Arial"/>
                <a:cs typeface="Arial"/>
              </a:defRPr>
            </a:defPPr>
            <a:lvl1pPr>
              <a:defRPr sz="7200" b="1">
                <a:solidFill>
                  <a:srgbClr val="087E80"/>
                </a:solidFill>
                <a:latin typeface="Arial"/>
                <a:ea typeface="Arial"/>
                <a:cs typeface="Arial"/>
              </a:defRPr>
            </a:lvl1pPr>
            <a:lvl2pPr>
              <a:defRPr sz="7200" b="1">
                <a:solidFill>
                  <a:srgbClr val="087E80"/>
                </a:solidFill>
                <a:latin typeface="Arial"/>
                <a:ea typeface="Arial"/>
                <a:cs typeface="Arial"/>
              </a:defRPr>
            </a:lvl2pPr>
            <a:lvl3pPr>
              <a:defRPr sz="7200" b="1">
                <a:solidFill>
                  <a:srgbClr val="087E80"/>
                </a:solidFill>
                <a:latin typeface="Arial"/>
                <a:ea typeface="Arial"/>
                <a:cs typeface="Arial"/>
              </a:defRPr>
            </a:lvl3pPr>
            <a:lvl4pPr>
              <a:defRPr sz="7200" b="1">
                <a:solidFill>
                  <a:srgbClr val="087E80"/>
                </a:solidFill>
                <a:latin typeface="Arial"/>
                <a:ea typeface="Arial"/>
                <a:cs typeface="Arial"/>
              </a:defRPr>
            </a:lvl4pPr>
            <a:lvl5pPr>
              <a:defRPr sz="7200" b="1">
                <a:solidFill>
                  <a:srgbClr val="087E80"/>
                </a:solidFill>
                <a:latin typeface="Arial"/>
                <a:ea typeface="Arial"/>
                <a:cs typeface="Arial"/>
              </a:defRPr>
            </a:lvl5pPr>
            <a:lvl6pPr>
              <a:defRPr sz="7200" b="1">
                <a:solidFill>
                  <a:srgbClr val="087E80"/>
                </a:solidFill>
                <a:latin typeface="Arial"/>
                <a:ea typeface="Arial"/>
                <a:cs typeface="Arial"/>
              </a:defRPr>
            </a:lvl6pPr>
            <a:lvl7pPr>
              <a:defRPr sz="7200" b="1">
                <a:solidFill>
                  <a:srgbClr val="087E80"/>
                </a:solidFill>
                <a:latin typeface="Arial"/>
                <a:ea typeface="Arial"/>
                <a:cs typeface="Arial"/>
              </a:defRPr>
            </a:lvl7pPr>
            <a:lvl8pPr>
              <a:defRPr sz="7200" b="1">
                <a:solidFill>
                  <a:srgbClr val="087E80"/>
                </a:solidFill>
                <a:latin typeface="Arial"/>
                <a:ea typeface="Arial"/>
                <a:cs typeface="Arial"/>
              </a:defRPr>
            </a:lvl8pPr>
            <a:lvl9pPr>
              <a:defRPr sz="7200" b="1">
                <a:solidFill>
                  <a:srgbClr val="087E80"/>
                </a:solidFill>
                <a:latin typeface="Arial"/>
                <a:ea typeface="Arial"/>
                <a:cs typeface="Arial"/>
              </a:defRPr>
            </a:lvl9pPr>
          </a:lstStyle>
          <a:p xmlns:a="http://schemas.openxmlformats.org/drawingml/2006/main">
            <a:pPr>
              <a:defRPr sz="7200" b="1">
                <a:solidFill>
                  <a:srgbClr val="087E80"/>
                </a:solidFill>
                <a:latin typeface="Arial"/>
                <a:ea typeface="Arial"/>
                <a:cs typeface="Arial"/>
              </a:defRPr>
            </a:pPr>
            <a:r>
              <a:rPr sz="7200" b="1">
                <a:solidFill>
                  <a:srgbClr val="087E80"/>
                </a:solidFill>
                <a:latin typeface="Arial"/>
                <a:ea typeface="Arial"/>
                <a:cs typeface="Arial"/>
              </a:rPr>
              <a:t>45</a:t>
            </a:r>
          </a:p>
        </p:txBody>
      </p:sp>
      <p:sp>
        <p:nvSpPr>
          <p:cNvPr id="6" name="">
            <a:extLst xmlns:a="http://schemas.openxmlformats.org/drawingml/2006/main">
              <a:ext uri="{FF2B5EF4-FFF2-40B4-BE49-F238E27FC236}">
                <a16:creationId xmlns:a16="http://schemas.microsoft.com/office/drawing/2014/main" id="{30E62930-60CB-40A4-B453-A7DF7C4F9094}"/>
              </a:ext>
            </a:extLst>
          </p:cNvPr>
          <p:cNvSpPr>
            <a:spLocks xmlns:a="http://schemas.openxmlformats.org/drawingml/2006/main" noGrp="1"/>
          </p:cNvSpPr>
          <p:nvPr/>
        </p:nvSpPr>
        <p:spPr>
          <a:xfrm xmlns:a="http://schemas.openxmlformats.org/drawingml/2006/main">
            <a:off x="647700" y="3000375"/>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32E3B"/>
                </a:solidFill>
                <a:latin typeface="Arial"/>
                <a:ea typeface="Arial"/>
                <a:cs typeface="Arial"/>
              </a:defRPr>
            </a:defPPr>
            <a:lvl1pPr>
              <a:defRPr sz="1875" b="0">
                <a:solidFill>
                  <a:srgbClr val="132E3B"/>
                </a:solidFill>
                <a:latin typeface="Arial"/>
                <a:ea typeface="Arial"/>
                <a:cs typeface="Arial"/>
              </a:defRPr>
            </a:lvl1pPr>
            <a:lvl2pPr>
              <a:defRPr sz="1875" b="0">
                <a:solidFill>
                  <a:srgbClr val="132E3B"/>
                </a:solidFill>
                <a:latin typeface="Arial"/>
                <a:ea typeface="Arial"/>
                <a:cs typeface="Arial"/>
              </a:defRPr>
            </a:lvl2pPr>
            <a:lvl3pPr>
              <a:defRPr sz="1875" b="0">
                <a:solidFill>
                  <a:srgbClr val="132E3B"/>
                </a:solidFill>
                <a:latin typeface="Arial"/>
                <a:ea typeface="Arial"/>
                <a:cs typeface="Arial"/>
              </a:defRPr>
            </a:lvl3pPr>
            <a:lvl4pPr>
              <a:defRPr sz="1875" b="0">
                <a:solidFill>
                  <a:srgbClr val="132E3B"/>
                </a:solidFill>
                <a:latin typeface="Arial"/>
                <a:ea typeface="Arial"/>
                <a:cs typeface="Arial"/>
              </a:defRPr>
            </a:lvl4pPr>
            <a:lvl5pPr>
              <a:defRPr sz="1875" b="0">
                <a:solidFill>
                  <a:srgbClr val="132E3B"/>
                </a:solidFill>
                <a:latin typeface="Arial"/>
                <a:ea typeface="Arial"/>
                <a:cs typeface="Arial"/>
              </a:defRPr>
            </a:lvl5pPr>
            <a:lvl6pPr>
              <a:defRPr sz="1875" b="0">
                <a:solidFill>
                  <a:srgbClr val="132E3B"/>
                </a:solidFill>
                <a:latin typeface="Arial"/>
                <a:ea typeface="Arial"/>
                <a:cs typeface="Arial"/>
              </a:defRPr>
            </a:lvl6pPr>
            <a:lvl7pPr>
              <a:defRPr sz="1875" b="0">
                <a:solidFill>
                  <a:srgbClr val="132E3B"/>
                </a:solidFill>
                <a:latin typeface="Arial"/>
                <a:ea typeface="Arial"/>
                <a:cs typeface="Arial"/>
              </a:defRPr>
            </a:lvl7pPr>
            <a:lvl8pPr>
              <a:defRPr sz="1875" b="0">
                <a:solidFill>
                  <a:srgbClr val="132E3B"/>
                </a:solidFill>
                <a:latin typeface="Arial"/>
                <a:ea typeface="Arial"/>
                <a:cs typeface="Arial"/>
              </a:defRPr>
            </a:lvl8pPr>
            <a:lvl9pPr>
              <a:defRPr sz="1875" b="0">
                <a:solidFill>
                  <a:srgbClr val="132E3B"/>
                </a:solidFill>
                <a:latin typeface="Arial"/>
                <a:ea typeface="Arial"/>
                <a:cs typeface="Arial"/>
              </a:defRPr>
            </a:lvl9pPr>
          </a:lstStyle>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linked participant records</a:t>
            </a:r>
          </a:p>
        </p:txBody>
      </p:sp>
      <p:graphicFrame>
        <p:nvGraphicFramePr>
          <p:cNvPr id="7" name="">
            <a:extLst xmlns:a="http://schemas.openxmlformats.org/drawingml/2006/main">
              <a:ext uri="{FF2B5EF4-FFF2-40B4-BE49-F238E27FC236}">
                <a16:creationId xmlns:a16="http://schemas.microsoft.com/office/drawing/2014/main" id="{DB641611-B3A7-4E90-B72F-A517DA7A07AC}"/>
              </a:ext>
            </a:extLst>
          </p:cNvPr>
          <p:cNvGraphicFramePr/>
          <p:nvPr/>
        </p:nvGraphicFramePr>
        <p:xfrm>
          <a:off xmlns:a="http://schemas.openxmlformats.org/drawingml/2006/main" x="6048375" y="1857375"/>
          <a:ext xmlns:a="http://schemas.openxmlformats.org/drawingml/2006/main" cx="5524500" cy="2571750"/>
        </p:xfrm>
        <a:graphic xmlns:a="http://schemas.openxmlformats.org/drawingml/2006/main">
          <a:graphicData uri="http://schemas.openxmlformats.org/drawingml/2006/table">
            <a:tbl>
              <a:tblPr/>
              <a:tblGrid>
                <a:gridCol w="3810000"/>
                <a:gridCol w="1714500"/>
              </a:tblGrid>
              <a:tr h="642938">
                <a:tc>
                  <a:txBody>
                    <a:bodyPr lIns="142875" tIns="95250" rIns="123825" bIns="95250"/>
                    <a:lstStyle/>
                    <a:p>
                      <a:r>
                        <a:rPr sz="1575" b="1">
                          <a:solidFill>
                            <a:srgbClr val="F5F7F8"/>
                          </a:solidFill>
                          <a:latin typeface="Arial"/>
                          <a:ea typeface="Arial"/>
                          <a:cs typeface="Arial"/>
                        </a:rPr>
                        <a:t>Source cohort</a:t>
                      </a:r>
                    </a:p>
                  </a:txBody>
                  <a:tcPr marL="91440" marR="91440" marT="45720" marB="45720" anchor="ctr">
                    <a:lnL w="5715">
                      <a:solidFill>
                        <a:srgbClr val="CFD8D8"/>
                      </a:solidFill>
                      <a:prstDash val="solid"/>
                    </a:lnL>
                    <a:lnR w="5715">
                      <a:solidFill>
                        <a:srgbClr val="CFD8D8"/>
                      </a:solidFill>
                      <a:prstDash val="solid"/>
                    </a:lnR>
                    <a:lnT w="5715">
                      <a:solidFill>
                        <a:srgbClr val="CFD8D8"/>
                      </a:solidFill>
                      <a:prstDash val="solid"/>
                    </a:lnT>
                    <a:lnB w="5715">
                      <a:solidFill>
                        <a:srgbClr val="CFD8D8"/>
                      </a:solidFill>
                      <a:prstDash val="solid"/>
                    </a:lnB>
                    <a:solidFill>
                      <a:srgbClr val="132E3B"/>
                    </a:solidFill>
                  </a:tcPr>
                </a:tc>
                <a:tc>
                  <a:txBody>
                    <a:bodyPr lIns="142875" tIns="95250" rIns="123825" bIns="95250"/>
                    <a:lstStyle/>
                    <a:p>
                      <a:r>
                        <a:rPr sz="1575" b="1">
                          <a:solidFill>
                            <a:srgbClr val="F5F7F8"/>
                          </a:solidFill>
                          <a:latin typeface="Arial"/>
                          <a:ea typeface="Arial"/>
                          <a:cs typeface="Arial"/>
                        </a:rPr>
                        <a:t>Participants</a:t>
                      </a:r>
                    </a:p>
                  </a:txBody>
                  <a:tcPr marL="91440" marR="91440" marT="45720" marB="45720" anchor="ctr">
                    <a:lnR w="5715">
                      <a:solidFill>
                        <a:srgbClr val="CFD8D8"/>
                      </a:solidFill>
                      <a:prstDash val="solid"/>
                    </a:lnR>
                    <a:lnT w="5715">
                      <a:solidFill>
                        <a:srgbClr val="CFD8D8"/>
                      </a:solidFill>
                      <a:prstDash val="solid"/>
                    </a:lnT>
                    <a:lnB w="5715">
                      <a:solidFill>
                        <a:srgbClr val="CFD8D8"/>
                      </a:solidFill>
                      <a:prstDash val="solid"/>
                    </a:lnB>
                    <a:solidFill>
                      <a:srgbClr val="132E3B"/>
                    </a:solidFill>
                  </a:tcPr>
                </a:tc>
              </a:tr>
              <a:tr h="642938">
                <a:tc>
                  <a:txBody>
                    <a:bodyPr lIns="142875" tIns="95250" rIns="123825" bIns="95250"/>
                    <a:lstStyle/>
                    <a:p>
                      <a:r>
                        <a:rPr sz="1650" b="0">
                          <a:solidFill>
                            <a:srgbClr val="132E3B"/>
                          </a:solidFill>
                          <a:latin typeface="Arial"/>
                          <a:ea typeface="Arial"/>
                          <a:cs typeface="Arial"/>
                        </a:rPr>
                        <a:t>Type 2 diabetes</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14</a:t>
                      </a:r>
                    </a:p>
                  </a:txBody>
                  <a:tcPr marL="91440" marR="91440" marT="45720" marB="45720" anchor="ctr">
                    <a:lnR w="5715">
                      <a:solidFill>
                        <a:srgbClr val="CFD8D8"/>
                      </a:solidFill>
                      <a:prstDash val="solid"/>
                    </a:lnR>
                    <a:lnB w="5715">
                      <a:solidFill>
                        <a:srgbClr val="CFD8D8"/>
                      </a:solidFill>
                      <a:prstDash val="solid"/>
                    </a:lnB>
                    <a:solidFill>
                      <a:srgbClr val="FFFFFF"/>
                    </a:solidFill>
                  </a:tcPr>
                </a:tc>
              </a:tr>
              <a:tr h="642938">
                <a:tc>
                  <a:txBody>
                    <a:bodyPr lIns="142875" tIns="95250" rIns="123825" bIns="95250"/>
                    <a:lstStyle/>
                    <a:p>
                      <a:r>
                        <a:rPr sz="1650" b="0">
                          <a:solidFill>
                            <a:srgbClr val="132E3B"/>
                          </a:solidFill>
                          <a:latin typeface="Arial"/>
                          <a:ea typeface="Arial"/>
                          <a:cs typeface="Arial"/>
                        </a:rPr>
                        <a:t>Prediabetes</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16</a:t>
                      </a:r>
                    </a:p>
                  </a:txBody>
                  <a:tcPr marL="91440" marR="91440" marT="45720" marB="45720" anchor="ctr">
                    <a:lnR w="5715">
                      <a:solidFill>
                        <a:srgbClr val="CFD8D8"/>
                      </a:solidFill>
                      <a:prstDash val="solid"/>
                    </a:lnR>
                    <a:lnB w="5715">
                      <a:solidFill>
                        <a:srgbClr val="CFD8D8"/>
                      </a:solidFill>
                      <a:prstDash val="solid"/>
                    </a:lnB>
                    <a:solidFill>
                      <a:srgbClr val="E8EEEB"/>
                    </a:solidFill>
                  </a:tcPr>
                </a:tc>
              </a:tr>
              <a:tr h="642938">
                <a:tc>
                  <a:txBody>
                    <a:bodyPr lIns="142875" tIns="95250" rIns="123825" bIns="95250"/>
                    <a:lstStyle/>
                    <a:p>
                      <a:r>
                        <a:rPr sz="1650" b="0">
                          <a:solidFill>
                            <a:srgbClr val="132E3B"/>
                          </a:solidFill>
                          <a:latin typeface="Arial"/>
                          <a:ea typeface="Arial"/>
                          <a:cs typeface="Arial"/>
                        </a:rPr>
                        <a:t>Without diabetes</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15</a:t>
                      </a:r>
                    </a:p>
                  </a:txBody>
                  <a:tcPr marL="91440" marR="91440" marT="45720" marB="45720" anchor="ctr">
                    <a:lnR w="5715">
                      <a:solidFill>
                        <a:srgbClr val="CFD8D8"/>
                      </a:solidFill>
                      <a:prstDash val="solid"/>
                    </a:lnR>
                    <a:lnB w="5715">
                      <a:solidFill>
                        <a:srgbClr val="CFD8D8"/>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14A6553-C301-44DA-8085-C49CBD8CE21F}"/>
              </a:ext>
            </a:extLst>
          </p:cNvPr>
          <p:cNvSpPr>
            <a:spLocks xmlns:a="http://schemas.openxmlformats.org/drawingml/2006/main" noGrp="1"/>
          </p:cNvSpPr>
          <p:nvPr/>
        </p:nvSpPr>
        <p:spPr>
          <a:xfrm xmlns:a="http://schemas.openxmlformats.org/drawingml/2006/main">
            <a:off x="666750" y="42957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0"/>
                </a:solidFill>
                <a:latin typeface="Arial"/>
                <a:ea typeface="Arial"/>
                <a:cs typeface="Arial"/>
              </a:defRPr>
            </a:defPPr>
            <a:lvl1pPr>
              <a:defRPr sz="2175" b="1">
                <a:solidFill>
                  <a:srgbClr val="087E80"/>
                </a:solidFill>
                <a:latin typeface="Arial"/>
                <a:ea typeface="Arial"/>
                <a:cs typeface="Arial"/>
              </a:defRPr>
            </a:lvl1pPr>
            <a:lvl2pPr>
              <a:defRPr sz="2175" b="1">
                <a:solidFill>
                  <a:srgbClr val="087E80"/>
                </a:solidFill>
                <a:latin typeface="Arial"/>
                <a:ea typeface="Arial"/>
                <a:cs typeface="Arial"/>
              </a:defRPr>
            </a:lvl2pPr>
            <a:lvl3pPr>
              <a:defRPr sz="2175" b="1">
                <a:solidFill>
                  <a:srgbClr val="087E80"/>
                </a:solidFill>
                <a:latin typeface="Arial"/>
                <a:ea typeface="Arial"/>
                <a:cs typeface="Arial"/>
              </a:defRPr>
            </a:lvl3pPr>
            <a:lvl4pPr>
              <a:defRPr sz="2175" b="1">
                <a:solidFill>
                  <a:srgbClr val="087E80"/>
                </a:solidFill>
                <a:latin typeface="Arial"/>
                <a:ea typeface="Arial"/>
                <a:cs typeface="Arial"/>
              </a:defRPr>
            </a:lvl4pPr>
            <a:lvl5pPr>
              <a:defRPr sz="2175" b="1">
                <a:solidFill>
                  <a:srgbClr val="087E80"/>
                </a:solidFill>
                <a:latin typeface="Arial"/>
                <a:ea typeface="Arial"/>
                <a:cs typeface="Arial"/>
              </a:defRPr>
            </a:lvl5pPr>
            <a:lvl6pPr>
              <a:defRPr sz="2175" b="1">
                <a:solidFill>
                  <a:srgbClr val="087E80"/>
                </a:solidFill>
                <a:latin typeface="Arial"/>
                <a:ea typeface="Arial"/>
                <a:cs typeface="Arial"/>
              </a:defRPr>
            </a:lvl6pPr>
            <a:lvl7pPr>
              <a:defRPr sz="2175" b="1">
                <a:solidFill>
                  <a:srgbClr val="087E80"/>
                </a:solidFill>
                <a:latin typeface="Arial"/>
                <a:ea typeface="Arial"/>
                <a:cs typeface="Arial"/>
              </a:defRPr>
            </a:lvl7pPr>
            <a:lvl8pPr>
              <a:defRPr sz="2175" b="1">
                <a:solidFill>
                  <a:srgbClr val="087E80"/>
                </a:solidFill>
                <a:latin typeface="Arial"/>
                <a:ea typeface="Arial"/>
                <a:cs typeface="Arial"/>
              </a:defRPr>
            </a:lvl8pPr>
            <a:lvl9pPr>
              <a:defRPr sz="2175" b="1">
                <a:solidFill>
                  <a:srgbClr val="087E80"/>
                </a:solidFill>
                <a:latin typeface="Arial"/>
                <a:ea typeface="Arial"/>
                <a:cs typeface="Arial"/>
              </a:defRPr>
            </a:lvl9pPr>
          </a:lstStyle>
          <a:p xmlns:a="http://schemas.openxmlformats.org/drawingml/2006/main">
            <a:pPr>
              <a:defRPr sz="2175" b="1">
                <a:solidFill>
                  <a:srgbClr val="087E80"/>
                </a:solidFill>
                <a:latin typeface="Arial"/>
                <a:ea typeface="Arial"/>
                <a:cs typeface="Arial"/>
              </a:defRPr>
            </a:pPr>
            <a:r>
              <a:rPr sz="2175" b="1">
                <a:solidFill>
                  <a:srgbClr val="087E80"/>
                </a:solidFill>
                <a:latin typeface="Arial"/>
                <a:ea typeface="Arial"/>
                <a:cs typeface="Arial"/>
              </a:rPr>
              <a:t>Clinical profile</a:t>
            </a:r>
          </a:p>
        </p:txBody>
      </p:sp>
      <p:sp>
        <p:nvSpPr>
          <p:cNvPr id="9" name="">
            <a:extLst xmlns:a="http://schemas.openxmlformats.org/drawingml/2006/main">
              <a:ext uri="{FF2B5EF4-FFF2-40B4-BE49-F238E27FC236}">
                <a16:creationId xmlns:a16="http://schemas.microsoft.com/office/drawing/2014/main" id="{E532BE1C-07B5-468C-81A3-625C21CAEAA4}"/>
              </a:ext>
            </a:extLst>
          </p:cNvPr>
          <p:cNvSpPr>
            <a:spLocks xmlns:a="http://schemas.openxmlformats.org/drawingml/2006/main" noGrp="1"/>
          </p:cNvSpPr>
          <p:nvPr/>
        </p:nvSpPr>
        <p:spPr>
          <a:xfrm xmlns:a="http://schemas.openxmlformats.org/drawingml/2006/main">
            <a:off x="666750" y="4800600"/>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32E3B"/>
                </a:solidFill>
                <a:latin typeface="Arial"/>
                <a:ea typeface="Arial"/>
                <a:cs typeface="Arial"/>
              </a:defRPr>
            </a:defPPr>
            <a:lvl1pPr>
              <a:defRPr sz="1950" b="0">
                <a:solidFill>
                  <a:srgbClr val="132E3B"/>
                </a:solidFill>
                <a:latin typeface="Arial"/>
                <a:ea typeface="Arial"/>
                <a:cs typeface="Arial"/>
              </a:defRPr>
            </a:lvl1pPr>
            <a:lvl2pPr>
              <a:defRPr sz="1950" b="0">
                <a:solidFill>
                  <a:srgbClr val="132E3B"/>
                </a:solidFill>
                <a:latin typeface="Arial"/>
                <a:ea typeface="Arial"/>
                <a:cs typeface="Arial"/>
              </a:defRPr>
            </a:lvl2pPr>
            <a:lvl3pPr>
              <a:defRPr sz="1950" b="0">
                <a:solidFill>
                  <a:srgbClr val="132E3B"/>
                </a:solidFill>
                <a:latin typeface="Arial"/>
                <a:ea typeface="Arial"/>
                <a:cs typeface="Arial"/>
              </a:defRPr>
            </a:lvl3pPr>
            <a:lvl4pPr>
              <a:defRPr sz="1950" b="0">
                <a:solidFill>
                  <a:srgbClr val="132E3B"/>
                </a:solidFill>
                <a:latin typeface="Arial"/>
                <a:ea typeface="Arial"/>
                <a:cs typeface="Arial"/>
              </a:defRPr>
            </a:lvl4pPr>
            <a:lvl5pPr>
              <a:defRPr sz="1950" b="0">
                <a:solidFill>
                  <a:srgbClr val="132E3B"/>
                </a:solidFill>
                <a:latin typeface="Arial"/>
                <a:ea typeface="Arial"/>
                <a:cs typeface="Arial"/>
              </a:defRPr>
            </a:lvl5pPr>
            <a:lvl6pPr>
              <a:defRPr sz="1950" b="0">
                <a:solidFill>
                  <a:srgbClr val="132E3B"/>
                </a:solidFill>
                <a:latin typeface="Arial"/>
                <a:ea typeface="Arial"/>
                <a:cs typeface="Arial"/>
              </a:defRPr>
            </a:lvl6pPr>
            <a:lvl7pPr>
              <a:defRPr sz="1950" b="0">
                <a:solidFill>
                  <a:srgbClr val="132E3B"/>
                </a:solidFill>
                <a:latin typeface="Arial"/>
                <a:ea typeface="Arial"/>
                <a:cs typeface="Arial"/>
              </a:defRPr>
            </a:lvl7pPr>
            <a:lvl8pPr>
              <a:defRPr sz="1950" b="0">
                <a:solidFill>
                  <a:srgbClr val="132E3B"/>
                </a:solidFill>
                <a:latin typeface="Arial"/>
                <a:ea typeface="Arial"/>
                <a:cs typeface="Arial"/>
              </a:defRPr>
            </a:lvl8pPr>
            <a:lvl9pPr>
              <a:defRPr sz="1950" b="0">
                <a:solidFill>
                  <a:srgbClr val="132E3B"/>
                </a:solidFill>
                <a:latin typeface="Arial"/>
                <a:ea typeface="Arial"/>
                <a:cs typeface="Arial"/>
              </a:defRPr>
            </a:lvl9pPr>
          </a:lstStyle>
          <a:p xmlns:a="http://schemas.openxmlformats.org/drawingml/2006/main">
            <a:pPr>
              <a:defRPr sz="1950" b="0">
                <a:solidFill>
                  <a:srgbClr val="132E3B"/>
                </a:solidFill>
                <a:latin typeface="Arial"/>
                <a:ea typeface="Arial"/>
                <a:cs typeface="Arial"/>
              </a:defRPr>
            </a:pPr>
            <a:r>
              <a:rPr sz="1950" b="0">
                <a:solidFill>
                  <a:srgbClr val="132E3B"/>
                </a:solidFill>
                <a:latin typeface="Arial"/>
                <a:ea typeface="Arial"/>
                <a:cs typeface="Arial"/>
              </a:rPr>
              <a:t>Age, BMI, HbA1c and fasting glucose</a:t>
            </a:r>
          </a:p>
        </p:txBody>
      </p:sp>
      <p:sp>
        <p:nvSpPr>
          <p:cNvPr id="10" name="">
            <a:extLst xmlns:a="http://schemas.openxmlformats.org/drawingml/2006/main">
              <a:ext uri="{FF2B5EF4-FFF2-40B4-BE49-F238E27FC236}">
                <a16:creationId xmlns:a16="http://schemas.microsoft.com/office/drawing/2014/main" id="{440CF40A-3AF1-4BD7-A7B3-4B28DA42F386}"/>
              </a:ext>
            </a:extLst>
          </p:cNvPr>
          <p:cNvSpPr>
            <a:spLocks xmlns:a="http://schemas.openxmlformats.org/drawingml/2006/main" noGrp="1"/>
          </p:cNvSpPr>
          <p:nvPr/>
        </p:nvSpPr>
        <p:spPr>
          <a:xfrm xmlns:a="http://schemas.openxmlformats.org/drawingml/2006/main">
            <a:off x="6048375" y="471487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0"/>
                </a:solidFill>
                <a:latin typeface="Arial"/>
                <a:ea typeface="Arial"/>
                <a:cs typeface="Arial"/>
              </a:defRPr>
            </a:defPPr>
            <a:lvl1pPr>
              <a:defRPr sz="2175" b="1">
                <a:solidFill>
                  <a:srgbClr val="087E80"/>
                </a:solidFill>
                <a:latin typeface="Arial"/>
                <a:ea typeface="Arial"/>
                <a:cs typeface="Arial"/>
              </a:defRPr>
            </a:lvl1pPr>
            <a:lvl2pPr>
              <a:defRPr sz="2175" b="1">
                <a:solidFill>
                  <a:srgbClr val="087E80"/>
                </a:solidFill>
                <a:latin typeface="Arial"/>
                <a:ea typeface="Arial"/>
                <a:cs typeface="Arial"/>
              </a:defRPr>
            </a:lvl2pPr>
            <a:lvl3pPr>
              <a:defRPr sz="2175" b="1">
                <a:solidFill>
                  <a:srgbClr val="087E80"/>
                </a:solidFill>
                <a:latin typeface="Arial"/>
                <a:ea typeface="Arial"/>
                <a:cs typeface="Arial"/>
              </a:defRPr>
            </a:lvl3pPr>
            <a:lvl4pPr>
              <a:defRPr sz="2175" b="1">
                <a:solidFill>
                  <a:srgbClr val="087E80"/>
                </a:solidFill>
                <a:latin typeface="Arial"/>
                <a:ea typeface="Arial"/>
                <a:cs typeface="Arial"/>
              </a:defRPr>
            </a:lvl4pPr>
            <a:lvl5pPr>
              <a:defRPr sz="2175" b="1">
                <a:solidFill>
                  <a:srgbClr val="087E80"/>
                </a:solidFill>
                <a:latin typeface="Arial"/>
                <a:ea typeface="Arial"/>
                <a:cs typeface="Arial"/>
              </a:defRPr>
            </a:lvl5pPr>
            <a:lvl6pPr>
              <a:defRPr sz="2175" b="1">
                <a:solidFill>
                  <a:srgbClr val="087E80"/>
                </a:solidFill>
                <a:latin typeface="Arial"/>
                <a:ea typeface="Arial"/>
                <a:cs typeface="Arial"/>
              </a:defRPr>
            </a:lvl6pPr>
            <a:lvl7pPr>
              <a:defRPr sz="2175" b="1">
                <a:solidFill>
                  <a:srgbClr val="087E80"/>
                </a:solidFill>
                <a:latin typeface="Arial"/>
                <a:ea typeface="Arial"/>
                <a:cs typeface="Arial"/>
              </a:defRPr>
            </a:lvl7pPr>
            <a:lvl8pPr>
              <a:defRPr sz="2175" b="1">
                <a:solidFill>
                  <a:srgbClr val="087E80"/>
                </a:solidFill>
                <a:latin typeface="Arial"/>
                <a:ea typeface="Arial"/>
                <a:cs typeface="Arial"/>
              </a:defRPr>
            </a:lvl8pPr>
            <a:lvl9pPr>
              <a:defRPr sz="2175" b="1">
                <a:solidFill>
                  <a:srgbClr val="087E80"/>
                </a:solidFill>
                <a:latin typeface="Arial"/>
                <a:ea typeface="Arial"/>
                <a:cs typeface="Arial"/>
              </a:defRPr>
            </a:lvl9pPr>
          </a:lstStyle>
          <a:p xmlns:a="http://schemas.openxmlformats.org/drawingml/2006/main">
            <a:pPr>
              <a:defRPr sz="2175" b="1">
                <a:solidFill>
                  <a:srgbClr val="087E80"/>
                </a:solidFill>
                <a:latin typeface="Arial"/>
                <a:ea typeface="Arial"/>
                <a:cs typeface="Arial"/>
              </a:defRPr>
            </a:pPr>
            <a:r>
              <a:rPr sz="2175" b="1">
                <a:solidFill>
                  <a:srgbClr val="087E80"/>
                </a:solidFill>
                <a:latin typeface="Arial"/>
                <a:ea typeface="Arial"/>
                <a:cs typeface="Arial"/>
              </a:rPr>
              <a:t>Dynamic observations</a:t>
            </a:r>
          </a:p>
        </p:txBody>
      </p:sp>
      <p:sp>
        <p:nvSpPr>
          <p:cNvPr id="11" name="">
            <a:extLst xmlns:a="http://schemas.openxmlformats.org/drawingml/2006/main">
              <a:ext uri="{FF2B5EF4-FFF2-40B4-BE49-F238E27FC236}">
                <a16:creationId xmlns:a16="http://schemas.microsoft.com/office/drawing/2014/main" id="{0FCE08DA-4BE4-4953-980E-0E355D9DD5BE}"/>
              </a:ext>
            </a:extLst>
          </p:cNvPr>
          <p:cNvSpPr>
            <a:spLocks xmlns:a="http://schemas.openxmlformats.org/drawingml/2006/main" noGrp="1"/>
          </p:cNvSpPr>
          <p:nvPr/>
        </p:nvSpPr>
        <p:spPr>
          <a:xfrm xmlns:a="http://schemas.openxmlformats.org/drawingml/2006/main">
            <a:off x="6048375" y="52101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32E3B"/>
                </a:solidFill>
                <a:latin typeface="Arial"/>
                <a:ea typeface="Arial"/>
                <a:cs typeface="Arial"/>
              </a:defRPr>
            </a:defPPr>
            <a:lvl1pPr>
              <a:defRPr sz="1950" b="0">
                <a:solidFill>
                  <a:srgbClr val="132E3B"/>
                </a:solidFill>
                <a:latin typeface="Arial"/>
                <a:ea typeface="Arial"/>
                <a:cs typeface="Arial"/>
              </a:defRPr>
            </a:lvl1pPr>
            <a:lvl2pPr>
              <a:defRPr sz="1950" b="0">
                <a:solidFill>
                  <a:srgbClr val="132E3B"/>
                </a:solidFill>
                <a:latin typeface="Arial"/>
                <a:ea typeface="Arial"/>
                <a:cs typeface="Arial"/>
              </a:defRPr>
            </a:lvl2pPr>
            <a:lvl3pPr>
              <a:defRPr sz="1950" b="0">
                <a:solidFill>
                  <a:srgbClr val="132E3B"/>
                </a:solidFill>
                <a:latin typeface="Arial"/>
                <a:ea typeface="Arial"/>
                <a:cs typeface="Arial"/>
              </a:defRPr>
            </a:lvl3pPr>
            <a:lvl4pPr>
              <a:defRPr sz="1950" b="0">
                <a:solidFill>
                  <a:srgbClr val="132E3B"/>
                </a:solidFill>
                <a:latin typeface="Arial"/>
                <a:ea typeface="Arial"/>
                <a:cs typeface="Arial"/>
              </a:defRPr>
            </a:lvl4pPr>
            <a:lvl5pPr>
              <a:defRPr sz="1950" b="0">
                <a:solidFill>
                  <a:srgbClr val="132E3B"/>
                </a:solidFill>
                <a:latin typeface="Arial"/>
                <a:ea typeface="Arial"/>
                <a:cs typeface="Arial"/>
              </a:defRPr>
            </a:lvl5pPr>
            <a:lvl6pPr>
              <a:defRPr sz="1950" b="0">
                <a:solidFill>
                  <a:srgbClr val="132E3B"/>
                </a:solidFill>
                <a:latin typeface="Arial"/>
                <a:ea typeface="Arial"/>
                <a:cs typeface="Arial"/>
              </a:defRPr>
            </a:lvl6pPr>
            <a:lvl7pPr>
              <a:defRPr sz="1950" b="0">
                <a:solidFill>
                  <a:srgbClr val="132E3B"/>
                </a:solidFill>
                <a:latin typeface="Arial"/>
                <a:ea typeface="Arial"/>
                <a:cs typeface="Arial"/>
              </a:defRPr>
            </a:lvl7pPr>
            <a:lvl8pPr>
              <a:defRPr sz="1950" b="0">
                <a:solidFill>
                  <a:srgbClr val="132E3B"/>
                </a:solidFill>
                <a:latin typeface="Arial"/>
                <a:ea typeface="Arial"/>
                <a:cs typeface="Arial"/>
              </a:defRPr>
            </a:lvl8pPr>
            <a:lvl9pPr>
              <a:defRPr sz="1950" b="0">
                <a:solidFill>
                  <a:srgbClr val="132E3B"/>
                </a:solidFill>
                <a:latin typeface="Arial"/>
                <a:ea typeface="Arial"/>
                <a:cs typeface="Arial"/>
              </a:defRPr>
            </a:lvl9pPr>
          </a:lstStyle>
          <a:p xmlns:a="http://schemas.openxmlformats.org/drawingml/2006/main">
            <a:pPr>
              <a:defRPr sz="1950" b="0">
                <a:solidFill>
                  <a:srgbClr val="132E3B"/>
                </a:solidFill>
                <a:latin typeface="Arial"/>
                <a:ea typeface="Arial"/>
                <a:cs typeface="Arial"/>
              </a:defRPr>
            </a:pPr>
            <a:r>
              <a:rPr sz="1950" b="0">
                <a:solidFill>
                  <a:srgbClr val="132E3B"/>
                </a:solidFill>
                <a:latin typeface="Arial"/>
                <a:ea typeface="Arial"/>
                <a:cs typeface="Arial"/>
              </a:rPr>
              <a:t>CGM with available heart rate and activity</a:t>
            </a:r>
          </a:p>
        </p:txBody>
      </p:sp>
    </p:spTree>
    <p:extLst>
      <p:ext uri="{BB962C8B-B14F-4D97-AF65-F5344CB8AC3E}">
        <p14:creationId xmlns:p14="http://schemas.microsoft.com/office/powerpoint/2010/main" val="445902897"/>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2F7541-18EA-4725-9337-75B5BC85DDB0}"/>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5F7F8"/>
                </a:solidFill>
                <a:latin typeface="Arial"/>
                <a:ea typeface="Arial"/>
                <a:cs typeface="Arial"/>
              </a:defRPr>
            </a:defPPr>
            <a:lvl1pPr>
              <a:defRPr sz="3450" b="1">
                <a:solidFill>
                  <a:srgbClr val="F5F7F8"/>
                </a:solidFill>
                <a:latin typeface="Arial"/>
                <a:ea typeface="Arial"/>
                <a:cs typeface="Arial"/>
              </a:defRPr>
            </a:lvl1pPr>
            <a:lvl2pPr>
              <a:defRPr sz="3450" b="1">
                <a:solidFill>
                  <a:srgbClr val="F5F7F8"/>
                </a:solidFill>
                <a:latin typeface="Arial"/>
                <a:ea typeface="Arial"/>
                <a:cs typeface="Arial"/>
              </a:defRPr>
            </a:lvl2pPr>
            <a:lvl3pPr>
              <a:defRPr sz="3450" b="1">
                <a:solidFill>
                  <a:srgbClr val="F5F7F8"/>
                </a:solidFill>
                <a:latin typeface="Arial"/>
                <a:ea typeface="Arial"/>
                <a:cs typeface="Arial"/>
              </a:defRPr>
            </a:lvl3pPr>
            <a:lvl4pPr>
              <a:defRPr sz="3450" b="1">
                <a:solidFill>
                  <a:srgbClr val="F5F7F8"/>
                </a:solidFill>
                <a:latin typeface="Arial"/>
                <a:ea typeface="Arial"/>
                <a:cs typeface="Arial"/>
              </a:defRPr>
            </a:lvl4pPr>
            <a:lvl5pPr>
              <a:defRPr sz="3450" b="1">
                <a:solidFill>
                  <a:srgbClr val="F5F7F8"/>
                </a:solidFill>
                <a:latin typeface="Arial"/>
                <a:ea typeface="Arial"/>
                <a:cs typeface="Arial"/>
              </a:defRPr>
            </a:lvl5pPr>
            <a:lvl6pPr>
              <a:defRPr sz="3450" b="1">
                <a:solidFill>
                  <a:srgbClr val="F5F7F8"/>
                </a:solidFill>
                <a:latin typeface="Arial"/>
                <a:ea typeface="Arial"/>
                <a:cs typeface="Arial"/>
              </a:defRPr>
            </a:lvl6pPr>
            <a:lvl7pPr>
              <a:defRPr sz="3450" b="1">
                <a:solidFill>
                  <a:srgbClr val="F5F7F8"/>
                </a:solidFill>
                <a:latin typeface="Arial"/>
                <a:ea typeface="Arial"/>
                <a:cs typeface="Arial"/>
              </a:defRPr>
            </a:lvl7pPr>
            <a:lvl8pPr>
              <a:defRPr sz="3450" b="1">
                <a:solidFill>
                  <a:srgbClr val="F5F7F8"/>
                </a:solidFill>
                <a:latin typeface="Arial"/>
                <a:ea typeface="Arial"/>
                <a:cs typeface="Arial"/>
              </a:defRPr>
            </a:lvl8pPr>
            <a:lvl9pPr>
              <a:defRPr sz="3450" b="1">
                <a:solidFill>
                  <a:srgbClr val="F5F7F8"/>
                </a:solidFill>
                <a:latin typeface="Arial"/>
                <a:ea typeface="Arial"/>
                <a:cs typeface="Arial"/>
              </a:defRPr>
            </a:lvl9pPr>
          </a:lstStyle>
          <a:p xmlns:a="http://schemas.openxmlformats.org/drawingml/2006/main">
            <a:pPr>
              <a:defRPr sz="3450" b="1">
                <a:solidFill>
                  <a:srgbClr val="F5F7F8"/>
                </a:solidFill>
                <a:latin typeface="Arial"/>
                <a:ea typeface="Arial"/>
                <a:cs typeface="Arial"/>
              </a:defRPr>
            </a:pPr>
            <a:r>
              <a:rPr sz="3450" b="1">
                <a:solidFill>
                  <a:srgbClr val="F5F7F8"/>
                </a:solidFill>
                <a:latin typeface="Arial"/>
                <a:ea typeface="Arial"/>
                <a:cs typeface="Arial"/>
              </a:rPr>
              <a:t>The patient state and update cycle</a:t>
            </a:r>
          </a:p>
        </p:txBody>
      </p:sp>
      <p:sp>
        <p:nvSpPr>
          <p:cNvPr id="2" name="">
            <a:extLst xmlns:a="http://schemas.openxmlformats.org/drawingml/2006/main">
              <a:ext uri="{FF2B5EF4-FFF2-40B4-BE49-F238E27FC236}">
                <a16:creationId xmlns:a16="http://schemas.microsoft.com/office/drawing/2014/main" id="{352FC1E9-653A-4811-A242-C852914805E6}"/>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7E2D0"/>
                </a:solidFill>
                <a:latin typeface="Arial"/>
                <a:ea typeface="Arial"/>
                <a:cs typeface="Arial"/>
              </a:defRPr>
            </a:defPPr>
            <a:lvl1pPr>
              <a:defRPr sz="1200" b="1">
                <a:solidFill>
                  <a:srgbClr val="67E2D0"/>
                </a:solidFill>
                <a:latin typeface="Arial"/>
                <a:ea typeface="Arial"/>
                <a:cs typeface="Arial"/>
              </a:defRPr>
            </a:lvl1pPr>
            <a:lvl2pPr>
              <a:defRPr sz="1200" b="1">
                <a:solidFill>
                  <a:srgbClr val="67E2D0"/>
                </a:solidFill>
                <a:latin typeface="Arial"/>
                <a:ea typeface="Arial"/>
                <a:cs typeface="Arial"/>
              </a:defRPr>
            </a:lvl2pPr>
            <a:lvl3pPr>
              <a:defRPr sz="1200" b="1">
                <a:solidFill>
                  <a:srgbClr val="67E2D0"/>
                </a:solidFill>
                <a:latin typeface="Arial"/>
                <a:ea typeface="Arial"/>
                <a:cs typeface="Arial"/>
              </a:defRPr>
            </a:lvl3pPr>
            <a:lvl4pPr>
              <a:defRPr sz="1200" b="1">
                <a:solidFill>
                  <a:srgbClr val="67E2D0"/>
                </a:solidFill>
                <a:latin typeface="Arial"/>
                <a:ea typeface="Arial"/>
                <a:cs typeface="Arial"/>
              </a:defRPr>
            </a:lvl4pPr>
            <a:lvl5pPr>
              <a:defRPr sz="1200" b="1">
                <a:solidFill>
                  <a:srgbClr val="67E2D0"/>
                </a:solidFill>
                <a:latin typeface="Arial"/>
                <a:ea typeface="Arial"/>
                <a:cs typeface="Arial"/>
              </a:defRPr>
            </a:lvl5pPr>
            <a:lvl6pPr>
              <a:defRPr sz="1200" b="1">
                <a:solidFill>
                  <a:srgbClr val="67E2D0"/>
                </a:solidFill>
                <a:latin typeface="Arial"/>
                <a:ea typeface="Arial"/>
                <a:cs typeface="Arial"/>
              </a:defRPr>
            </a:lvl6pPr>
            <a:lvl7pPr>
              <a:defRPr sz="1200" b="1">
                <a:solidFill>
                  <a:srgbClr val="67E2D0"/>
                </a:solidFill>
                <a:latin typeface="Arial"/>
                <a:ea typeface="Arial"/>
                <a:cs typeface="Arial"/>
              </a:defRPr>
            </a:lvl7pPr>
            <a:lvl8pPr>
              <a:defRPr sz="1200" b="1">
                <a:solidFill>
                  <a:srgbClr val="67E2D0"/>
                </a:solidFill>
                <a:latin typeface="Arial"/>
                <a:ea typeface="Arial"/>
                <a:cs typeface="Arial"/>
              </a:defRPr>
            </a:lvl8pPr>
            <a:lvl9pPr>
              <a:defRPr sz="1200" b="1">
                <a:solidFill>
                  <a:srgbClr val="67E2D0"/>
                </a:solidFill>
                <a:latin typeface="Arial"/>
                <a:ea typeface="Arial"/>
                <a:cs typeface="Arial"/>
              </a:defRPr>
            </a:lvl9pPr>
          </a:lstStyle>
          <a:p xmlns:a="http://schemas.openxmlformats.org/drawingml/2006/main">
            <a:pPr>
              <a:defRPr sz="1200" b="1">
                <a:solidFill>
                  <a:srgbClr val="67E2D0"/>
                </a:solidFill>
                <a:latin typeface="Arial"/>
                <a:ea typeface="Arial"/>
                <a:cs typeface="Arial"/>
              </a:defRPr>
            </a:pPr>
            <a:r>
              <a:rPr sz="1200" b="1">
                <a:solidFill>
                  <a:srgbClr val="67E2D0"/>
                </a:solidFill>
                <a:latin typeface="Arial"/>
                <a:ea typeface="Arial"/>
                <a:cs typeface="Arial"/>
              </a:rPr>
              <a:t>SYSTEM DESIGN</a:t>
            </a:r>
          </a:p>
        </p:txBody>
      </p:sp>
      <p:sp>
        <p:nvSpPr>
          <p:cNvPr id="3" name="">
            <a:extLst xmlns:a="http://schemas.openxmlformats.org/drawingml/2006/main">
              <a:ext uri="{FF2B5EF4-FFF2-40B4-BE49-F238E27FC236}">
                <a16:creationId xmlns:a16="http://schemas.microsoft.com/office/drawing/2014/main" id="{B6E4FCB3-6B42-4F4E-B28A-D5DB002AF23E}"/>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047835F-0863-42CF-AC11-618F8159993F}"/>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Clinical fusion uses both streams. The validation winner uses CGM history and time features.</a:t>
            </a:r>
          </a:p>
        </p:txBody>
      </p:sp>
      <p:sp>
        <p:nvSpPr>
          <p:cNvPr id="5" name="">
            <a:extLst xmlns:a="http://schemas.openxmlformats.org/drawingml/2006/main">
              <a:ext uri="{FF2B5EF4-FFF2-40B4-BE49-F238E27FC236}">
                <a16:creationId xmlns:a16="http://schemas.microsoft.com/office/drawing/2014/main" id="{F325D94D-A658-462E-B3A7-03D0934E3EEA}"/>
              </a:ext>
            </a:extLst>
          </p:cNvPr>
          <p:cNvSpPr>
            <a:spLocks xmlns:a="http://schemas.openxmlformats.org/drawingml/2006/main" noGrp="1"/>
          </p:cNvSpPr>
          <p:nvPr/>
        </p:nvSpPr>
        <p:spPr>
          <a:xfrm xmlns:a="http://schemas.openxmlformats.org/drawingml/2006/main">
            <a:off x="666750" y="18859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7E2D0"/>
                </a:solidFill>
                <a:latin typeface="Arial"/>
                <a:ea typeface="Arial"/>
                <a:cs typeface="Arial"/>
              </a:defRPr>
            </a:defPPr>
            <a:lvl1pPr>
              <a:defRPr sz="2175" b="1">
                <a:solidFill>
                  <a:srgbClr val="67E2D0"/>
                </a:solidFill>
                <a:latin typeface="Arial"/>
                <a:ea typeface="Arial"/>
                <a:cs typeface="Arial"/>
              </a:defRPr>
            </a:lvl1pPr>
            <a:lvl2pPr>
              <a:defRPr sz="2175" b="1">
                <a:solidFill>
                  <a:srgbClr val="67E2D0"/>
                </a:solidFill>
                <a:latin typeface="Arial"/>
                <a:ea typeface="Arial"/>
                <a:cs typeface="Arial"/>
              </a:defRPr>
            </a:lvl2pPr>
            <a:lvl3pPr>
              <a:defRPr sz="2175" b="1">
                <a:solidFill>
                  <a:srgbClr val="67E2D0"/>
                </a:solidFill>
                <a:latin typeface="Arial"/>
                <a:ea typeface="Arial"/>
                <a:cs typeface="Arial"/>
              </a:defRPr>
            </a:lvl3pPr>
            <a:lvl4pPr>
              <a:defRPr sz="2175" b="1">
                <a:solidFill>
                  <a:srgbClr val="67E2D0"/>
                </a:solidFill>
                <a:latin typeface="Arial"/>
                <a:ea typeface="Arial"/>
                <a:cs typeface="Arial"/>
              </a:defRPr>
            </a:lvl4pPr>
            <a:lvl5pPr>
              <a:defRPr sz="2175" b="1">
                <a:solidFill>
                  <a:srgbClr val="67E2D0"/>
                </a:solidFill>
                <a:latin typeface="Arial"/>
                <a:ea typeface="Arial"/>
                <a:cs typeface="Arial"/>
              </a:defRPr>
            </a:lvl5pPr>
            <a:lvl6pPr>
              <a:defRPr sz="2175" b="1">
                <a:solidFill>
                  <a:srgbClr val="67E2D0"/>
                </a:solidFill>
                <a:latin typeface="Arial"/>
                <a:ea typeface="Arial"/>
                <a:cs typeface="Arial"/>
              </a:defRPr>
            </a:lvl6pPr>
            <a:lvl7pPr>
              <a:defRPr sz="2175" b="1">
                <a:solidFill>
                  <a:srgbClr val="67E2D0"/>
                </a:solidFill>
                <a:latin typeface="Arial"/>
                <a:ea typeface="Arial"/>
                <a:cs typeface="Arial"/>
              </a:defRPr>
            </a:lvl7pPr>
            <a:lvl8pPr>
              <a:defRPr sz="2175" b="1">
                <a:solidFill>
                  <a:srgbClr val="67E2D0"/>
                </a:solidFill>
                <a:latin typeface="Arial"/>
                <a:ea typeface="Arial"/>
                <a:cs typeface="Arial"/>
              </a:defRPr>
            </a:lvl8pPr>
            <a:lvl9pPr>
              <a:defRPr sz="2175" b="1">
                <a:solidFill>
                  <a:srgbClr val="67E2D0"/>
                </a:solidFill>
                <a:latin typeface="Arial"/>
                <a:ea typeface="Arial"/>
                <a:cs typeface="Arial"/>
              </a:defRPr>
            </a:lvl9pPr>
          </a:lstStyle>
          <a:p xmlns:a="http://schemas.openxmlformats.org/drawingml/2006/main">
            <a:pPr>
              <a:defRPr sz="2175" b="1">
                <a:solidFill>
                  <a:srgbClr val="67E2D0"/>
                </a:solidFill>
                <a:latin typeface="Arial"/>
                <a:ea typeface="Arial"/>
                <a:cs typeface="Arial"/>
              </a:defRPr>
            </a:pPr>
            <a:r>
              <a:rPr sz="2175" b="1">
                <a:solidFill>
                  <a:srgbClr val="67E2D0"/>
                </a:solidFill>
                <a:latin typeface="Arial"/>
                <a:ea typeface="Arial"/>
                <a:cs typeface="Arial"/>
              </a:rPr>
              <a:t>01  Clinical profile</a:t>
            </a:r>
          </a:p>
        </p:txBody>
      </p:sp>
      <p:sp>
        <p:nvSpPr>
          <p:cNvPr id="6" name="">
            <a:extLst xmlns:a="http://schemas.openxmlformats.org/drawingml/2006/main">
              <a:ext uri="{FF2B5EF4-FFF2-40B4-BE49-F238E27FC236}">
                <a16:creationId xmlns:a16="http://schemas.microsoft.com/office/drawing/2014/main" id="{B67AD065-716E-44C4-A18C-2EA51462E3E8}"/>
              </a:ext>
            </a:extLst>
          </p:cNvPr>
          <p:cNvSpPr>
            <a:spLocks xmlns:a="http://schemas.openxmlformats.org/drawingml/2006/main" noGrp="1"/>
          </p:cNvSpPr>
          <p:nvPr/>
        </p:nvSpPr>
        <p:spPr>
          <a:xfrm xmlns:a="http://schemas.openxmlformats.org/drawingml/2006/main">
            <a:off x="666750" y="24288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5F7F8"/>
                </a:solidFill>
                <a:latin typeface="Arial"/>
                <a:ea typeface="Arial"/>
                <a:cs typeface="Arial"/>
              </a:defRPr>
            </a:defPPr>
            <a:lvl1pPr>
              <a:defRPr sz="1950" b="0">
                <a:solidFill>
                  <a:srgbClr val="F5F7F8"/>
                </a:solidFill>
                <a:latin typeface="Arial"/>
                <a:ea typeface="Arial"/>
                <a:cs typeface="Arial"/>
              </a:defRPr>
            </a:lvl1pPr>
            <a:lvl2pPr>
              <a:defRPr sz="1950" b="0">
                <a:solidFill>
                  <a:srgbClr val="F5F7F8"/>
                </a:solidFill>
                <a:latin typeface="Arial"/>
                <a:ea typeface="Arial"/>
                <a:cs typeface="Arial"/>
              </a:defRPr>
            </a:lvl2pPr>
            <a:lvl3pPr>
              <a:defRPr sz="1950" b="0">
                <a:solidFill>
                  <a:srgbClr val="F5F7F8"/>
                </a:solidFill>
                <a:latin typeface="Arial"/>
                <a:ea typeface="Arial"/>
                <a:cs typeface="Arial"/>
              </a:defRPr>
            </a:lvl3pPr>
            <a:lvl4pPr>
              <a:defRPr sz="1950" b="0">
                <a:solidFill>
                  <a:srgbClr val="F5F7F8"/>
                </a:solidFill>
                <a:latin typeface="Arial"/>
                <a:ea typeface="Arial"/>
                <a:cs typeface="Arial"/>
              </a:defRPr>
            </a:lvl4pPr>
            <a:lvl5pPr>
              <a:defRPr sz="1950" b="0">
                <a:solidFill>
                  <a:srgbClr val="F5F7F8"/>
                </a:solidFill>
                <a:latin typeface="Arial"/>
                <a:ea typeface="Arial"/>
                <a:cs typeface="Arial"/>
              </a:defRPr>
            </a:lvl5pPr>
            <a:lvl6pPr>
              <a:defRPr sz="1950" b="0">
                <a:solidFill>
                  <a:srgbClr val="F5F7F8"/>
                </a:solidFill>
                <a:latin typeface="Arial"/>
                <a:ea typeface="Arial"/>
                <a:cs typeface="Arial"/>
              </a:defRPr>
            </a:lvl6pPr>
            <a:lvl7pPr>
              <a:defRPr sz="1950" b="0">
                <a:solidFill>
                  <a:srgbClr val="F5F7F8"/>
                </a:solidFill>
                <a:latin typeface="Arial"/>
                <a:ea typeface="Arial"/>
                <a:cs typeface="Arial"/>
              </a:defRPr>
            </a:lvl7pPr>
            <a:lvl8pPr>
              <a:defRPr sz="1950" b="0">
                <a:solidFill>
                  <a:srgbClr val="F5F7F8"/>
                </a:solidFill>
                <a:latin typeface="Arial"/>
                <a:ea typeface="Arial"/>
                <a:cs typeface="Arial"/>
              </a:defRPr>
            </a:lvl8pPr>
            <a:lvl9pPr>
              <a:defRPr sz="1950" b="0">
                <a:solidFill>
                  <a:srgbClr val="F5F7F8"/>
                </a:solidFill>
                <a:latin typeface="Arial"/>
                <a:ea typeface="Arial"/>
                <a:cs typeface="Arial"/>
              </a:defRPr>
            </a:lvl9pPr>
          </a:lstStyle>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Baseline measurements remain linked</a:t>
            </a:r>
          </a:p>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to the same participant.</a:t>
            </a:r>
          </a:p>
        </p:txBody>
      </p:sp>
      <p:sp>
        <p:nvSpPr>
          <p:cNvPr id="7" name="">
            <a:extLst xmlns:a="http://schemas.openxmlformats.org/drawingml/2006/main">
              <a:ext uri="{FF2B5EF4-FFF2-40B4-BE49-F238E27FC236}">
                <a16:creationId xmlns:a16="http://schemas.microsoft.com/office/drawing/2014/main" id="{A80A9975-B62B-4106-B4F9-BCB8359CC917}"/>
              </a:ext>
            </a:extLst>
          </p:cNvPr>
          <p:cNvSpPr>
            <a:spLocks xmlns:a="http://schemas.openxmlformats.org/drawingml/2006/main" noGrp="1"/>
          </p:cNvSpPr>
          <p:nvPr/>
        </p:nvSpPr>
        <p:spPr>
          <a:xfrm xmlns:a="http://schemas.openxmlformats.org/drawingml/2006/main">
            <a:off x="6381750" y="18859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7E2D0"/>
                </a:solidFill>
                <a:latin typeface="Arial"/>
                <a:ea typeface="Arial"/>
                <a:cs typeface="Arial"/>
              </a:defRPr>
            </a:defPPr>
            <a:lvl1pPr>
              <a:defRPr sz="2175" b="1">
                <a:solidFill>
                  <a:srgbClr val="67E2D0"/>
                </a:solidFill>
                <a:latin typeface="Arial"/>
                <a:ea typeface="Arial"/>
                <a:cs typeface="Arial"/>
              </a:defRPr>
            </a:lvl1pPr>
            <a:lvl2pPr>
              <a:defRPr sz="2175" b="1">
                <a:solidFill>
                  <a:srgbClr val="67E2D0"/>
                </a:solidFill>
                <a:latin typeface="Arial"/>
                <a:ea typeface="Arial"/>
                <a:cs typeface="Arial"/>
              </a:defRPr>
            </a:lvl2pPr>
            <a:lvl3pPr>
              <a:defRPr sz="2175" b="1">
                <a:solidFill>
                  <a:srgbClr val="67E2D0"/>
                </a:solidFill>
                <a:latin typeface="Arial"/>
                <a:ea typeface="Arial"/>
                <a:cs typeface="Arial"/>
              </a:defRPr>
            </a:lvl3pPr>
            <a:lvl4pPr>
              <a:defRPr sz="2175" b="1">
                <a:solidFill>
                  <a:srgbClr val="67E2D0"/>
                </a:solidFill>
                <a:latin typeface="Arial"/>
                <a:ea typeface="Arial"/>
                <a:cs typeface="Arial"/>
              </a:defRPr>
            </a:lvl4pPr>
            <a:lvl5pPr>
              <a:defRPr sz="2175" b="1">
                <a:solidFill>
                  <a:srgbClr val="67E2D0"/>
                </a:solidFill>
                <a:latin typeface="Arial"/>
                <a:ea typeface="Arial"/>
                <a:cs typeface="Arial"/>
              </a:defRPr>
            </a:lvl5pPr>
            <a:lvl6pPr>
              <a:defRPr sz="2175" b="1">
                <a:solidFill>
                  <a:srgbClr val="67E2D0"/>
                </a:solidFill>
                <a:latin typeface="Arial"/>
                <a:ea typeface="Arial"/>
                <a:cs typeface="Arial"/>
              </a:defRPr>
            </a:lvl6pPr>
            <a:lvl7pPr>
              <a:defRPr sz="2175" b="1">
                <a:solidFill>
                  <a:srgbClr val="67E2D0"/>
                </a:solidFill>
                <a:latin typeface="Arial"/>
                <a:ea typeface="Arial"/>
                <a:cs typeface="Arial"/>
              </a:defRPr>
            </a:lvl7pPr>
            <a:lvl8pPr>
              <a:defRPr sz="2175" b="1">
                <a:solidFill>
                  <a:srgbClr val="67E2D0"/>
                </a:solidFill>
                <a:latin typeface="Arial"/>
                <a:ea typeface="Arial"/>
                <a:cs typeface="Arial"/>
              </a:defRPr>
            </a:lvl8pPr>
            <a:lvl9pPr>
              <a:defRPr sz="2175" b="1">
                <a:solidFill>
                  <a:srgbClr val="67E2D0"/>
                </a:solidFill>
                <a:latin typeface="Arial"/>
                <a:ea typeface="Arial"/>
                <a:cs typeface="Arial"/>
              </a:defRPr>
            </a:lvl9pPr>
          </a:lstStyle>
          <a:p xmlns:a="http://schemas.openxmlformats.org/drawingml/2006/main">
            <a:pPr>
              <a:defRPr sz="2175" b="1">
                <a:solidFill>
                  <a:srgbClr val="67E2D0"/>
                </a:solidFill>
                <a:latin typeface="Arial"/>
                <a:ea typeface="Arial"/>
                <a:cs typeface="Arial"/>
              </a:defRPr>
            </a:pPr>
            <a:r>
              <a:rPr sz="2175" b="1">
                <a:solidFill>
                  <a:srgbClr val="67E2D0"/>
                </a:solidFill>
                <a:latin typeface="Arial"/>
                <a:ea typeface="Arial"/>
                <a:cs typeface="Arial"/>
              </a:rPr>
              <a:t>02  Dynamic state</a:t>
            </a:r>
          </a:p>
        </p:txBody>
      </p:sp>
      <p:sp>
        <p:nvSpPr>
          <p:cNvPr id="8" name="">
            <a:extLst xmlns:a="http://schemas.openxmlformats.org/drawingml/2006/main">
              <a:ext uri="{FF2B5EF4-FFF2-40B4-BE49-F238E27FC236}">
                <a16:creationId xmlns:a16="http://schemas.microsoft.com/office/drawing/2014/main" id="{4BBB74A5-E473-47FF-A2A8-26FDEAABEADB}"/>
              </a:ext>
            </a:extLst>
          </p:cNvPr>
          <p:cNvSpPr>
            <a:spLocks xmlns:a="http://schemas.openxmlformats.org/drawingml/2006/main" noGrp="1"/>
          </p:cNvSpPr>
          <p:nvPr/>
        </p:nvSpPr>
        <p:spPr>
          <a:xfrm xmlns:a="http://schemas.openxmlformats.org/drawingml/2006/main">
            <a:off x="6381750" y="24288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5F7F8"/>
                </a:solidFill>
                <a:latin typeface="Arial"/>
                <a:ea typeface="Arial"/>
                <a:cs typeface="Arial"/>
              </a:defRPr>
            </a:defPPr>
            <a:lvl1pPr>
              <a:defRPr sz="1950" b="0">
                <a:solidFill>
                  <a:srgbClr val="F5F7F8"/>
                </a:solidFill>
                <a:latin typeface="Arial"/>
                <a:ea typeface="Arial"/>
                <a:cs typeface="Arial"/>
              </a:defRPr>
            </a:lvl1pPr>
            <a:lvl2pPr>
              <a:defRPr sz="1950" b="0">
                <a:solidFill>
                  <a:srgbClr val="F5F7F8"/>
                </a:solidFill>
                <a:latin typeface="Arial"/>
                <a:ea typeface="Arial"/>
                <a:cs typeface="Arial"/>
              </a:defRPr>
            </a:lvl2pPr>
            <a:lvl3pPr>
              <a:defRPr sz="1950" b="0">
                <a:solidFill>
                  <a:srgbClr val="F5F7F8"/>
                </a:solidFill>
                <a:latin typeface="Arial"/>
                <a:ea typeface="Arial"/>
                <a:cs typeface="Arial"/>
              </a:defRPr>
            </a:lvl3pPr>
            <a:lvl4pPr>
              <a:defRPr sz="1950" b="0">
                <a:solidFill>
                  <a:srgbClr val="F5F7F8"/>
                </a:solidFill>
                <a:latin typeface="Arial"/>
                <a:ea typeface="Arial"/>
                <a:cs typeface="Arial"/>
              </a:defRPr>
            </a:lvl4pPr>
            <a:lvl5pPr>
              <a:defRPr sz="1950" b="0">
                <a:solidFill>
                  <a:srgbClr val="F5F7F8"/>
                </a:solidFill>
                <a:latin typeface="Arial"/>
                <a:ea typeface="Arial"/>
                <a:cs typeface="Arial"/>
              </a:defRPr>
            </a:lvl5pPr>
            <a:lvl6pPr>
              <a:defRPr sz="1950" b="0">
                <a:solidFill>
                  <a:srgbClr val="F5F7F8"/>
                </a:solidFill>
                <a:latin typeface="Arial"/>
                <a:ea typeface="Arial"/>
                <a:cs typeface="Arial"/>
              </a:defRPr>
            </a:lvl6pPr>
            <a:lvl7pPr>
              <a:defRPr sz="1950" b="0">
                <a:solidFill>
                  <a:srgbClr val="F5F7F8"/>
                </a:solidFill>
                <a:latin typeface="Arial"/>
                <a:ea typeface="Arial"/>
                <a:cs typeface="Arial"/>
              </a:defRPr>
            </a:lvl7pPr>
            <a:lvl8pPr>
              <a:defRPr sz="1950" b="0">
                <a:solidFill>
                  <a:srgbClr val="F5F7F8"/>
                </a:solidFill>
                <a:latin typeface="Arial"/>
                <a:ea typeface="Arial"/>
                <a:cs typeface="Arial"/>
              </a:defRPr>
            </a:lvl8pPr>
            <a:lvl9pPr>
              <a:defRPr sz="1950" b="0">
                <a:solidFill>
                  <a:srgbClr val="F5F7F8"/>
                </a:solidFill>
                <a:latin typeface="Arial"/>
                <a:ea typeface="Arial"/>
                <a:cs typeface="Arial"/>
              </a:defRPr>
            </a:lvl9pPr>
          </a:lstStyle>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New readings update recent history</a:t>
            </a:r>
          </a:p>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and input-quality checks.</a:t>
            </a:r>
          </a:p>
        </p:txBody>
      </p:sp>
      <p:sp>
        <p:nvSpPr>
          <p:cNvPr id="9" name="">
            <a:extLst xmlns:a="http://schemas.openxmlformats.org/drawingml/2006/main">
              <a:ext uri="{FF2B5EF4-FFF2-40B4-BE49-F238E27FC236}">
                <a16:creationId xmlns:a16="http://schemas.microsoft.com/office/drawing/2014/main" id="{E3591BF1-8EAB-458B-AB42-A256C4E7D6A2}"/>
              </a:ext>
            </a:extLst>
          </p:cNvPr>
          <p:cNvSpPr>
            <a:spLocks xmlns:a="http://schemas.openxmlformats.org/drawingml/2006/main" noGrp="1"/>
          </p:cNvSpPr>
          <p:nvPr/>
        </p:nvSpPr>
        <p:spPr>
          <a:xfrm xmlns:a="http://schemas.openxmlformats.org/drawingml/2006/main">
            <a:off x="666750" y="39338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7E2D0"/>
                </a:solidFill>
                <a:latin typeface="Arial"/>
                <a:ea typeface="Arial"/>
                <a:cs typeface="Arial"/>
              </a:defRPr>
            </a:defPPr>
            <a:lvl1pPr>
              <a:defRPr sz="2175" b="1">
                <a:solidFill>
                  <a:srgbClr val="67E2D0"/>
                </a:solidFill>
                <a:latin typeface="Arial"/>
                <a:ea typeface="Arial"/>
                <a:cs typeface="Arial"/>
              </a:defRPr>
            </a:lvl1pPr>
            <a:lvl2pPr>
              <a:defRPr sz="2175" b="1">
                <a:solidFill>
                  <a:srgbClr val="67E2D0"/>
                </a:solidFill>
                <a:latin typeface="Arial"/>
                <a:ea typeface="Arial"/>
                <a:cs typeface="Arial"/>
              </a:defRPr>
            </a:lvl2pPr>
            <a:lvl3pPr>
              <a:defRPr sz="2175" b="1">
                <a:solidFill>
                  <a:srgbClr val="67E2D0"/>
                </a:solidFill>
                <a:latin typeface="Arial"/>
                <a:ea typeface="Arial"/>
                <a:cs typeface="Arial"/>
              </a:defRPr>
            </a:lvl3pPr>
            <a:lvl4pPr>
              <a:defRPr sz="2175" b="1">
                <a:solidFill>
                  <a:srgbClr val="67E2D0"/>
                </a:solidFill>
                <a:latin typeface="Arial"/>
                <a:ea typeface="Arial"/>
                <a:cs typeface="Arial"/>
              </a:defRPr>
            </a:lvl4pPr>
            <a:lvl5pPr>
              <a:defRPr sz="2175" b="1">
                <a:solidFill>
                  <a:srgbClr val="67E2D0"/>
                </a:solidFill>
                <a:latin typeface="Arial"/>
                <a:ea typeface="Arial"/>
                <a:cs typeface="Arial"/>
              </a:defRPr>
            </a:lvl5pPr>
            <a:lvl6pPr>
              <a:defRPr sz="2175" b="1">
                <a:solidFill>
                  <a:srgbClr val="67E2D0"/>
                </a:solidFill>
                <a:latin typeface="Arial"/>
                <a:ea typeface="Arial"/>
                <a:cs typeface="Arial"/>
              </a:defRPr>
            </a:lvl6pPr>
            <a:lvl7pPr>
              <a:defRPr sz="2175" b="1">
                <a:solidFill>
                  <a:srgbClr val="67E2D0"/>
                </a:solidFill>
                <a:latin typeface="Arial"/>
                <a:ea typeface="Arial"/>
                <a:cs typeface="Arial"/>
              </a:defRPr>
            </a:lvl7pPr>
            <a:lvl8pPr>
              <a:defRPr sz="2175" b="1">
                <a:solidFill>
                  <a:srgbClr val="67E2D0"/>
                </a:solidFill>
                <a:latin typeface="Arial"/>
                <a:ea typeface="Arial"/>
                <a:cs typeface="Arial"/>
              </a:defRPr>
            </a:lvl8pPr>
            <a:lvl9pPr>
              <a:defRPr sz="2175" b="1">
                <a:solidFill>
                  <a:srgbClr val="67E2D0"/>
                </a:solidFill>
                <a:latin typeface="Arial"/>
                <a:ea typeface="Arial"/>
                <a:cs typeface="Arial"/>
              </a:defRPr>
            </a:lvl9pPr>
          </a:lstStyle>
          <a:p xmlns:a="http://schemas.openxmlformats.org/drawingml/2006/main">
            <a:pPr>
              <a:defRPr sz="2175" b="1">
                <a:solidFill>
                  <a:srgbClr val="67E2D0"/>
                </a:solidFill>
                <a:latin typeface="Arial"/>
                <a:ea typeface="Arial"/>
                <a:cs typeface="Arial"/>
              </a:defRPr>
            </a:pPr>
            <a:r>
              <a:rPr sz="2175" b="1">
                <a:solidFill>
                  <a:srgbClr val="67E2D0"/>
                </a:solidFill>
                <a:latin typeface="Arial"/>
                <a:ea typeface="Arial"/>
                <a:cs typeface="Arial"/>
              </a:rPr>
              <a:t>03  Forecast</a:t>
            </a:r>
          </a:p>
        </p:txBody>
      </p:sp>
      <p:sp>
        <p:nvSpPr>
          <p:cNvPr id="10" name="">
            <a:extLst xmlns:a="http://schemas.openxmlformats.org/drawingml/2006/main">
              <a:ext uri="{FF2B5EF4-FFF2-40B4-BE49-F238E27FC236}">
                <a16:creationId xmlns:a16="http://schemas.microsoft.com/office/drawing/2014/main" id="{7D2482D3-5F7C-44FD-9ACE-BA2AC1CE3EA9}"/>
              </a:ext>
            </a:extLst>
          </p:cNvPr>
          <p:cNvSpPr>
            <a:spLocks xmlns:a="http://schemas.openxmlformats.org/drawingml/2006/main" noGrp="1"/>
          </p:cNvSpPr>
          <p:nvPr/>
        </p:nvSpPr>
        <p:spPr>
          <a:xfrm xmlns:a="http://schemas.openxmlformats.org/drawingml/2006/main">
            <a:off x="666750" y="44767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5F7F8"/>
                </a:solidFill>
                <a:latin typeface="Arial"/>
                <a:ea typeface="Arial"/>
                <a:cs typeface="Arial"/>
              </a:defRPr>
            </a:defPPr>
            <a:lvl1pPr>
              <a:defRPr sz="1950" b="0">
                <a:solidFill>
                  <a:srgbClr val="F5F7F8"/>
                </a:solidFill>
                <a:latin typeface="Arial"/>
                <a:ea typeface="Arial"/>
                <a:cs typeface="Arial"/>
              </a:defRPr>
            </a:lvl1pPr>
            <a:lvl2pPr>
              <a:defRPr sz="1950" b="0">
                <a:solidFill>
                  <a:srgbClr val="F5F7F8"/>
                </a:solidFill>
                <a:latin typeface="Arial"/>
                <a:ea typeface="Arial"/>
                <a:cs typeface="Arial"/>
              </a:defRPr>
            </a:lvl2pPr>
            <a:lvl3pPr>
              <a:defRPr sz="1950" b="0">
                <a:solidFill>
                  <a:srgbClr val="F5F7F8"/>
                </a:solidFill>
                <a:latin typeface="Arial"/>
                <a:ea typeface="Arial"/>
                <a:cs typeface="Arial"/>
              </a:defRPr>
            </a:lvl3pPr>
            <a:lvl4pPr>
              <a:defRPr sz="1950" b="0">
                <a:solidFill>
                  <a:srgbClr val="F5F7F8"/>
                </a:solidFill>
                <a:latin typeface="Arial"/>
                <a:ea typeface="Arial"/>
                <a:cs typeface="Arial"/>
              </a:defRPr>
            </a:lvl4pPr>
            <a:lvl5pPr>
              <a:defRPr sz="1950" b="0">
                <a:solidFill>
                  <a:srgbClr val="F5F7F8"/>
                </a:solidFill>
                <a:latin typeface="Arial"/>
                <a:ea typeface="Arial"/>
                <a:cs typeface="Arial"/>
              </a:defRPr>
            </a:lvl5pPr>
            <a:lvl6pPr>
              <a:defRPr sz="1950" b="0">
                <a:solidFill>
                  <a:srgbClr val="F5F7F8"/>
                </a:solidFill>
                <a:latin typeface="Arial"/>
                <a:ea typeface="Arial"/>
                <a:cs typeface="Arial"/>
              </a:defRPr>
            </a:lvl6pPr>
            <a:lvl7pPr>
              <a:defRPr sz="1950" b="0">
                <a:solidFill>
                  <a:srgbClr val="F5F7F8"/>
                </a:solidFill>
                <a:latin typeface="Arial"/>
                <a:ea typeface="Arial"/>
                <a:cs typeface="Arial"/>
              </a:defRPr>
            </a:lvl7pPr>
            <a:lvl8pPr>
              <a:defRPr sz="1950" b="0">
                <a:solidFill>
                  <a:srgbClr val="F5F7F8"/>
                </a:solidFill>
                <a:latin typeface="Arial"/>
                <a:ea typeface="Arial"/>
                <a:cs typeface="Arial"/>
              </a:defRPr>
            </a:lvl8pPr>
            <a:lvl9pPr>
              <a:defRPr sz="1950" b="0">
                <a:solidFill>
                  <a:srgbClr val="F5F7F8"/>
                </a:solidFill>
                <a:latin typeface="Arial"/>
                <a:ea typeface="Arial"/>
                <a:cs typeface="Arial"/>
              </a:defRPr>
            </a:lvl9pPr>
          </a:lstStyle>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Six estimates cover the next</a:t>
            </a:r>
          </a:p>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five to thirty minutes.</a:t>
            </a:r>
          </a:p>
        </p:txBody>
      </p:sp>
      <p:sp>
        <p:nvSpPr>
          <p:cNvPr id="11" name="">
            <a:extLst xmlns:a="http://schemas.openxmlformats.org/drawingml/2006/main">
              <a:ext uri="{FF2B5EF4-FFF2-40B4-BE49-F238E27FC236}">
                <a16:creationId xmlns:a16="http://schemas.microsoft.com/office/drawing/2014/main" id="{FBA7F920-43F9-4EEB-B2ED-B6FD5EEC2CAC}"/>
              </a:ext>
            </a:extLst>
          </p:cNvPr>
          <p:cNvSpPr>
            <a:spLocks xmlns:a="http://schemas.openxmlformats.org/drawingml/2006/main" noGrp="1"/>
          </p:cNvSpPr>
          <p:nvPr/>
        </p:nvSpPr>
        <p:spPr>
          <a:xfrm xmlns:a="http://schemas.openxmlformats.org/drawingml/2006/main">
            <a:off x="6381750" y="39338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7E2D0"/>
                </a:solidFill>
                <a:latin typeface="Arial"/>
                <a:ea typeface="Arial"/>
                <a:cs typeface="Arial"/>
              </a:defRPr>
            </a:defPPr>
            <a:lvl1pPr>
              <a:defRPr sz="2175" b="1">
                <a:solidFill>
                  <a:srgbClr val="67E2D0"/>
                </a:solidFill>
                <a:latin typeface="Arial"/>
                <a:ea typeface="Arial"/>
                <a:cs typeface="Arial"/>
              </a:defRPr>
            </a:lvl1pPr>
            <a:lvl2pPr>
              <a:defRPr sz="2175" b="1">
                <a:solidFill>
                  <a:srgbClr val="67E2D0"/>
                </a:solidFill>
                <a:latin typeface="Arial"/>
                <a:ea typeface="Arial"/>
                <a:cs typeface="Arial"/>
              </a:defRPr>
            </a:lvl2pPr>
            <a:lvl3pPr>
              <a:defRPr sz="2175" b="1">
                <a:solidFill>
                  <a:srgbClr val="67E2D0"/>
                </a:solidFill>
                <a:latin typeface="Arial"/>
                <a:ea typeface="Arial"/>
                <a:cs typeface="Arial"/>
              </a:defRPr>
            </a:lvl3pPr>
            <a:lvl4pPr>
              <a:defRPr sz="2175" b="1">
                <a:solidFill>
                  <a:srgbClr val="67E2D0"/>
                </a:solidFill>
                <a:latin typeface="Arial"/>
                <a:ea typeface="Arial"/>
                <a:cs typeface="Arial"/>
              </a:defRPr>
            </a:lvl4pPr>
            <a:lvl5pPr>
              <a:defRPr sz="2175" b="1">
                <a:solidFill>
                  <a:srgbClr val="67E2D0"/>
                </a:solidFill>
                <a:latin typeface="Arial"/>
                <a:ea typeface="Arial"/>
                <a:cs typeface="Arial"/>
              </a:defRPr>
            </a:lvl5pPr>
            <a:lvl6pPr>
              <a:defRPr sz="2175" b="1">
                <a:solidFill>
                  <a:srgbClr val="67E2D0"/>
                </a:solidFill>
                <a:latin typeface="Arial"/>
                <a:ea typeface="Arial"/>
                <a:cs typeface="Arial"/>
              </a:defRPr>
            </a:lvl6pPr>
            <a:lvl7pPr>
              <a:defRPr sz="2175" b="1">
                <a:solidFill>
                  <a:srgbClr val="67E2D0"/>
                </a:solidFill>
                <a:latin typeface="Arial"/>
                <a:ea typeface="Arial"/>
                <a:cs typeface="Arial"/>
              </a:defRPr>
            </a:lvl7pPr>
            <a:lvl8pPr>
              <a:defRPr sz="2175" b="1">
                <a:solidFill>
                  <a:srgbClr val="67E2D0"/>
                </a:solidFill>
                <a:latin typeface="Arial"/>
                <a:ea typeface="Arial"/>
                <a:cs typeface="Arial"/>
              </a:defRPr>
            </a:lvl8pPr>
            <a:lvl9pPr>
              <a:defRPr sz="2175" b="1">
                <a:solidFill>
                  <a:srgbClr val="67E2D0"/>
                </a:solidFill>
                <a:latin typeface="Arial"/>
                <a:ea typeface="Arial"/>
                <a:cs typeface="Arial"/>
              </a:defRPr>
            </a:lvl9pPr>
          </a:lstStyle>
          <a:p xmlns:a="http://schemas.openxmlformats.org/drawingml/2006/main">
            <a:pPr>
              <a:defRPr sz="2175" b="1">
                <a:solidFill>
                  <a:srgbClr val="67E2D0"/>
                </a:solidFill>
                <a:latin typeface="Arial"/>
                <a:ea typeface="Arial"/>
                <a:cs typeface="Arial"/>
              </a:defRPr>
            </a:pPr>
            <a:r>
              <a:rPr sz="2175" b="1">
                <a:solidFill>
                  <a:srgbClr val="67E2D0"/>
                </a:solidFill>
                <a:latin typeface="Arial"/>
                <a:ea typeface="Arial"/>
                <a:cs typeface="Arial"/>
              </a:rPr>
              <a:t>04  Outcome check</a:t>
            </a:r>
          </a:p>
        </p:txBody>
      </p:sp>
      <p:sp>
        <p:nvSpPr>
          <p:cNvPr id="12" name="">
            <a:extLst xmlns:a="http://schemas.openxmlformats.org/drawingml/2006/main">
              <a:ext uri="{FF2B5EF4-FFF2-40B4-BE49-F238E27FC236}">
                <a16:creationId xmlns:a16="http://schemas.microsoft.com/office/drawing/2014/main" id="{50A80FA9-BC10-4BE1-B1B4-5A8025B73252}"/>
              </a:ext>
            </a:extLst>
          </p:cNvPr>
          <p:cNvSpPr>
            <a:spLocks xmlns:a="http://schemas.openxmlformats.org/drawingml/2006/main" noGrp="1"/>
          </p:cNvSpPr>
          <p:nvPr/>
        </p:nvSpPr>
        <p:spPr>
          <a:xfrm xmlns:a="http://schemas.openxmlformats.org/drawingml/2006/main">
            <a:off x="6381750" y="44767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5F7F8"/>
                </a:solidFill>
                <a:latin typeface="Arial"/>
                <a:ea typeface="Arial"/>
                <a:cs typeface="Arial"/>
              </a:defRPr>
            </a:defPPr>
            <a:lvl1pPr>
              <a:defRPr sz="1950" b="0">
                <a:solidFill>
                  <a:srgbClr val="F5F7F8"/>
                </a:solidFill>
                <a:latin typeface="Arial"/>
                <a:ea typeface="Arial"/>
                <a:cs typeface="Arial"/>
              </a:defRPr>
            </a:lvl1pPr>
            <a:lvl2pPr>
              <a:defRPr sz="1950" b="0">
                <a:solidFill>
                  <a:srgbClr val="F5F7F8"/>
                </a:solidFill>
                <a:latin typeface="Arial"/>
                <a:ea typeface="Arial"/>
                <a:cs typeface="Arial"/>
              </a:defRPr>
            </a:lvl2pPr>
            <a:lvl3pPr>
              <a:defRPr sz="1950" b="0">
                <a:solidFill>
                  <a:srgbClr val="F5F7F8"/>
                </a:solidFill>
                <a:latin typeface="Arial"/>
                <a:ea typeface="Arial"/>
                <a:cs typeface="Arial"/>
              </a:defRPr>
            </a:lvl3pPr>
            <a:lvl4pPr>
              <a:defRPr sz="1950" b="0">
                <a:solidFill>
                  <a:srgbClr val="F5F7F8"/>
                </a:solidFill>
                <a:latin typeface="Arial"/>
                <a:ea typeface="Arial"/>
                <a:cs typeface="Arial"/>
              </a:defRPr>
            </a:lvl4pPr>
            <a:lvl5pPr>
              <a:defRPr sz="1950" b="0">
                <a:solidFill>
                  <a:srgbClr val="F5F7F8"/>
                </a:solidFill>
                <a:latin typeface="Arial"/>
                <a:ea typeface="Arial"/>
                <a:cs typeface="Arial"/>
              </a:defRPr>
            </a:lvl5pPr>
            <a:lvl6pPr>
              <a:defRPr sz="1950" b="0">
                <a:solidFill>
                  <a:srgbClr val="F5F7F8"/>
                </a:solidFill>
                <a:latin typeface="Arial"/>
                <a:ea typeface="Arial"/>
                <a:cs typeface="Arial"/>
              </a:defRPr>
            </a:lvl6pPr>
            <a:lvl7pPr>
              <a:defRPr sz="1950" b="0">
                <a:solidFill>
                  <a:srgbClr val="F5F7F8"/>
                </a:solidFill>
                <a:latin typeface="Arial"/>
                <a:ea typeface="Arial"/>
                <a:cs typeface="Arial"/>
              </a:defRPr>
            </a:lvl7pPr>
            <a:lvl8pPr>
              <a:defRPr sz="1950" b="0">
                <a:solidFill>
                  <a:srgbClr val="F5F7F8"/>
                </a:solidFill>
                <a:latin typeface="Arial"/>
                <a:ea typeface="Arial"/>
                <a:cs typeface="Arial"/>
              </a:defRPr>
            </a:lvl8pPr>
            <a:lvl9pPr>
              <a:defRPr sz="1950" b="0">
                <a:solidFill>
                  <a:srgbClr val="F5F7F8"/>
                </a:solidFill>
                <a:latin typeface="Arial"/>
                <a:ea typeface="Arial"/>
                <a:cs typeface="Arial"/>
              </a:defRPr>
            </a:lvl9pPr>
          </a:lstStyle>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Later observations measure the error</a:t>
            </a:r>
          </a:p>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of previously issued forecasts.</a:t>
            </a:r>
          </a:p>
        </p:txBody>
      </p:sp>
    </p:spTree>
    <p:extLst>
      <p:ext uri="{BB962C8B-B14F-4D97-AF65-F5344CB8AC3E}">
        <p14:creationId xmlns:p14="http://schemas.microsoft.com/office/powerpoint/2010/main" val="1257193781"/>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0B404B-7AAC-441B-A652-1E9FBA422F42}"/>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5F7F8"/>
                </a:solidFill>
                <a:latin typeface="Arial"/>
                <a:ea typeface="Arial"/>
                <a:cs typeface="Arial"/>
              </a:defRPr>
            </a:defPPr>
            <a:lvl1pPr>
              <a:defRPr sz="3450" b="1">
                <a:solidFill>
                  <a:srgbClr val="F5F7F8"/>
                </a:solidFill>
                <a:latin typeface="Arial"/>
                <a:ea typeface="Arial"/>
                <a:cs typeface="Arial"/>
              </a:defRPr>
            </a:lvl1pPr>
            <a:lvl2pPr>
              <a:defRPr sz="3450" b="1">
                <a:solidFill>
                  <a:srgbClr val="F5F7F8"/>
                </a:solidFill>
                <a:latin typeface="Arial"/>
                <a:ea typeface="Arial"/>
                <a:cs typeface="Arial"/>
              </a:defRPr>
            </a:lvl2pPr>
            <a:lvl3pPr>
              <a:defRPr sz="3450" b="1">
                <a:solidFill>
                  <a:srgbClr val="F5F7F8"/>
                </a:solidFill>
                <a:latin typeface="Arial"/>
                <a:ea typeface="Arial"/>
                <a:cs typeface="Arial"/>
              </a:defRPr>
            </a:lvl3pPr>
            <a:lvl4pPr>
              <a:defRPr sz="3450" b="1">
                <a:solidFill>
                  <a:srgbClr val="F5F7F8"/>
                </a:solidFill>
                <a:latin typeface="Arial"/>
                <a:ea typeface="Arial"/>
                <a:cs typeface="Arial"/>
              </a:defRPr>
            </a:lvl4pPr>
            <a:lvl5pPr>
              <a:defRPr sz="3450" b="1">
                <a:solidFill>
                  <a:srgbClr val="F5F7F8"/>
                </a:solidFill>
                <a:latin typeface="Arial"/>
                <a:ea typeface="Arial"/>
                <a:cs typeface="Arial"/>
              </a:defRPr>
            </a:lvl5pPr>
            <a:lvl6pPr>
              <a:defRPr sz="3450" b="1">
                <a:solidFill>
                  <a:srgbClr val="F5F7F8"/>
                </a:solidFill>
                <a:latin typeface="Arial"/>
                <a:ea typeface="Arial"/>
                <a:cs typeface="Arial"/>
              </a:defRPr>
            </a:lvl6pPr>
            <a:lvl7pPr>
              <a:defRPr sz="3450" b="1">
                <a:solidFill>
                  <a:srgbClr val="F5F7F8"/>
                </a:solidFill>
                <a:latin typeface="Arial"/>
                <a:ea typeface="Arial"/>
                <a:cs typeface="Arial"/>
              </a:defRPr>
            </a:lvl7pPr>
            <a:lvl8pPr>
              <a:defRPr sz="3450" b="1">
                <a:solidFill>
                  <a:srgbClr val="F5F7F8"/>
                </a:solidFill>
                <a:latin typeface="Arial"/>
                <a:ea typeface="Arial"/>
                <a:cs typeface="Arial"/>
              </a:defRPr>
            </a:lvl8pPr>
            <a:lvl9pPr>
              <a:defRPr sz="3450" b="1">
                <a:solidFill>
                  <a:srgbClr val="F5F7F8"/>
                </a:solidFill>
                <a:latin typeface="Arial"/>
                <a:ea typeface="Arial"/>
                <a:cs typeface="Arial"/>
              </a:defRPr>
            </a:lvl9pPr>
          </a:lstStyle>
          <a:p xmlns:a="http://schemas.openxmlformats.org/drawingml/2006/main">
            <a:pPr>
              <a:defRPr sz="3450" b="1">
                <a:solidFill>
                  <a:srgbClr val="F5F7F8"/>
                </a:solidFill>
                <a:latin typeface="Arial"/>
                <a:ea typeface="Arial"/>
                <a:cs typeface="Arial"/>
              </a:defRPr>
            </a:pPr>
            <a:r>
              <a:rPr sz="3450" b="1">
                <a:solidFill>
                  <a:srgbClr val="F5F7F8"/>
                </a:solidFill>
                <a:latin typeface="Arial"/>
                <a:ea typeface="Arial"/>
                <a:cs typeface="Arial"/>
              </a:rPr>
              <a:t>The working dashboard</a:t>
            </a:r>
          </a:p>
        </p:txBody>
      </p:sp>
      <p:sp>
        <p:nvSpPr>
          <p:cNvPr id="2" name="">
            <a:extLst xmlns:a="http://schemas.openxmlformats.org/drawingml/2006/main">
              <a:ext uri="{FF2B5EF4-FFF2-40B4-BE49-F238E27FC236}">
                <a16:creationId xmlns:a16="http://schemas.microsoft.com/office/drawing/2014/main" id="{482CF60D-CC9A-480E-BAE9-0671E2FEE27D}"/>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7E2D0"/>
                </a:solidFill>
                <a:latin typeface="Arial"/>
                <a:ea typeface="Arial"/>
                <a:cs typeface="Arial"/>
              </a:defRPr>
            </a:defPPr>
            <a:lvl1pPr>
              <a:defRPr sz="1200" b="1">
                <a:solidFill>
                  <a:srgbClr val="67E2D0"/>
                </a:solidFill>
                <a:latin typeface="Arial"/>
                <a:ea typeface="Arial"/>
                <a:cs typeface="Arial"/>
              </a:defRPr>
            </a:lvl1pPr>
            <a:lvl2pPr>
              <a:defRPr sz="1200" b="1">
                <a:solidFill>
                  <a:srgbClr val="67E2D0"/>
                </a:solidFill>
                <a:latin typeface="Arial"/>
                <a:ea typeface="Arial"/>
                <a:cs typeface="Arial"/>
              </a:defRPr>
            </a:lvl2pPr>
            <a:lvl3pPr>
              <a:defRPr sz="1200" b="1">
                <a:solidFill>
                  <a:srgbClr val="67E2D0"/>
                </a:solidFill>
                <a:latin typeface="Arial"/>
                <a:ea typeface="Arial"/>
                <a:cs typeface="Arial"/>
              </a:defRPr>
            </a:lvl3pPr>
            <a:lvl4pPr>
              <a:defRPr sz="1200" b="1">
                <a:solidFill>
                  <a:srgbClr val="67E2D0"/>
                </a:solidFill>
                <a:latin typeface="Arial"/>
                <a:ea typeface="Arial"/>
                <a:cs typeface="Arial"/>
              </a:defRPr>
            </a:lvl4pPr>
            <a:lvl5pPr>
              <a:defRPr sz="1200" b="1">
                <a:solidFill>
                  <a:srgbClr val="67E2D0"/>
                </a:solidFill>
                <a:latin typeface="Arial"/>
                <a:ea typeface="Arial"/>
                <a:cs typeface="Arial"/>
              </a:defRPr>
            </a:lvl5pPr>
            <a:lvl6pPr>
              <a:defRPr sz="1200" b="1">
                <a:solidFill>
                  <a:srgbClr val="67E2D0"/>
                </a:solidFill>
                <a:latin typeface="Arial"/>
                <a:ea typeface="Arial"/>
                <a:cs typeface="Arial"/>
              </a:defRPr>
            </a:lvl6pPr>
            <a:lvl7pPr>
              <a:defRPr sz="1200" b="1">
                <a:solidFill>
                  <a:srgbClr val="67E2D0"/>
                </a:solidFill>
                <a:latin typeface="Arial"/>
                <a:ea typeface="Arial"/>
                <a:cs typeface="Arial"/>
              </a:defRPr>
            </a:lvl7pPr>
            <a:lvl8pPr>
              <a:defRPr sz="1200" b="1">
                <a:solidFill>
                  <a:srgbClr val="67E2D0"/>
                </a:solidFill>
                <a:latin typeface="Arial"/>
                <a:ea typeface="Arial"/>
                <a:cs typeface="Arial"/>
              </a:defRPr>
            </a:lvl8pPr>
            <a:lvl9pPr>
              <a:defRPr sz="1200" b="1">
                <a:solidFill>
                  <a:srgbClr val="67E2D0"/>
                </a:solidFill>
                <a:latin typeface="Arial"/>
                <a:ea typeface="Arial"/>
                <a:cs typeface="Arial"/>
              </a:defRPr>
            </a:lvl9pPr>
          </a:lstStyle>
          <a:p xmlns:a="http://schemas.openxmlformats.org/drawingml/2006/main">
            <a:pPr>
              <a:defRPr sz="1200" b="1">
                <a:solidFill>
                  <a:srgbClr val="67E2D0"/>
                </a:solidFill>
                <a:latin typeface="Arial"/>
                <a:ea typeface="Arial"/>
                <a:cs typeface="Arial"/>
              </a:defRPr>
            </a:pPr>
            <a:r>
              <a:rPr sz="1200" b="1">
                <a:solidFill>
                  <a:srgbClr val="67E2D0"/>
                </a:solidFill>
                <a:latin typeface="Arial"/>
                <a:ea typeface="Arial"/>
                <a:cs typeface="Arial"/>
              </a:rPr>
              <a:t>ACTUAL PROTOTYPE SCREENSHOT</a:t>
            </a:r>
          </a:p>
        </p:txBody>
      </p:sp>
      <p:sp>
        <p:nvSpPr>
          <p:cNvPr id="3" name="">
            <a:extLst xmlns:a="http://schemas.openxmlformats.org/drawingml/2006/main">
              <a:ext uri="{FF2B5EF4-FFF2-40B4-BE49-F238E27FC236}">
                <a16:creationId xmlns:a16="http://schemas.microsoft.com/office/drawing/2014/main" id="{AAA0A0B9-4008-4DF1-8AFA-05BCB342B01D}"/>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5A850041-E355-4827-9975-1039D1E9F831}"/>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Recorded-data replay with incremental inference. Screen captured from the local application.</a:t>
            </a:r>
          </a:p>
        </p:txBody>
      </p:sp>
      <p:pic>
        <p:nvPicPr>
          <p:cNvPr id="5" name="">
            <a:extLst xmlns:a="http://schemas.openxmlformats.org/drawingml/2006/main">
              <a:ext uri="{FF2B5EF4-FFF2-40B4-BE49-F238E27FC236}">
                <a16:creationId xmlns:a16="http://schemas.microsoft.com/office/drawing/2014/main" id="{15049AAB-C620-4127-B4A9-64A27AAD2A1D}"/>
              </a:ext>
            </a:extLst>
          </p:cNvPr>
          <p:cNvPicPr>
            <a:picLocks xmlns:a="http://schemas.openxmlformats.org/drawingml/2006/main" noChangeAspect="1"/>
          </p:cNvPicPr>
          <p:nvPr/>
        </p:nvPicPr>
        <p:blipFill>
          <a:blip xmlns:r="http://schemas.openxmlformats.org/officeDocument/2006/relationships" xmlns:a="http://schemas.openxmlformats.org/drawingml/2006/main" r:embed="Ra37987627fb54ac5"/>
          <a:stretch xmlns:a="http://schemas.openxmlformats.org/drawingml/2006/main"/>
        </p:blipFill>
        <p:spPr>
          <a:xfrm xmlns:a="http://schemas.openxmlformats.org/drawingml/2006/main">
            <a:off x="619125" y="1710441"/>
            <a:ext cx="10953750" cy="4294368"/>
          </a:xfrm>
          <a:prstGeom xmlns:a="http://schemas.openxmlformats.org/drawingml/2006/main" prst="rect">
            <a:avLst/>
          </a:prstGeom>
        </p:spPr>
      </p:pic>
    </p:spTree>
    <p:extLst>
      <p:ext uri="{BB962C8B-B14F-4D97-AF65-F5344CB8AC3E}">
        <p14:creationId xmlns:p14="http://schemas.microsoft.com/office/powerpoint/2010/main" val="1721170541"/>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71911E-15F3-4C56-8F2D-7BA08CB2FE55}"/>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5F7F8"/>
                </a:solidFill>
                <a:latin typeface="Arial"/>
                <a:ea typeface="Arial"/>
                <a:cs typeface="Arial"/>
              </a:defRPr>
            </a:defPPr>
            <a:lvl1pPr>
              <a:defRPr sz="3450" b="1">
                <a:solidFill>
                  <a:srgbClr val="F5F7F8"/>
                </a:solidFill>
                <a:latin typeface="Arial"/>
                <a:ea typeface="Arial"/>
                <a:cs typeface="Arial"/>
              </a:defRPr>
            </a:lvl1pPr>
            <a:lvl2pPr>
              <a:defRPr sz="3450" b="1">
                <a:solidFill>
                  <a:srgbClr val="F5F7F8"/>
                </a:solidFill>
                <a:latin typeface="Arial"/>
                <a:ea typeface="Arial"/>
                <a:cs typeface="Arial"/>
              </a:defRPr>
            </a:lvl2pPr>
            <a:lvl3pPr>
              <a:defRPr sz="3450" b="1">
                <a:solidFill>
                  <a:srgbClr val="F5F7F8"/>
                </a:solidFill>
                <a:latin typeface="Arial"/>
                <a:ea typeface="Arial"/>
                <a:cs typeface="Arial"/>
              </a:defRPr>
            </a:lvl3pPr>
            <a:lvl4pPr>
              <a:defRPr sz="3450" b="1">
                <a:solidFill>
                  <a:srgbClr val="F5F7F8"/>
                </a:solidFill>
                <a:latin typeface="Arial"/>
                <a:ea typeface="Arial"/>
                <a:cs typeface="Arial"/>
              </a:defRPr>
            </a:lvl4pPr>
            <a:lvl5pPr>
              <a:defRPr sz="3450" b="1">
                <a:solidFill>
                  <a:srgbClr val="F5F7F8"/>
                </a:solidFill>
                <a:latin typeface="Arial"/>
                <a:ea typeface="Arial"/>
                <a:cs typeface="Arial"/>
              </a:defRPr>
            </a:lvl5pPr>
            <a:lvl6pPr>
              <a:defRPr sz="3450" b="1">
                <a:solidFill>
                  <a:srgbClr val="F5F7F8"/>
                </a:solidFill>
                <a:latin typeface="Arial"/>
                <a:ea typeface="Arial"/>
                <a:cs typeface="Arial"/>
              </a:defRPr>
            </a:lvl6pPr>
            <a:lvl7pPr>
              <a:defRPr sz="3450" b="1">
                <a:solidFill>
                  <a:srgbClr val="F5F7F8"/>
                </a:solidFill>
                <a:latin typeface="Arial"/>
                <a:ea typeface="Arial"/>
                <a:cs typeface="Arial"/>
              </a:defRPr>
            </a:lvl7pPr>
            <a:lvl8pPr>
              <a:defRPr sz="3450" b="1">
                <a:solidFill>
                  <a:srgbClr val="F5F7F8"/>
                </a:solidFill>
                <a:latin typeface="Arial"/>
                <a:ea typeface="Arial"/>
                <a:cs typeface="Arial"/>
              </a:defRPr>
            </a:lvl8pPr>
            <a:lvl9pPr>
              <a:defRPr sz="3450" b="1">
                <a:solidFill>
                  <a:srgbClr val="F5F7F8"/>
                </a:solidFill>
                <a:latin typeface="Arial"/>
                <a:ea typeface="Arial"/>
                <a:cs typeface="Arial"/>
              </a:defRPr>
            </a:lvl9pPr>
          </a:lstStyle>
          <a:p xmlns:a="http://schemas.openxmlformats.org/drawingml/2006/main">
            <a:pPr>
              <a:defRPr sz="3450" b="1">
                <a:solidFill>
                  <a:srgbClr val="F5F7F8"/>
                </a:solidFill>
                <a:latin typeface="Arial"/>
                <a:ea typeface="Arial"/>
                <a:cs typeface="Arial"/>
              </a:defRPr>
            </a:pPr>
            <a:r>
              <a:rPr sz="3450" b="1">
                <a:solidFill>
                  <a:srgbClr val="F5F7F8"/>
                </a:solidFill>
                <a:latin typeface="Arial"/>
                <a:ea typeface="Arial"/>
                <a:cs typeface="Arial"/>
              </a:rPr>
              <a:t>One forecast, checked against later readings</a:t>
            </a:r>
          </a:p>
        </p:txBody>
      </p:sp>
      <p:sp>
        <p:nvSpPr>
          <p:cNvPr id="2" name="">
            <a:extLst xmlns:a="http://schemas.openxmlformats.org/drawingml/2006/main">
              <a:ext uri="{FF2B5EF4-FFF2-40B4-BE49-F238E27FC236}">
                <a16:creationId xmlns:a16="http://schemas.microsoft.com/office/drawing/2014/main" id="{DF62ED24-FC41-4444-A39C-0BC8EF25720D}"/>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7E2D0"/>
                </a:solidFill>
                <a:latin typeface="Arial"/>
                <a:ea typeface="Arial"/>
                <a:cs typeface="Arial"/>
              </a:defRPr>
            </a:defPPr>
            <a:lvl1pPr>
              <a:defRPr sz="1200" b="1">
                <a:solidFill>
                  <a:srgbClr val="67E2D0"/>
                </a:solidFill>
                <a:latin typeface="Arial"/>
                <a:ea typeface="Arial"/>
                <a:cs typeface="Arial"/>
              </a:defRPr>
            </a:lvl1pPr>
            <a:lvl2pPr>
              <a:defRPr sz="1200" b="1">
                <a:solidFill>
                  <a:srgbClr val="67E2D0"/>
                </a:solidFill>
                <a:latin typeface="Arial"/>
                <a:ea typeface="Arial"/>
                <a:cs typeface="Arial"/>
              </a:defRPr>
            </a:lvl2pPr>
            <a:lvl3pPr>
              <a:defRPr sz="1200" b="1">
                <a:solidFill>
                  <a:srgbClr val="67E2D0"/>
                </a:solidFill>
                <a:latin typeface="Arial"/>
                <a:ea typeface="Arial"/>
                <a:cs typeface="Arial"/>
              </a:defRPr>
            </a:lvl3pPr>
            <a:lvl4pPr>
              <a:defRPr sz="1200" b="1">
                <a:solidFill>
                  <a:srgbClr val="67E2D0"/>
                </a:solidFill>
                <a:latin typeface="Arial"/>
                <a:ea typeface="Arial"/>
                <a:cs typeface="Arial"/>
              </a:defRPr>
            </a:lvl4pPr>
            <a:lvl5pPr>
              <a:defRPr sz="1200" b="1">
                <a:solidFill>
                  <a:srgbClr val="67E2D0"/>
                </a:solidFill>
                <a:latin typeface="Arial"/>
                <a:ea typeface="Arial"/>
                <a:cs typeface="Arial"/>
              </a:defRPr>
            </a:lvl5pPr>
            <a:lvl6pPr>
              <a:defRPr sz="1200" b="1">
                <a:solidFill>
                  <a:srgbClr val="67E2D0"/>
                </a:solidFill>
                <a:latin typeface="Arial"/>
                <a:ea typeface="Arial"/>
                <a:cs typeface="Arial"/>
              </a:defRPr>
            </a:lvl6pPr>
            <a:lvl7pPr>
              <a:defRPr sz="1200" b="1">
                <a:solidFill>
                  <a:srgbClr val="67E2D0"/>
                </a:solidFill>
                <a:latin typeface="Arial"/>
                <a:ea typeface="Arial"/>
                <a:cs typeface="Arial"/>
              </a:defRPr>
            </a:lvl7pPr>
            <a:lvl8pPr>
              <a:defRPr sz="1200" b="1">
                <a:solidFill>
                  <a:srgbClr val="67E2D0"/>
                </a:solidFill>
                <a:latin typeface="Arial"/>
                <a:ea typeface="Arial"/>
                <a:cs typeface="Arial"/>
              </a:defRPr>
            </a:lvl8pPr>
            <a:lvl9pPr>
              <a:defRPr sz="1200" b="1">
                <a:solidFill>
                  <a:srgbClr val="67E2D0"/>
                </a:solidFill>
                <a:latin typeface="Arial"/>
                <a:ea typeface="Arial"/>
                <a:cs typeface="Arial"/>
              </a:defRPr>
            </a:lvl9pPr>
          </a:lstStyle>
          <a:p xmlns:a="http://schemas.openxmlformats.org/drawingml/2006/main">
            <a:pPr>
              <a:defRPr sz="1200" b="1">
                <a:solidFill>
                  <a:srgbClr val="67E2D0"/>
                </a:solidFill>
                <a:latin typeface="Arial"/>
                <a:ea typeface="Arial"/>
                <a:cs typeface="Arial"/>
              </a:defRPr>
            </a:pPr>
            <a:r>
              <a:rPr sz="1200" b="1">
                <a:solidFill>
                  <a:srgbClr val="67E2D0"/>
                </a:solidFill>
                <a:latin typeface="Arial"/>
                <a:ea typeface="Arial"/>
                <a:cs typeface="Arial"/>
              </a:rPr>
              <a:t>ACTUAL RECORDED EXAMPLE</a:t>
            </a:r>
          </a:p>
        </p:txBody>
      </p:sp>
      <p:sp>
        <p:nvSpPr>
          <p:cNvPr id="3" name="">
            <a:extLst xmlns:a="http://schemas.openxmlformats.org/drawingml/2006/main">
              <a:ext uri="{FF2B5EF4-FFF2-40B4-BE49-F238E27FC236}">
                <a16:creationId xmlns:a16="http://schemas.microsoft.com/office/drawing/2014/main" id="{07A83C24-A460-4B57-9011-6DF52727C134}"/>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9C95C14A-EBB1-437C-A08D-B4BF541FF4F2}"/>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P042, 26 Jul 2025, 19:15. Shifted research date. Scenario selection uses known outcomes.</a:t>
            </a:r>
          </a:p>
        </p:txBody>
      </p:sp>
      <p:pic>
        <p:nvPicPr>
          <p:cNvPr id="5" name="">
            <a:extLst xmlns:a="http://schemas.openxmlformats.org/drawingml/2006/main">
              <a:ext uri="{FF2B5EF4-FFF2-40B4-BE49-F238E27FC236}">
                <a16:creationId xmlns:a16="http://schemas.microsoft.com/office/drawing/2014/main" id="{2205D051-810C-4507-B803-4CB8FEB3A9FC}"/>
              </a:ext>
            </a:extLst>
          </p:cNvPr>
          <p:cNvPicPr>
            <a:picLocks xmlns:a="http://schemas.openxmlformats.org/drawingml/2006/main" noChangeAspect="1"/>
          </p:cNvPicPr>
          <p:nvPr/>
        </p:nvPicPr>
        <p:blipFill>
          <a:blip xmlns:r="http://schemas.openxmlformats.org/officeDocument/2006/relationships" xmlns:a="http://schemas.openxmlformats.org/drawingml/2006/main" r:embed="R5b0aef9575534137"/>
          <a:stretch xmlns:a="http://schemas.openxmlformats.org/drawingml/2006/main"/>
        </p:blipFill>
        <p:spPr>
          <a:xfrm xmlns:a="http://schemas.openxmlformats.org/drawingml/2006/main">
            <a:off x="1871870" y="1714500"/>
            <a:ext cx="8448261" cy="4286250"/>
          </a:xfrm>
          <a:prstGeom xmlns:a="http://schemas.openxmlformats.org/drawingml/2006/main" prst="rect">
            <a:avLst/>
          </a:prstGeom>
        </p:spPr>
      </p:pic>
    </p:spTree>
    <p:extLst>
      <p:ext uri="{BB962C8B-B14F-4D97-AF65-F5344CB8AC3E}">
        <p14:creationId xmlns:p14="http://schemas.microsoft.com/office/powerpoint/2010/main" val="245200709"/>
      </p:ext>
    </p:extLst>
  </p:cSld>
</p:sld>
</file>

<file path=ppt/slides/slide8.xml><?xml version="1.0" encoding="utf-8"?>
<p:sld xmlns:p="http://schemas.openxmlformats.org/presentationml/2006/main">
  <p:cSld>
    <p:bg>
      <p:bgPr>
        <a:solidFill xmlns:a="http://schemas.openxmlformats.org/drawingml/2006/main">
          <a:srgbClr val="F2F3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9DC525-BC15-4BE7-BDD3-AA3830AA30EC}"/>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E3B"/>
                </a:solidFill>
                <a:latin typeface="Arial"/>
                <a:ea typeface="Arial"/>
                <a:cs typeface="Arial"/>
              </a:defRPr>
            </a:defPPr>
            <a:lvl1pPr>
              <a:defRPr sz="3450" b="1">
                <a:solidFill>
                  <a:srgbClr val="132E3B"/>
                </a:solidFill>
                <a:latin typeface="Arial"/>
                <a:ea typeface="Arial"/>
                <a:cs typeface="Arial"/>
              </a:defRPr>
            </a:lvl1pPr>
            <a:lvl2pPr>
              <a:defRPr sz="3450" b="1">
                <a:solidFill>
                  <a:srgbClr val="132E3B"/>
                </a:solidFill>
                <a:latin typeface="Arial"/>
                <a:ea typeface="Arial"/>
                <a:cs typeface="Arial"/>
              </a:defRPr>
            </a:lvl2pPr>
            <a:lvl3pPr>
              <a:defRPr sz="3450" b="1">
                <a:solidFill>
                  <a:srgbClr val="132E3B"/>
                </a:solidFill>
                <a:latin typeface="Arial"/>
                <a:ea typeface="Arial"/>
                <a:cs typeface="Arial"/>
              </a:defRPr>
            </a:lvl3pPr>
            <a:lvl4pPr>
              <a:defRPr sz="3450" b="1">
                <a:solidFill>
                  <a:srgbClr val="132E3B"/>
                </a:solidFill>
                <a:latin typeface="Arial"/>
                <a:ea typeface="Arial"/>
                <a:cs typeface="Arial"/>
              </a:defRPr>
            </a:lvl4pPr>
            <a:lvl5pPr>
              <a:defRPr sz="3450" b="1">
                <a:solidFill>
                  <a:srgbClr val="132E3B"/>
                </a:solidFill>
                <a:latin typeface="Arial"/>
                <a:ea typeface="Arial"/>
                <a:cs typeface="Arial"/>
              </a:defRPr>
            </a:lvl5pPr>
            <a:lvl6pPr>
              <a:defRPr sz="3450" b="1">
                <a:solidFill>
                  <a:srgbClr val="132E3B"/>
                </a:solidFill>
                <a:latin typeface="Arial"/>
                <a:ea typeface="Arial"/>
                <a:cs typeface="Arial"/>
              </a:defRPr>
            </a:lvl6pPr>
            <a:lvl7pPr>
              <a:defRPr sz="3450" b="1">
                <a:solidFill>
                  <a:srgbClr val="132E3B"/>
                </a:solidFill>
                <a:latin typeface="Arial"/>
                <a:ea typeface="Arial"/>
                <a:cs typeface="Arial"/>
              </a:defRPr>
            </a:lvl7pPr>
            <a:lvl8pPr>
              <a:defRPr sz="3450" b="1">
                <a:solidFill>
                  <a:srgbClr val="132E3B"/>
                </a:solidFill>
                <a:latin typeface="Arial"/>
                <a:ea typeface="Arial"/>
                <a:cs typeface="Arial"/>
              </a:defRPr>
            </a:lvl8pPr>
            <a:lvl9pPr>
              <a:defRPr sz="3450" b="1">
                <a:solidFill>
                  <a:srgbClr val="132E3B"/>
                </a:solidFill>
                <a:latin typeface="Arial"/>
                <a:ea typeface="Arial"/>
                <a:cs typeface="Arial"/>
              </a:defRPr>
            </a:lvl9pPr>
          </a:lstStyle>
          <a:p xmlns:a="http://schemas.openxmlformats.org/drawingml/2006/main">
            <a:pPr>
              <a:defRPr sz="3450" b="1">
                <a:solidFill>
                  <a:srgbClr val="132E3B"/>
                </a:solidFill>
                <a:latin typeface="Arial"/>
                <a:ea typeface="Arial"/>
                <a:cs typeface="Arial"/>
              </a:defRPr>
            </a:pPr>
            <a:r>
              <a:rPr sz="3450" b="1">
                <a:solidFill>
                  <a:srgbClr val="132E3B"/>
                </a:solidFill>
                <a:latin typeface="Arial"/>
                <a:ea typeface="Arial"/>
                <a:cs typeface="Arial"/>
              </a:rPr>
              <a:t>We kept participants separate</a:t>
            </a:r>
          </a:p>
        </p:txBody>
      </p:sp>
      <p:sp>
        <p:nvSpPr>
          <p:cNvPr id="2" name="">
            <a:extLst xmlns:a="http://schemas.openxmlformats.org/drawingml/2006/main">
              <a:ext uri="{FF2B5EF4-FFF2-40B4-BE49-F238E27FC236}">
                <a16:creationId xmlns:a16="http://schemas.microsoft.com/office/drawing/2014/main" id="{5A4ADFF9-BB3D-4A35-93A9-FC5EE639921A}"/>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087E80"/>
                </a:solidFill>
                <a:latin typeface="Arial"/>
                <a:ea typeface="Arial"/>
                <a:cs typeface="Arial"/>
              </a:defRPr>
            </a:defPPr>
            <a:lvl1pPr>
              <a:defRPr sz="1200" b="1">
                <a:solidFill>
                  <a:srgbClr val="087E80"/>
                </a:solidFill>
                <a:latin typeface="Arial"/>
                <a:ea typeface="Arial"/>
                <a:cs typeface="Arial"/>
              </a:defRPr>
            </a:lvl1pPr>
            <a:lvl2pPr>
              <a:defRPr sz="1200" b="1">
                <a:solidFill>
                  <a:srgbClr val="087E80"/>
                </a:solidFill>
                <a:latin typeface="Arial"/>
                <a:ea typeface="Arial"/>
                <a:cs typeface="Arial"/>
              </a:defRPr>
            </a:lvl2pPr>
            <a:lvl3pPr>
              <a:defRPr sz="1200" b="1">
                <a:solidFill>
                  <a:srgbClr val="087E80"/>
                </a:solidFill>
                <a:latin typeface="Arial"/>
                <a:ea typeface="Arial"/>
                <a:cs typeface="Arial"/>
              </a:defRPr>
            </a:lvl3pPr>
            <a:lvl4pPr>
              <a:defRPr sz="1200" b="1">
                <a:solidFill>
                  <a:srgbClr val="087E80"/>
                </a:solidFill>
                <a:latin typeface="Arial"/>
                <a:ea typeface="Arial"/>
                <a:cs typeface="Arial"/>
              </a:defRPr>
            </a:lvl4pPr>
            <a:lvl5pPr>
              <a:defRPr sz="1200" b="1">
                <a:solidFill>
                  <a:srgbClr val="087E80"/>
                </a:solidFill>
                <a:latin typeface="Arial"/>
                <a:ea typeface="Arial"/>
                <a:cs typeface="Arial"/>
              </a:defRPr>
            </a:lvl5pPr>
            <a:lvl6pPr>
              <a:defRPr sz="1200" b="1">
                <a:solidFill>
                  <a:srgbClr val="087E80"/>
                </a:solidFill>
                <a:latin typeface="Arial"/>
                <a:ea typeface="Arial"/>
                <a:cs typeface="Arial"/>
              </a:defRPr>
            </a:lvl6pPr>
            <a:lvl7pPr>
              <a:defRPr sz="1200" b="1">
                <a:solidFill>
                  <a:srgbClr val="087E80"/>
                </a:solidFill>
                <a:latin typeface="Arial"/>
                <a:ea typeface="Arial"/>
                <a:cs typeface="Arial"/>
              </a:defRPr>
            </a:lvl7pPr>
            <a:lvl8pPr>
              <a:defRPr sz="1200" b="1">
                <a:solidFill>
                  <a:srgbClr val="087E80"/>
                </a:solidFill>
                <a:latin typeface="Arial"/>
                <a:ea typeface="Arial"/>
                <a:cs typeface="Arial"/>
              </a:defRPr>
            </a:lvl8pPr>
            <a:lvl9pPr>
              <a:defRPr sz="1200" b="1">
                <a:solidFill>
                  <a:srgbClr val="087E80"/>
                </a:solidFill>
                <a:latin typeface="Arial"/>
                <a:ea typeface="Arial"/>
                <a:cs typeface="Arial"/>
              </a:defRPr>
            </a:lvl9pPr>
          </a:lstStyle>
          <a:p xmlns:a="http://schemas.openxmlformats.org/drawingml/2006/main">
            <a:pPr>
              <a:defRPr sz="1200" b="1">
                <a:solidFill>
                  <a:srgbClr val="087E80"/>
                </a:solidFill>
                <a:latin typeface="Arial"/>
                <a:ea typeface="Arial"/>
                <a:cs typeface="Arial"/>
              </a:defRPr>
            </a:pPr>
            <a:r>
              <a:rPr sz="1200" b="1">
                <a:solidFill>
                  <a:srgbClr val="087E80"/>
                </a:solidFill>
                <a:latin typeface="Arial"/>
                <a:ea typeface="Arial"/>
                <a:cs typeface="Arial"/>
              </a:rPr>
              <a:t>EVALUATION DESIGN</a:t>
            </a:r>
          </a:p>
        </p:txBody>
      </p:sp>
      <p:sp>
        <p:nvSpPr>
          <p:cNvPr id="3" name="">
            <a:extLst xmlns:a="http://schemas.openxmlformats.org/drawingml/2006/main">
              <a:ext uri="{FF2B5EF4-FFF2-40B4-BE49-F238E27FC236}">
                <a16:creationId xmlns:a16="http://schemas.microsoft.com/office/drawing/2014/main" id="{60E7B228-BCB5-4A9E-82DC-935C2F01AC66}"/>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A1470FB5-74BE-4BD8-9FDB-96B1CDEA82C5}"/>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Same 18,746 supported test timestamps across forecast comparisons.</a:t>
            </a:r>
          </a:p>
        </p:txBody>
      </p:sp>
      <p:sp>
        <p:nvSpPr>
          <p:cNvPr id="5" name="">
            <a:extLst xmlns:a="http://schemas.openxmlformats.org/drawingml/2006/main">
              <a:ext uri="{FF2B5EF4-FFF2-40B4-BE49-F238E27FC236}">
                <a16:creationId xmlns:a16="http://schemas.microsoft.com/office/drawing/2014/main" id="{B41266B7-B85B-4227-ACBC-00F9DE197874}"/>
              </a:ext>
            </a:extLst>
          </p:cNvPr>
          <p:cNvSpPr>
            <a:spLocks xmlns:a="http://schemas.openxmlformats.org/drawingml/2006/main" noGrp="1"/>
          </p:cNvSpPr>
          <p:nvPr/>
        </p:nvSpPr>
        <p:spPr>
          <a:xfrm xmlns:a="http://schemas.openxmlformats.org/drawingml/2006/main">
            <a:off x="647700" y="209550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087E80"/>
                </a:solidFill>
                <a:latin typeface="Arial"/>
                <a:ea typeface="Arial"/>
                <a:cs typeface="Arial"/>
              </a:defRPr>
            </a:defPPr>
            <a:lvl1pPr>
              <a:defRPr sz="7200" b="1">
                <a:solidFill>
                  <a:srgbClr val="087E80"/>
                </a:solidFill>
                <a:latin typeface="Arial"/>
                <a:ea typeface="Arial"/>
                <a:cs typeface="Arial"/>
              </a:defRPr>
            </a:lvl1pPr>
            <a:lvl2pPr>
              <a:defRPr sz="7200" b="1">
                <a:solidFill>
                  <a:srgbClr val="087E80"/>
                </a:solidFill>
                <a:latin typeface="Arial"/>
                <a:ea typeface="Arial"/>
                <a:cs typeface="Arial"/>
              </a:defRPr>
            </a:lvl2pPr>
            <a:lvl3pPr>
              <a:defRPr sz="7200" b="1">
                <a:solidFill>
                  <a:srgbClr val="087E80"/>
                </a:solidFill>
                <a:latin typeface="Arial"/>
                <a:ea typeface="Arial"/>
                <a:cs typeface="Arial"/>
              </a:defRPr>
            </a:lvl3pPr>
            <a:lvl4pPr>
              <a:defRPr sz="7200" b="1">
                <a:solidFill>
                  <a:srgbClr val="087E80"/>
                </a:solidFill>
                <a:latin typeface="Arial"/>
                <a:ea typeface="Arial"/>
                <a:cs typeface="Arial"/>
              </a:defRPr>
            </a:lvl4pPr>
            <a:lvl5pPr>
              <a:defRPr sz="7200" b="1">
                <a:solidFill>
                  <a:srgbClr val="087E80"/>
                </a:solidFill>
                <a:latin typeface="Arial"/>
                <a:ea typeface="Arial"/>
                <a:cs typeface="Arial"/>
              </a:defRPr>
            </a:lvl5pPr>
            <a:lvl6pPr>
              <a:defRPr sz="7200" b="1">
                <a:solidFill>
                  <a:srgbClr val="087E80"/>
                </a:solidFill>
                <a:latin typeface="Arial"/>
                <a:ea typeface="Arial"/>
                <a:cs typeface="Arial"/>
              </a:defRPr>
            </a:lvl6pPr>
            <a:lvl7pPr>
              <a:defRPr sz="7200" b="1">
                <a:solidFill>
                  <a:srgbClr val="087E80"/>
                </a:solidFill>
                <a:latin typeface="Arial"/>
                <a:ea typeface="Arial"/>
                <a:cs typeface="Arial"/>
              </a:defRPr>
            </a:lvl7pPr>
            <a:lvl8pPr>
              <a:defRPr sz="7200" b="1">
                <a:solidFill>
                  <a:srgbClr val="087E80"/>
                </a:solidFill>
                <a:latin typeface="Arial"/>
                <a:ea typeface="Arial"/>
                <a:cs typeface="Arial"/>
              </a:defRPr>
            </a:lvl8pPr>
            <a:lvl9pPr>
              <a:defRPr sz="7200" b="1">
                <a:solidFill>
                  <a:srgbClr val="087E80"/>
                </a:solidFill>
                <a:latin typeface="Arial"/>
                <a:ea typeface="Arial"/>
                <a:cs typeface="Arial"/>
              </a:defRPr>
            </a:lvl9pPr>
          </a:lstStyle>
          <a:p xmlns:a="http://schemas.openxmlformats.org/drawingml/2006/main">
            <a:pPr>
              <a:defRPr sz="7200" b="1">
                <a:solidFill>
                  <a:srgbClr val="087E80"/>
                </a:solidFill>
                <a:latin typeface="Arial"/>
                <a:ea typeface="Arial"/>
                <a:cs typeface="Arial"/>
              </a:defRPr>
            </a:pPr>
            <a:r>
              <a:rPr sz="7200" b="1">
                <a:solidFill>
                  <a:srgbClr val="087E80"/>
                </a:solidFill>
                <a:latin typeface="Arial"/>
                <a:ea typeface="Arial"/>
                <a:cs typeface="Arial"/>
              </a:rPr>
              <a:t>27</a:t>
            </a:r>
          </a:p>
        </p:txBody>
      </p:sp>
      <p:sp>
        <p:nvSpPr>
          <p:cNvPr id="6" name="">
            <a:extLst xmlns:a="http://schemas.openxmlformats.org/drawingml/2006/main">
              <a:ext uri="{FF2B5EF4-FFF2-40B4-BE49-F238E27FC236}">
                <a16:creationId xmlns:a16="http://schemas.microsoft.com/office/drawing/2014/main" id="{A72F82C9-DB52-4651-B539-76E5B7625E7A}"/>
              </a:ext>
            </a:extLst>
          </p:cNvPr>
          <p:cNvSpPr>
            <a:spLocks xmlns:a="http://schemas.openxmlformats.org/drawingml/2006/main" noGrp="1"/>
          </p:cNvSpPr>
          <p:nvPr/>
        </p:nvSpPr>
        <p:spPr>
          <a:xfrm xmlns:a="http://schemas.openxmlformats.org/drawingml/2006/main">
            <a:off x="647700" y="3238500"/>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32E3B"/>
                </a:solidFill>
                <a:latin typeface="Arial"/>
                <a:ea typeface="Arial"/>
                <a:cs typeface="Arial"/>
              </a:defRPr>
            </a:defPPr>
            <a:lvl1pPr>
              <a:defRPr sz="1875" b="0">
                <a:solidFill>
                  <a:srgbClr val="132E3B"/>
                </a:solidFill>
                <a:latin typeface="Arial"/>
                <a:ea typeface="Arial"/>
                <a:cs typeface="Arial"/>
              </a:defRPr>
            </a:lvl1pPr>
            <a:lvl2pPr>
              <a:defRPr sz="1875" b="0">
                <a:solidFill>
                  <a:srgbClr val="132E3B"/>
                </a:solidFill>
                <a:latin typeface="Arial"/>
                <a:ea typeface="Arial"/>
                <a:cs typeface="Arial"/>
              </a:defRPr>
            </a:lvl2pPr>
            <a:lvl3pPr>
              <a:defRPr sz="1875" b="0">
                <a:solidFill>
                  <a:srgbClr val="132E3B"/>
                </a:solidFill>
                <a:latin typeface="Arial"/>
                <a:ea typeface="Arial"/>
                <a:cs typeface="Arial"/>
              </a:defRPr>
            </a:lvl3pPr>
            <a:lvl4pPr>
              <a:defRPr sz="1875" b="0">
                <a:solidFill>
                  <a:srgbClr val="132E3B"/>
                </a:solidFill>
                <a:latin typeface="Arial"/>
                <a:ea typeface="Arial"/>
                <a:cs typeface="Arial"/>
              </a:defRPr>
            </a:lvl4pPr>
            <a:lvl5pPr>
              <a:defRPr sz="1875" b="0">
                <a:solidFill>
                  <a:srgbClr val="132E3B"/>
                </a:solidFill>
                <a:latin typeface="Arial"/>
                <a:ea typeface="Arial"/>
                <a:cs typeface="Arial"/>
              </a:defRPr>
            </a:lvl5pPr>
            <a:lvl6pPr>
              <a:defRPr sz="1875" b="0">
                <a:solidFill>
                  <a:srgbClr val="132E3B"/>
                </a:solidFill>
                <a:latin typeface="Arial"/>
                <a:ea typeface="Arial"/>
                <a:cs typeface="Arial"/>
              </a:defRPr>
            </a:lvl6pPr>
            <a:lvl7pPr>
              <a:defRPr sz="1875" b="0">
                <a:solidFill>
                  <a:srgbClr val="132E3B"/>
                </a:solidFill>
                <a:latin typeface="Arial"/>
                <a:ea typeface="Arial"/>
                <a:cs typeface="Arial"/>
              </a:defRPr>
            </a:lvl7pPr>
            <a:lvl8pPr>
              <a:defRPr sz="1875" b="0">
                <a:solidFill>
                  <a:srgbClr val="132E3B"/>
                </a:solidFill>
                <a:latin typeface="Arial"/>
                <a:ea typeface="Arial"/>
                <a:cs typeface="Arial"/>
              </a:defRPr>
            </a:lvl8pPr>
            <a:lvl9pPr>
              <a:defRPr sz="1875" b="0">
                <a:solidFill>
                  <a:srgbClr val="132E3B"/>
                </a:solidFill>
                <a:latin typeface="Arial"/>
                <a:ea typeface="Arial"/>
                <a:cs typeface="Arial"/>
              </a:defRPr>
            </a:lvl9pPr>
          </a:lstStyle>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participants for training</a:t>
            </a:r>
          </a:p>
        </p:txBody>
      </p:sp>
      <p:sp>
        <p:nvSpPr>
          <p:cNvPr id="7" name="">
            <a:extLst xmlns:a="http://schemas.openxmlformats.org/drawingml/2006/main">
              <a:ext uri="{FF2B5EF4-FFF2-40B4-BE49-F238E27FC236}">
                <a16:creationId xmlns:a16="http://schemas.microsoft.com/office/drawing/2014/main" id="{38B1A092-20E4-447C-A2FB-229B6B06202E}"/>
              </a:ext>
            </a:extLst>
          </p:cNvPr>
          <p:cNvSpPr>
            <a:spLocks xmlns:a="http://schemas.openxmlformats.org/drawingml/2006/main" noGrp="1"/>
          </p:cNvSpPr>
          <p:nvPr/>
        </p:nvSpPr>
        <p:spPr>
          <a:xfrm xmlns:a="http://schemas.openxmlformats.org/drawingml/2006/main">
            <a:off x="4667250" y="2095500"/>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087E80"/>
                </a:solidFill>
                <a:latin typeface="Arial"/>
                <a:ea typeface="Arial"/>
                <a:cs typeface="Arial"/>
              </a:defRPr>
            </a:defPPr>
            <a:lvl1pPr>
              <a:defRPr sz="7200" b="1">
                <a:solidFill>
                  <a:srgbClr val="087E80"/>
                </a:solidFill>
                <a:latin typeface="Arial"/>
                <a:ea typeface="Arial"/>
                <a:cs typeface="Arial"/>
              </a:defRPr>
            </a:lvl1pPr>
            <a:lvl2pPr>
              <a:defRPr sz="7200" b="1">
                <a:solidFill>
                  <a:srgbClr val="087E80"/>
                </a:solidFill>
                <a:latin typeface="Arial"/>
                <a:ea typeface="Arial"/>
                <a:cs typeface="Arial"/>
              </a:defRPr>
            </a:lvl2pPr>
            <a:lvl3pPr>
              <a:defRPr sz="7200" b="1">
                <a:solidFill>
                  <a:srgbClr val="087E80"/>
                </a:solidFill>
                <a:latin typeface="Arial"/>
                <a:ea typeface="Arial"/>
                <a:cs typeface="Arial"/>
              </a:defRPr>
            </a:lvl3pPr>
            <a:lvl4pPr>
              <a:defRPr sz="7200" b="1">
                <a:solidFill>
                  <a:srgbClr val="087E80"/>
                </a:solidFill>
                <a:latin typeface="Arial"/>
                <a:ea typeface="Arial"/>
                <a:cs typeface="Arial"/>
              </a:defRPr>
            </a:lvl4pPr>
            <a:lvl5pPr>
              <a:defRPr sz="7200" b="1">
                <a:solidFill>
                  <a:srgbClr val="087E80"/>
                </a:solidFill>
                <a:latin typeface="Arial"/>
                <a:ea typeface="Arial"/>
                <a:cs typeface="Arial"/>
              </a:defRPr>
            </a:lvl5pPr>
            <a:lvl6pPr>
              <a:defRPr sz="7200" b="1">
                <a:solidFill>
                  <a:srgbClr val="087E80"/>
                </a:solidFill>
                <a:latin typeface="Arial"/>
                <a:ea typeface="Arial"/>
                <a:cs typeface="Arial"/>
              </a:defRPr>
            </a:lvl6pPr>
            <a:lvl7pPr>
              <a:defRPr sz="7200" b="1">
                <a:solidFill>
                  <a:srgbClr val="087E80"/>
                </a:solidFill>
                <a:latin typeface="Arial"/>
                <a:ea typeface="Arial"/>
                <a:cs typeface="Arial"/>
              </a:defRPr>
            </a:lvl7pPr>
            <a:lvl8pPr>
              <a:defRPr sz="7200" b="1">
                <a:solidFill>
                  <a:srgbClr val="087E80"/>
                </a:solidFill>
                <a:latin typeface="Arial"/>
                <a:ea typeface="Arial"/>
                <a:cs typeface="Arial"/>
              </a:defRPr>
            </a:lvl8pPr>
            <a:lvl9pPr>
              <a:defRPr sz="7200" b="1">
                <a:solidFill>
                  <a:srgbClr val="087E80"/>
                </a:solidFill>
                <a:latin typeface="Arial"/>
                <a:ea typeface="Arial"/>
                <a:cs typeface="Arial"/>
              </a:defRPr>
            </a:lvl9pPr>
          </a:lstStyle>
          <a:p xmlns:a="http://schemas.openxmlformats.org/drawingml/2006/main">
            <a:pPr>
              <a:defRPr sz="7200" b="1">
                <a:solidFill>
                  <a:srgbClr val="087E80"/>
                </a:solidFill>
                <a:latin typeface="Arial"/>
                <a:ea typeface="Arial"/>
                <a:cs typeface="Arial"/>
              </a:defRPr>
            </a:pPr>
            <a:r>
              <a:rPr sz="7200" b="1">
                <a:solidFill>
                  <a:srgbClr val="087E80"/>
                </a:solidFill>
                <a:latin typeface="Arial"/>
                <a:ea typeface="Arial"/>
                <a:cs typeface="Arial"/>
              </a:rPr>
              <a:t>9</a:t>
            </a:r>
          </a:p>
        </p:txBody>
      </p:sp>
      <p:sp>
        <p:nvSpPr>
          <p:cNvPr id="8" name="">
            <a:extLst xmlns:a="http://schemas.openxmlformats.org/drawingml/2006/main">
              <a:ext uri="{FF2B5EF4-FFF2-40B4-BE49-F238E27FC236}">
                <a16:creationId xmlns:a16="http://schemas.microsoft.com/office/drawing/2014/main" id="{A4366D46-540B-4AAE-BFB6-EAEF4BE0426C}"/>
              </a:ext>
            </a:extLst>
          </p:cNvPr>
          <p:cNvSpPr>
            <a:spLocks xmlns:a="http://schemas.openxmlformats.org/drawingml/2006/main" noGrp="1"/>
          </p:cNvSpPr>
          <p:nvPr/>
        </p:nvSpPr>
        <p:spPr>
          <a:xfrm xmlns:a="http://schemas.openxmlformats.org/drawingml/2006/main">
            <a:off x="4667250" y="3238500"/>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32E3B"/>
                </a:solidFill>
                <a:latin typeface="Arial"/>
                <a:ea typeface="Arial"/>
                <a:cs typeface="Arial"/>
              </a:defRPr>
            </a:defPPr>
            <a:lvl1pPr>
              <a:defRPr sz="1875" b="0">
                <a:solidFill>
                  <a:srgbClr val="132E3B"/>
                </a:solidFill>
                <a:latin typeface="Arial"/>
                <a:ea typeface="Arial"/>
                <a:cs typeface="Arial"/>
              </a:defRPr>
            </a:lvl1pPr>
            <a:lvl2pPr>
              <a:defRPr sz="1875" b="0">
                <a:solidFill>
                  <a:srgbClr val="132E3B"/>
                </a:solidFill>
                <a:latin typeface="Arial"/>
                <a:ea typeface="Arial"/>
                <a:cs typeface="Arial"/>
              </a:defRPr>
            </a:lvl2pPr>
            <a:lvl3pPr>
              <a:defRPr sz="1875" b="0">
                <a:solidFill>
                  <a:srgbClr val="132E3B"/>
                </a:solidFill>
                <a:latin typeface="Arial"/>
                <a:ea typeface="Arial"/>
                <a:cs typeface="Arial"/>
              </a:defRPr>
            </a:lvl3pPr>
            <a:lvl4pPr>
              <a:defRPr sz="1875" b="0">
                <a:solidFill>
                  <a:srgbClr val="132E3B"/>
                </a:solidFill>
                <a:latin typeface="Arial"/>
                <a:ea typeface="Arial"/>
                <a:cs typeface="Arial"/>
              </a:defRPr>
            </a:lvl4pPr>
            <a:lvl5pPr>
              <a:defRPr sz="1875" b="0">
                <a:solidFill>
                  <a:srgbClr val="132E3B"/>
                </a:solidFill>
                <a:latin typeface="Arial"/>
                <a:ea typeface="Arial"/>
                <a:cs typeface="Arial"/>
              </a:defRPr>
            </a:lvl5pPr>
            <a:lvl6pPr>
              <a:defRPr sz="1875" b="0">
                <a:solidFill>
                  <a:srgbClr val="132E3B"/>
                </a:solidFill>
                <a:latin typeface="Arial"/>
                <a:ea typeface="Arial"/>
                <a:cs typeface="Arial"/>
              </a:defRPr>
            </a:lvl6pPr>
            <a:lvl7pPr>
              <a:defRPr sz="1875" b="0">
                <a:solidFill>
                  <a:srgbClr val="132E3B"/>
                </a:solidFill>
                <a:latin typeface="Arial"/>
                <a:ea typeface="Arial"/>
                <a:cs typeface="Arial"/>
              </a:defRPr>
            </a:lvl7pPr>
            <a:lvl8pPr>
              <a:defRPr sz="1875" b="0">
                <a:solidFill>
                  <a:srgbClr val="132E3B"/>
                </a:solidFill>
                <a:latin typeface="Arial"/>
                <a:ea typeface="Arial"/>
                <a:cs typeface="Arial"/>
              </a:defRPr>
            </a:lvl8pPr>
            <a:lvl9pPr>
              <a:defRPr sz="1875" b="0">
                <a:solidFill>
                  <a:srgbClr val="132E3B"/>
                </a:solidFill>
                <a:latin typeface="Arial"/>
                <a:ea typeface="Arial"/>
                <a:cs typeface="Arial"/>
              </a:defRPr>
            </a:lvl9pPr>
          </a:lstStyle>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for validation</a:t>
            </a:r>
          </a:p>
        </p:txBody>
      </p:sp>
      <p:sp>
        <p:nvSpPr>
          <p:cNvPr id="9" name="">
            <a:extLst xmlns:a="http://schemas.openxmlformats.org/drawingml/2006/main">
              <a:ext uri="{FF2B5EF4-FFF2-40B4-BE49-F238E27FC236}">
                <a16:creationId xmlns:a16="http://schemas.microsoft.com/office/drawing/2014/main" id="{5A8C300D-6C80-4656-B2BA-3B70D5976602}"/>
              </a:ext>
            </a:extLst>
          </p:cNvPr>
          <p:cNvSpPr>
            <a:spLocks xmlns:a="http://schemas.openxmlformats.org/drawingml/2006/main" noGrp="1"/>
          </p:cNvSpPr>
          <p:nvPr/>
        </p:nvSpPr>
        <p:spPr>
          <a:xfrm xmlns:a="http://schemas.openxmlformats.org/drawingml/2006/main">
            <a:off x="8572500" y="2095500"/>
            <a:ext cx="3000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087E80"/>
                </a:solidFill>
                <a:latin typeface="Arial"/>
                <a:ea typeface="Arial"/>
                <a:cs typeface="Arial"/>
              </a:defRPr>
            </a:defPPr>
            <a:lvl1pPr>
              <a:defRPr sz="7200" b="1">
                <a:solidFill>
                  <a:srgbClr val="087E80"/>
                </a:solidFill>
                <a:latin typeface="Arial"/>
                <a:ea typeface="Arial"/>
                <a:cs typeface="Arial"/>
              </a:defRPr>
            </a:lvl1pPr>
            <a:lvl2pPr>
              <a:defRPr sz="7200" b="1">
                <a:solidFill>
                  <a:srgbClr val="087E80"/>
                </a:solidFill>
                <a:latin typeface="Arial"/>
                <a:ea typeface="Arial"/>
                <a:cs typeface="Arial"/>
              </a:defRPr>
            </a:lvl2pPr>
            <a:lvl3pPr>
              <a:defRPr sz="7200" b="1">
                <a:solidFill>
                  <a:srgbClr val="087E80"/>
                </a:solidFill>
                <a:latin typeface="Arial"/>
                <a:ea typeface="Arial"/>
                <a:cs typeface="Arial"/>
              </a:defRPr>
            </a:lvl3pPr>
            <a:lvl4pPr>
              <a:defRPr sz="7200" b="1">
                <a:solidFill>
                  <a:srgbClr val="087E80"/>
                </a:solidFill>
                <a:latin typeface="Arial"/>
                <a:ea typeface="Arial"/>
                <a:cs typeface="Arial"/>
              </a:defRPr>
            </a:lvl4pPr>
            <a:lvl5pPr>
              <a:defRPr sz="7200" b="1">
                <a:solidFill>
                  <a:srgbClr val="087E80"/>
                </a:solidFill>
                <a:latin typeface="Arial"/>
                <a:ea typeface="Arial"/>
                <a:cs typeface="Arial"/>
              </a:defRPr>
            </a:lvl5pPr>
            <a:lvl6pPr>
              <a:defRPr sz="7200" b="1">
                <a:solidFill>
                  <a:srgbClr val="087E80"/>
                </a:solidFill>
                <a:latin typeface="Arial"/>
                <a:ea typeface="Arial"/>
                <a:cs typeface="Arial"/>
              </a:defRPr>
            </a:lvl6pPr>
            <a:lvl7pPr>
              <a:defRPr sz="7200" b="1">
                <a:solidFill>
                  <a:srgbClr val="087E80"/>
                </a:solidFill>
                <a:latin typeface="Arial"/>
                <a:ea typeface="Arial"/>
                <a:cs typeface="Arial"/>
              </a:defRPr>
            </a:lvl7pPr>
            <a:lvl8pPr>
              <a:defRPr sz="7200" b="1">
                <a:solidFill>
                  <a:srgbClr val="087E80"/>
                </a:solidFill>
                <a:latin typeface="Arial"/>
                <a:ea typeface="Arial"/>
                <a:cs typeface="Arial"/>
              </a:defRPr>
            </a:lvl8pPr>
            <a:lvl9pPr>
              <a:defRPr sz="7200" b="1">
                <a:solidFill>
                  <a:srgbClr val="087E80"/>
                </a:solidFill>
                <a:latin typeface="Arial"/>
                <a:ea typeface="Arial"/>
                <a:cs typeface="Arial"/>
              </a:defRPr>
            </a:lvl9pPr>
          </a:lstStyle>
          <a:p xmlns:a="http://schemas.openxmlformats.org/drawingml/2006/main">
            <a:pPr>
              <a:defRPr sz="7200" b="1">
                <a:solidFill>
                  <a:srgbClr val="087E80"/>
                </a:solidFill>
                <a:latin typeface="Arial"/>
                <a:ea typeface="Arial"/>
                <a:cs typeface="Arial"/>
              </a:defRPr>
            </a:pPr>
            <a:r>
              <a:rPr sz="7200" b="1">
                <a:solidFill>
                  <a:srgbClr val="087E80"/>
                </a:solidFill>
                <a:latin typeface="Arial"/>
                <a:ea typeface="Arial"/>
                <a:cs typeface="Arial"/>
              </a:rPr>
              <a:t>9</a:t>
            </a:r>
          </a:p>
        </p:txBody>
      </p:sp>
      <p:sp>
        <p:nvSpPr>
          <p:cNvPr id="10" name="">
            <a:extLst xmlns:a="http://schemas.openxmlformats.org/drawingml/2006/main">
              <a:ext uri="{FF2B5EF4-FFF2-40B4-BE49-F238E27FC236}">
                <a16:creationId xmlns:a16="http://schemas.microsoft.com/office/drawing/2014/main" id="{BDD62DBC-C80F-47E5-B605-C1714D1C831E}"/>
              </a:ext>
            </a:extLst>
          </p:cNvPr>
          <p:cNvSpPr>
            <a:spLocks xmlns:a="http://schemas.openxmlformats.org/drawingml/2006/main" noGrp="1"/>
          </p:cNvSpPr>
          <p:nvPr/>
        </p:nvSpPr>
        <p:spPr>
          <a:xfrm xmlns:a="http://schemas.openxmlformats.org/drawingml/2006/main">
            <a:off x="8572500" y="3238500"/>
            <a:ext cx="3000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32E3B"/>
                </a:solidFill>
                <a:latin typeface="Arial"/>
                <a:ea typeface="Arial"/>
                <a:cs typeface="Arial"/>
              </a:defRPr>
            </a:defPPr>
            <a:lvl1pPr>
              <a:defRPr sz="1875" b="0">
                <a:solidFill>
                  <a:srgbClr val="132E3B"/>
                </a:solidFill>
                <a:latin typeface="Arial"/>
                <a:ea typeface="Arial"/>
                <a:cs typeface="Arial"/>
              </a:defRPr>
            </a:lvl1pPr>
            <a:lvl2pPr>
              <a:defRPr sz="1875" b="0">
                <a:solidFill>
                  <a:srgbClr val="132E3B"/>
                </a:solidFill>
                <a:latin typeface="Arial"/>
                <a:ea typeface="Arial"/>
                <a:cs typeface="Arial"/>
              </a:defRPr>
            </a:lvl2pPr>
            <a:lvl3pPr>
              <a:defRPr sz="1875" b="0">
                <a:solidFill>
                  <a:srgbClr val="132E3B"/>
                </a:solidFill>
                <a:latin typeface="Arial"/>
                <a:ea typeface="Arial"/>
                <a:cs typeface="Arial"/>
              </a:defRPr>
            </a:lvl3pPr>
            <a:lvl4pPr>
              <a:defRPr sz="1875" b="0">
                <a:solidFill>
                  <a:srgbClr val="132E3B"/>
                </a:solidFill>
                <a:latin typeface="Arial"/>
                <a:ea typeface="Arial"/>
                <a:cs typeface="Arial"/>
              </a:defRPr>
            </a:lvl4pPr>
            <a:lvl5pPr>
              <a:defRPr sz="1875" b="0">
                <a:solidFill>
                  <a:srgbClr val="132E3B"/>
                </a:solidFill>
                <a:latin typeface="Arial"/>
                <a:ea typeface="Arial"/>
                <a:cs typeface="Arial"/>
              </a:defRPr>
            </a:lvl5pPr>
            <a:lvl6pPr>
              <a:defRPr sz="1875" b="0">
                <a:solidFill>
                  <a:srgbClr val="132E3B"/>
                </a:solidFill>
                <a:latin typeface="Arial"/>
                <a:ea typeface="Arial"/>
                <a:cs typeface="Arial"/>
              </a:defRPr>
            </a:lvl6pPr>
            <a:lvl7pPr>
              <a:defRPr sz="1875" b="0">
                <a:solidFill>
                  <a:srgbClr val="132E3B"/>
                </a:solidFill>
                <a:latin typeface="Arial"/>
                <a:ea typeface="Arial"/>
                <a:cs typeface="Arial"/>
              </a:defRPr>
            </a:lvl7pPr>
            <a:lvl8pPr>
              <a:defRPr sz="1875" b="0">
                <a:solidFill>
                  <a:srgbClr val="132E3B"/>
                </a:solidFill>
                <a:latin typeface="Arial"/>
                <a:ea typeface="Arial"/>
                <a:cs typeface="Arial"/>
              </a:defRPr>
            </a:lvl8pPr>
            <a:lvl9pPr>
              <a:defRPr sz="1875" b="0">
                <a:solidFill>
                  <a:srgbClr val="132E3B"/>
                </a:solidFill>
                <a:latin typeface="Arial"/>
                <a:ea typeface="Arial"/>
                <a:cs typeface="Arial"/>
              </a:defRPr>
            </a:lvl9pPr>
          </a:lstStyle>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reserved for testing</a:t>
            </a:r>
          </a:p>
        </p:txBody>
      </p:sp>
      <p:sp>
        <p:nvSpPr>
          <p:cNvPr id="11" name="">
            <a:extLst xmlns:a="http://schemas.openxmlformats.org/drawingml/2006/main">
              <a:ext uri="{FF2B5EF4-FFF2-40B4-BE49-F238E27FC236}">
                <a16:creationId xmlns:a16="http://schemas.microsoft.com/office/drawing/2014/main" id="{D6495EB0-E591-4F1D-AB8C-BFF475E4CEE7}"/>
              </a:ext>
            </a:extLst>
          </p:cNvPr>
          <p:cNvSpPr>
            <a:spLocks xmlns:a="http://schemas.openxmlformats.org/drawingml/2006/main" noGrp="1"/>
          </p:cNvSpPr>
          <p:nvPr/>
        </p:nvSpPr>
        <p:spPr>
          <a:xfrm xmlns:a="http://schemas.openxmlformats.org/drawingml/2006/main">
            <a:off x="666750" y="48101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32E3B"/>
                </a:solidFill>
                <a:latin typeface="Arial"/>
                <a:ea typeface="Arial"/>
                <a:cs typeface="Arial"/>
              </a:defRPr>
            </a:defPPr>
            <a:lvl1pPr>
              <a:defRPr sz="2325" b="1">
                <a:solidFill>
                  <a:srgbClr val="132E3B"/>
                </a:solidFill>
                <a:latin typeface="Arial"/>
                <a:ea typeface="Arial"/>
                <a:cs typeface="Arial"/>
              </a:defRPr>
            </a:lvl1pPr>
            <a:lvl2pPr>
              <a:defRPr sz="2325" b="1">
                <a:solidFill>
                  <a:srgbClr val="132E3B"/>
                </a:solidFill>
                <a:latin typeface="Arial"/>
                <a:ea typeface="Arial"/>
                <a:cs typeface="Arial"/>
              </a:defRPr>
            </a:lvl2pPr>
            <a:lvl3pPr>
              <a:defRPr sz="2325" b="1">
                <a:solidFill>
                  <a:srgbClr val="132E3B"/>
                </a:solidFill>
                <a:latin typeface="Arial"/>
                <a:ea typeface="Arial"/>
                <a:cs typeface="Arial"/>
              </a:defRPr>
            </a:lvl3pPr>
            <a:lvl4pPr>
              <a:defRPr sz="2325" b="1">
                <a:solidFill>
                  <a:srgbClr val="132E3B"/>
                </a:solidFill>
                <a:latin typeface="Arial"/>
                <a:ea typeface="Arial"/>
                <a:cs typeface="Arial"/>
              </a:defRPr>
            </a:lvl4pPr>
            <a:lvl5pPr>
              <a:defRPr sz="2325" b="1">
                <a:solidFill>
                  <a:srgbClr val="132E3B"/>
                </a:solidFill>
                <a:latin typeface="Arial"/>
                <a:ea typeface="Arial"/>
                <a:cs typeface="Arial"/>
              </a:defRPr>
            </a:lvl5pPr>
            <a:lvl6pPr>
              <a:defRPr sz="2325" b="1">
                <a:solidFill>
                  <a:srgbClr val="132E3B"/>
                </a:solidFill>
                <a:latin typeface="Arial"/>
                <a:ea typeface="Arial"/>
                <a:cs typeface="Arial"/>
              </a:defRPr>
            </a:lvl6pPr>
            <a:lvl7pPr>
              <a:defRPr sz="2325" b="1">
                <a:solidFill>
                  <a:srgbClr val="132E3B"/>
                </a:solidFill>
                <a:latin typeface="Arial"/>
                <a:ea typeface="Arial"/>
                <a:cs typeface="Arial"/>
              </a:defRPr>
            </a:lvl7pPr>
            <a:lvl8pPr>
              <a:defRPr sz="2325" b="1">
                <a:solidFill>
                  <a:srgbClr val="132E3B"/>
                </a:solidFill>
                <a:latin typeface="Arial"/>
                <a:ea typeface="Arial"/>
                <a:cs typeface="Arial"/>
              </a:defRPr>
            </a:lvl8pPr>
            <a:lvl9pPr>
              <a:defRPr sz="2325" b="1">
                <a:solidFill>
                  <a:srgbClr val="132E3B"/>
                </a:solidFill>
                <a:latin typeface="Arial"/>
                <a:ea typeface="Arial"/>
                <a:cs typeface="Arial"/>
              </a:defRPr>
            </a:lvl9pPr>
          </a:lstStyle>
          <a:p xmlns:a="http://schemas.openxmlformats.org/drawingml/2006/main">
            <a:pPr>
              <a:defRPr sz="2325" b="1">
                <a:solidFill>
                  <a:srgbClr val="132E3B"/>
                </a:solidFill>
                <a:latin typeface="Arial"/>
                <a:ea typeface="Arial"/>
                <a:cs typeface="Arial"/>
              </a:defRPr>
            </a:pPr>
            <a:r>
              <a:rPr sz="2325" b="1">
                <a:solidFill>
                  <a:srgbClr val="132E3B"/>
                </a:solidFill>
                <a:latin typeface="Arial"/>
                <a:ea typeface="Arial"/>
                <a:cs typeface="Arial"/>
              </a:rPr>
              <a:t>8 test participants had scoreable forecasts.</a:t>
            </a:r>
          </a:p>
          <a:p xmlns:a="http://schemas.openxmlformats.org/drawingml/2006/main">
            <a:pPr>
              <a:defRPr sz="2325" b="1">
                <a:solidFill>
                  <a:srgbClr val="132E3B"/>
                </a:solidFill>
                <a:latin typeface="Arial"/>
                <a:ea typeface="Arial"/>
                <a:cs typeface="Arial"/>
              </a:defRPr>
            </a:pPr>
            <a:r>
              <a:rPr sz="2325" b="1">
                <a:solidFill>
                  <a:srgbClr val="132E3B"/>
                </a:solidFill>
                <a:latin typeface="Arial"/>
                <a:ea typeface="Arial"/>
                <a:cs typeface="Arial"/>
              </a:rPr>
              <a:t>Only 3 had Type 2 diabetes.</a:t>
            </a:r>
          </a:p>
        </p:txBody>
      </p:sp>
    </p:spTree>
    <p:extLst>
      <p:ext uri="{BB962C8B-B14F-4D97-AF65-F5344CB8AC3E}">
        <p14:creationId xmlns:p14="http://schemas.microsoft.com/office/powerpoint/2010/main" val="2035189025"/>
      </p:ext>
    </p:extLst>
  </p:cSld>
</p:sld>
</file>

<file path=ppt/slides/slide9.xml><?xml version="1.0" encoding="utf-8"?>
<p:sld xmlns:p="http://schemas.openxmlformats.org/presentationml/2006/main">
  <p:cSld>
    <p:bg>
      <p:bgPr>
        <a:solidFill xmlns:a="http://schemas.openxmlformats.org/drawingml/2006/main">
          <a:srgbClr val="F2F3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90451A-5969-48DC-9DF5-D3961317A691}"/>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E3B"/>
                </a:solidFill>
                <a:latin typeface="Arial"/>
                <a:ea typeface="Arial"/>
                <a:cs typeface="Arial"/>
              </a:defRPr>
            </a:defPPr>
            <a:lvl1pPr>
              <a:defRPr sz="3450" b="1">
                <a:solidFill>
                  <a:srgbClr val="132E3B"/>
                </a:solidFill>
                <a:latin typeface="Arial"/>
                <a:ea typeface="Arial"/>
                <a:cs typeface="Arial"/>
              </a:defRPr>
            </a:lvl1pPr>
            <a:lvl2pPr>
              <a:defRPr sz="3450" b="1">
                <a:solidFill>
                  <a:srgbClr val="132E3B"/>
                </a:solidFill>
                <a:latin typeface="Arial"/>
                <a:ea typeface="Arial"/>
                <a:cs typeface="Arial"/>
              </a:defRPr>
            </a:lvl2pPr>
            <a:lvl3pPr>
              <a:defRPr sz="3450" b="1">
                <a:solidFill>
                  <a:srgbClr val="132E3B"/>
                </a:solidFill>
                <a:latin typeface="Arial"/>
                <a:ea typeface="Arial"/>
                <a:cs typeface="Arial"/>
              </a:defRPr>
            </a:lvl3pPr>
            <a:lvl4pPr>
              <a:defRPr sz="3450" b="1">
                <a:solidFill>
                  <a:srgbClr val="132E3B"/>
                </a:solidFill>
                <a:latin typeface="Arial"/>
                <a:ea typeface="Arial"/>
                <a:cs typeface="Arial"/>
              </a:defRPr>
            </a:lvl4pPr>
            <a:lvl5pPr>
              <a:defRPr sz="3450" b="1">
                <a:solidFill>
                  <a:srgbClr val="132E3B"/>
                </a:solidFill>
                <a:latin typeface="Arial"/>
                <a:ea typeface="Arial"/>
                <a:cs typeface="Arial"/>
              </a:defRPr>
            </a:lvl5pPr>
            <a:lvl6pPr>
              <a:defRPr sz="3450" b="1">
                <a:solidFill>
                  <a:srgbClr val="132E3B"/>
                </a:solidFill>
                <a:latin typeface="Arial"/>
                <a:ea typeface="Arial"/>
                <a:cs typeface="Arial"/>
              </a:defRPr>
            </a:lvl6pPr>
            <a:lvl7pPr>
              <a:defRPr sz="3450" b="1">
                <a:solidFill>
                  <a:srgbClr val="132E3B"/>
                </a:solidFill>
                <a:latin typeface="Arial"/>
                <a:ea typeface="Arial"/>
                <a:cs typeface="Arial"/>
              </a:defRPr>
            </a:lvl7pPr>
            <a:lvl8pPr>
              <a:defRPr sz="3450" b="1">
                <a:solidFill>
                  <a:srgbClr val="132E3B"/>
                </a:solidFill>
                <a:latin typeface="Arial"/>
                <a:ea typeface="Arial"/>
                <a:cs typeface="Arial"/>
              </a:defRPr>
            </a:lvl8pPr>
            <a:lvl9pPr>
              <a:defRPr sz="3450" b="1">
                <a:solidFill>
                  <a:srgbClr val="132E3B"/>
                </a:solidFill>
                <a:latin typeface="Arial"/>
                <a:ea typeface="Arial"/>
                <a:cs typeface="Arial"/>
              </a:defRPr>
            </a:lvl9pPr>
          </a:lstStyle>
          <a:p xmlns:a="http://schemas.openxmlformats.org/drawingml/2006/main">
            <a:pPr>
              <a:defRPr sz="3450" b="1">
                <a:solidFill>
                  <a:srgbClr val="132E3B"/>
                </a:solidFill>
                <a:latin typeface="Arial"/>
                <a:ea typeface="Arial"/>
                <a:cs typeface="Arial"/>
              </a:defRPr>
            </a:pPr>
            <a:r>
              <a:rPr sz="3450" b="1">
                <a:solidFill>
                  <a:srgbClr val="132E3B"/>
                </a:solidFill>
                <a:latin typeface="Arial"/>
                <a:ea typeface="Arial"/>
                <a:cs typeface="Arial"/>
              </a:rPr>
              <a:t>11.1% lower average forecast error</a:t>
            </a:r>
          </a:p>
        </p:txBody>
      </p:sp>
      <p:sp>
        <p:nvSpPr>
          <p:cNvPr id="2" name="">
            <a:extLst xmlns:a="http://schemas.openxmlformats.org/drawingml/2006/main">
              <a:ext uri="{FF2B5EF4-FFF2-40B4-BE49-F238E27FC236}">
                <a16:creationId xmlns:a16="http://schemas.microsoft.com/office/drawing/2014/main" id="{FF3E412F-5186-4FD1-8EBD-4D85881B0774}"/>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087E80"/>
                </a:solidFill>
                <a:latin typeface="Arial"/>
                <a:ea typeface="Arial"/>
                <a:cs typeface="Arial"/>
              </a:defRPr>
            </a:defPPr>
            <a:lvl1pPr>
              <a:defRPr sz="1200" b="1">
                <a:solidFill>
                  <a:srgbClr val="087E80"/>
                </a:solidFill>
                <a:latin typeface="Arial"/>
                <a:ea typeface="Arial"/>
                <a:cs typeface="Arial"/>
              </a:defRPr>
            </a:lvl1pPr>
            <a:lvl2pPr>
              <a:defRPr sz="1200" b="1">
                <a:solidFill>
                  <a:srgbClr val="087E80"/>
                </a:solidFill>
                <a:latin typeface="Arial"/>
                <a:ea typeface="Arial"/>
                <a:cs typeface="Arial"/>
              </a:defRPr>
            </a:lvl2pPr>
            <a:lvl3pPr>
              <a:defRPr sz="1200" b="1">
                <a:solidFill>
                  <a:srgbClr val="087E80"/>
                </a:solidFill>
                <a:latin typeface="Arial"/>
                <a:ea typeface="Arial"/>
                <a:cs typeface="Arial"/>
              </a:defRPr>
            </a:lvl3pPr>
            <a:lvl4pPr>
              <a:defRPr sz="1200" b="1">
                <a:solidFill>
                  <a:srgbClr val="087E80"/>
                </a:solidFill>
                <a:latin typeface="Arial"/>
                <a:ea typeface="Arial"/>
                <a:cs typeface="Arial"/>
              </a:defRPr>
            </a:lvl4pPr>
            <a:lvl5pPr>
              <a:defRPr sz="1200" b="1">
                <a:solidFill>
                  <a:srgbClr val="087E80"/>
                </a:solidFill>
                <a:latin typeface="Arial"/>
                <a:ea typeface="Arial"/>
                <a:cs typeface="Arial"/>
              </a:defRPr>
            </a:lvl5pPr>
            <a:lvl6pPr>
              <a:defRPr sz="1200" b="1">
                <a:solidFill>
                  <a:srgbClr val="087E80"/>
                </a:solidFill>
                <a:latin typeface="Arial"/>
                <a:ea typeface="Arial"/>
                <a:cs typeface="Arial"/>
              </a:defRPr>
            </a:lvl6pPr>
            <a:lvl7pPr>
              <a:defRPr sz="1200" b="1">
                <a:solidFill>
                  <a:srgbClr val="087E80"/>
                </a:solidFill>
                <a:latin typeface="Arial"/>
                <a:ea typeface="Arial"/>
                <a:cs typeface="Arial"/>
              </a:defRPr>
            </a:lvl7pPr>
            <a:lvl8pPr>
              <a:defRPr sz="1200" b="1">
                <a:solidFill>
                  <a:srgbClr val="087E80"/>
                </a:solidFill>
                <a:latin typeface="Arial"/>
                <a:ea typeface="Arial"/>
                <a:cs typeface="Arial"/>
              </a:defRPr>
            </a:lvl8pPr>
            <a:lvl9pPr>
              <a:defRPr sz="1200" b="1">
                <a:solidFill>
                  <a:srgbClr val="087E80"/>
                </a:solidFill>
                <a:latin typeface="Arial"/>
                <a:ea typeface="Arial"/>
                <a:cs typeface="Arial"/>
              </a:defRPr>
            </a:lvl9pPr>
          </a:lstStyle>
          <a:p xmlns:a="http://schemas.openxmlformats.org/drawingml/2006/main">
            <a:pPr>
              <a:defRPr sz="1200" b="1">
                <a:solidFill>
                  <a:srgbClr val="087E80"/>
                </a:solidFill>
                <a:latin typeface="Arial"/>
                <a:ea typeface="Arial"/>
                <a:cs typeface="Arial"/>
              </a:defRPr>
            </a:pPr>
            <a:r>
              <a:rPr sz="1200" b="1">
                <a:solidFill>
                  <a:srgbClr val="087E80"/>
                </a:solidFill>
                <a:latin typeface="Arial"/>
                <a:ea typeface="Arial"/>
                <a:cs typeface="Arial"/>
              </a:rPr>
              <a:t>MAIN RESULT</a:t>
            </a:r>
          </a:p>
        </p:txBody>
      </p:sp>
      <p:sp>
        <p:nvSpPr>
          <p:cNvPr id="3" name="">
            <a:extLst xmlns:a="http://schemas.openxmlformats.org/drawingml/2006/main">
              <a:ext uri="{FF2B5EF4-FFF2-40B4-BE49-F238E27FC236}">
                <a16:creationId xmlns:a16="http://schemas.microsoft.com/office/drawing/2014/main" id="{C7D9D7E2-F183-48F6-AA6D-56292D57444E}"/>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C7EBE835-0F87-427C-8C44-22B10B306EF0}"/>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Eight scoreable test participants. Patient-mean MAE at +30 min, mg/dL. Lower is better.</a:t>
            </a:r>
          </a:p>
        </p:txBody>
      </p:sp>
      <p:graphicFrame>
        <p:nvGraphicFramePr>
          <p:cNvPr id="5" name="Chart">
            <a:extLst xmlns:a="http://schemas.openxmlformats.org/drawingml/2006/main">
              <a:ext uri="{FF2B5EF4-FFF2-40B4-BE49-F238E27FC236}">
                <a16:creationId xmlns:a16="http://schemas.microsoft.com/office/drawing/2014/main" id="{0567C642-24AF-4288-B713-EFA55D45AD8D}"/>
              </a:ext>
            </a:extLst>
          </p:cNvPr>
          <p:cNvGraphicFramePr/>
          <p:nvPr/>
        </p:nvGraphicFramePr>
        <p:xfrm>
          <a:off xmlns:a="http://schemas.openxmlformats.org/drawingml/2006/main" x="647700" y="1762125"/>
          <a:ext xmlns:a="http://schemas.openxmlformats.org/drawingml/2006/main" cx="10858500" cy="4000500"/>
        </p:xfrm>
        <a:graphic xmlns:a="http://schemas.openxmlformats.org/drawingml/2006/main">
          <a:graphicData uri="http://schemas.openxmlformats.org/drawingml/2006/chart">
            <c:chart xmlns:r="http://schemas.openxmlformats.org/officeDocument/2006/relationships" xmlns:c="http://schemas.openxmlformats.org/drawingml/2006/chart" r:id="Rb1fa7f499c654f6c"/>
          </a:graphicData>
        </a:graphic>
      </p:graphicFrame>
    </p:spTree>
    <p:extLst>
      <p:ext uri="{BB962C8B-B14F-4D97-AF65-F5344CB8AC3E}">
        <p14:creationId xmlns:p14="http://schemas.microsoft.com/office/powerpoint/2010/main" val="1760746301"/>
      </p:ext>
    </p:extLst>
  </p:cSld>
</p:sld>
</file>

<file path=ppt/slides/slide1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1C4191-74CC-49D1-AA63-94EC3242301B}"/>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5F7F8"/>
                </a:solidFill>
                <a:latin typeface="Arial"/>
                <a:ea typeface="Arial"/>
                <a:cs typeface="Arial"/>
              </a:defRPr>
            </a:defPPr>
            <a:lvl1pPr>
              <a:defRPr sz="3450" b="1">
                <a:solidFill>
                  <a:srgbClr val="F5F7F8"/>
                </a:solidFill>
                <a:latin typeface="Arial"/>
                <a:ea typeface="Arial"/>
                <a:cs typeface="Arial"/>
              </a:defRPr>
            </a:lvl1pPr>
            <a:lvl2pPr>
              <a:defRPr sz="3450" b="1">
                <a:solidFill>
                  <a:srgbClr val="F5F7F8"/>
                </a:solidFill>
                <a:latin typeface="Arial"/>
                <a:ea typeface="Arial"/>
                <a:cs typeface="Arial"/>
              </a:defRPr>
            </a:lvl2pPr>
            <a:lvl3pPr>
              <a:defRPr sz="3450" b="1">
                <a:solidFill>
                  <a:srgbClr val="F5F7F8"/>
                </a:solidFill>
                <a:latin typeface="Arial"/>
                <a:ea typeface="Arial"/>
                <a:cs typeface="Arial"/>
              </a:defRPr>
            </a:lvl3pPr>
            <a:lvl4pPr>
              <a:defRPr sz="3450" b="1">
                <a:solidFill>
                  <a:srgbClr val="F5F7F8"/>
                </a:solidFill>
                <a:latin typeface="Arial"/>
                <a:ea typeface="Arial"/>
                <a:cs typeface="Arial"/>
              </a:defRPr>
            </a:lvl4pPr>
            <a:lvl5pPr>
              <a:defRPr sz="3450" b="1">
                <a:solidFill>
                  <a:srgbClr val="F5F7F8"/>
                </a:solidFill>
                <a:latin typeface="Arial"/>
                <a:ea typeface="Arial"/>
                <a:cs typeface="Arial"/>
              </a:defRPr>
            </a:lvl5pPr>
            <a:lvl6pPr>
              <a:defRPr sz="3450" b="1">
                <a:solidFill>
                  <a:srgbClr val="F5F7F8"/>
                </a:solidFill>
                <a:latin typeface="Arial"/>
                <a:ea typeface="Arial"/>
                <a:cs typeface="Arial"/>
              </a:defRPr>
            </a:lvl6pPr>
            <a:lvl7pPr>
              <a:defRPr sz="3450" b="1">
                <a:solidFill>
                  <a:srgbClr val="F5F7F8"/>
                </a:solidFill>
                <a:latin typeface="Arial"/>
                <a:ea typeface="Arial"/>
                <a:cs typeface="Arial"/>
              </a:defRPr>
            </a:lvl7pPr>
            <a:lvl8pPr>
              <a:defRPr sz="3450" b="1">
                <a:solidFill>
                  <a:srgbClr val="F5F7F8"/>
                </a:solidFill>
                <a:latin typeface="Arial"/>
                <a:ea typeface="Arial"/>
                <a:cs typeface="Arial"/>
              </a:defRPr>
            </a:lvl8pPr>
            <a:lvl9pPr>
              <a:defRPr sz="3450" b="1">
                <a:solidFill>
                  <a:srgbClr val="F5F7F8"/>
                </a:solidFill>
                <a:latin typeface="Arial"/>
                <a:ea typeface="Arial"/>
                <a:cs typeface="Arial"/>
              </a:defRPr>
            </a:lvl9pPr>
          </a:lstStyle>
          <a:p xmlns:a="http://schemas.openxmlformats.org/drawingml/2006/main">
            <a:pPr>
              <a:defRPr sz="3450" b="1">
                <a:solidFill>
                  <a:srgbClr val="F5F7F8"/>
                </a:solidFill>
                <a:latin typeface="Arial"/>
                <a:ea typeface="Arial"/>
                <a:cs typeface="Arial"/>
              </a:defRPr>
            </a:pPr>
            <a:r>
              <a:rPr sz="3450" b="1">
                <a:solidFill>
                  <a:srgbClr val="F5F7F8"/>
                </a:solidFill>
                <a:latin typeface="Arial"/>
                <a:ea typeface="Arial"/>
                <a:cs typeface="Arial"/>
              </a:rPr>
              <a:t>Results visible inside the product</a:t>
            </a:r>
          </a:p>
        </p:txBody>
      </p:sp>
      <p:sp>
        <p:nvSpPr>
          <p:cNvPr id="2" name="">
            <a:extLst xmlns:a="http://schemas.openxmlformats.org/drawingml/2006/main">
              <a:ext uri="{FF2B5EF4-FFF2-40B4-BE49-F238E27FC236}">
                <a16:creationId xmlns:a16="http://schemas.microsoft.com/office/drawing/2014/main" id="{EA37E24A-BAEC-4DD5-B824-4341A5AD0173}"/>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7E2D0"/>
                </a:solidFill>
                <a:latin typeface="Arial"/>
                <a:ea typeface="Arial"/>
                <a:cs typeface="Arial"/>
              </a:defRPr>
            </a:defPPr>
            <a:lvl1pPr>
              <a:defRPr sz="1200" b="1">
                <a:solidFill>
                  <a:srgbClr val="67E2D0"/>
                </a:solidFill>
                <a:latin typeface="Arial"/>
                <a:ea typeface="Arial"/>
                <a:cs typeface="Arial"/>
              </a:defRPr>
            </a:lvl1pPr>
            <a:lvl2pPr>
              <a:defRPr sz="1200" b="1">
                <a:solidFill>
                  <a:srgbClr val="67E2D0"/>
                </a:solidFill>
                <a:latin typeface="Arial"/>
                <a:ea typeface="Arial"/>
                <a:cs typeface="Arial"/>
              </a:defRPr>
            </a:lvl2pPr>
            <a:lvl3pPr>
              <a:defRPr sz="1200" b="1">
                <a:solidFill>
                  <a:srgbClr val="67E2D0"/>
                </a:solidFill>
                <a:latin typeface="Arial"/>
                <a:ea typeface="Arial"/>
                <a:cs typeface="Arial"/>
              </a:defRPr>
            </a:lvl3pPr>
            <a:lvl4pPr>
              <a:defRPr sz="1200" b="1">
                <a:solidFill>
                  <a:srgbClr val="67E2D0"/>
                </a:solidFill>
                <a:latin typeface="Arial"/>
                <a:ea typeface="Arial"/>
                <a:cs typeface="Arial"/>
              </a:defRPr>
            </a:lvl4pPr>
            <a:lvl5pPr>
              <a:defRPr sz="1200" b="1">
                <a:solidFill>
                  <a:srgbClr val="67E2D0"/>
                </a:solidFill>
                <a:latin typeface="Arial"/>
                <a:ea typeface="Arial"/>
                <a:cs typeface="Arial"/>
              </a:defRPr>
            </a:lvl5pPr>
            <a:lvl6pPr>
              <a:defRPr sz="1200" b="1">
                <a:solidFill>
                  <a:srgbClr val="67E2D0"/>
                </a:solidFill>
                <a:latin typeface="Arial"/>
                <a:ea typeface="Arial"/>
                <a:cs typeface="Arial"/>
              </a:defRPr>
            </a:lvl6pPr>
            <a:lvl7pPr>
              <a:defRPr sz="1200" b="1">
                <a:solidFill>
                  <a:srgbClr val="67E2D0"/>
                </a:solidFill>
                <a:latin typeface="Arial"/>
                <a:ea typeface="Arial"/>
                <a:cs typeface="Arial"/>
              </a:defRPr>
            </a:lvl7pPr>
            <a:lvl8pPr>
              <a:defRPr sz="1200" b="1">
                <a:solidFill>
                  <a:srgbClr val="67E2D0"/>
                </a:solidFill>
                <a:latin typeface="Arial"/>
                <a:ea typeface="Arial"/>
                <a:cs typeface="Arial"/>
              </a:defRPr>
            </a:lvl8pPr>
            <a:lvl9pPr>
              <a:defRPr sz="1200" b="1">
                <a:solidFill>
                  <a:srgbClr val="67E2D0"/>
                </a:solidFill>
                <a:latin typeface="Arial"/>
                <a:ea typeface="Arial"/>
                <a:cs typeface="Arial"/>
              </a:defRPr>
            </a:lvl9pPr>
          </a:lstStyle>
          <a:p xmlns:a="http://schemas.openxmlformats.org/drawingml/2006/main">
            <a:pPr>
              <a:defRPr sz="1200" b="1">
                <a:solidFill>
                  <a:srgbClr val="67E2D0"/>
                </a:solidFill>
                <a:latin typeface="Arial"/>
                <a:ea typeface="Arial"/>
                <a:cs typeface="Arial"/>
              </a:defRPr>
            </a:pPr>
            <a:r>
              <a:rPr sz="1200" b="1">
                <a:solidFill>
                  <a:srgbClr val="67E2D0"/>
                </a:solidFill>
                <a:latin typeface="Arial"/>
                <a:ea typeface="Arial"/>
                <a:cs typeface="Arial"/>
              </a:rPr>
              <a:t>ACTUAL RESULTS SCREENSHOT</a:t>
            </a:r>
          </a:p>
        </p:txBody>
      </p:sp>
      <p:sp>
        <p:nvSpPr>
          <p:cNvPr id="3" name="">
            <a:extLst xmlns:a="http://schemas.openxmlformats.org/drawingml/2006/main">
              <a:ext uri="{FF2B5EF4-FFF2-40B4-BE49-F238E27FC236}">
                <a16:creationId xmlns:a16="http://schemas.microsoft.com/office/drawing/2014/main" id="{7EE4332C-BD58-4E57-BB38-60B63934A4E1}"/>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080BDC6-5BAE-4485-8A6C-D0646669366E}"/>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Crop shows the forecast-error columns. Warning metrics require the audit on slide 12.</a:t>
            </a:r>
          </a:p>
        </p:txBody>
      </p:sp>
      <p:pic>
        <p:nvPicPr>
          <p:cNvPr id="5" name="">
            <a:extLst xmlns:a="http://schemas.openxmlformats.org/drawingml/2006/main">
              <a:ext uri="{FF2B5EF4-FFF2-40B4-BE49-F238E27FC236}">
                <a16:creationId xmlns:a16="http://schemas.microsoft.com/office/drawing/2014/main" id="{72AC38CD-2360-456E-AEA3-442DAACF7FA1}"/>
              </a:ext>
            </a:extLst>
          </p:cNvPr>
          <p:cNvPicPr>
            <a:picLocks xmlns:a="http://schemas.openxmlformats.org/drawingml/2006/main" noChangeAspect="1"/>
          </p:cNvPicPr>
          <p:nvPr/>
        </p:nvPicPr>
        <p:blipFill>
          <a:blip xmlns:r="http://schemas.openxmlformats.org/officeDocument/2006/relationships" xmlns:a="http://schemas.openxmlformats.org/drawingml/2006/main" r:embed="Rf75b65a0588d4957"/>
          <a:stretch xmlns:a="http://schemas.openxmlformats.org/drawingml/2006/main"/>
        </p:blipFill>
        <p:spPr>
          <a:xfrm xmlns:a="http://schemas.openxmlformats.org/drawingml/2006/main">
            <a:off x="653259" y="1952625"/>
            <a:ext cx="7513632" cy="3857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2D12FBF-6A9D-4A3F-B903-0954318C45BA}"/>
              </a:ext>
            </a:extLst>
          </p:cNvPr>
          <p:cNvSpPr>
            <a:spLocks xmlns:a="http://schemas.openxmlformats.org/drawingml/2006/main" noGrp="1"/>
          </p:cNvSpPr>
          <p:nvPr/>
        </p:nvSpPr>
        <p:spPr>
          <a:xfrm xmlns:a="http://schemas.openxmlformats.org/drawingml/2006/main">
            <a:off x="8715375" y="2095500"/>
            <a:ext cx="285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67E2D0"/>
                </a:solidFill>
                <a:latin typeface="Arial"/>
                <a:ea typeface="Arial"/>
                <a:cs typeface="Arial"/>
              </a:defRPr>
            </a:defPPr>
            <a:lvl1pPr>
              <a:defRPr sz="2400" b="1">
                <a:solidFill>
                  <a:srgbClr val="67E2D0"/>
                </a:solidFill>
                <a:latin typeface="Arial"/>
                <a:ea typeface="Arial"/>
                <a:cs typeface="Arial"/>
              </a:defRPr>
            </a:lvl1pPr>
            <a:lvl2pPr>
              <a:defRPr sz="2400" b="1">
                <a:solidFill>
                  <a:srgbClr val="67E2D0"/>
                </a:solidFill>
                <a:latin typeface="Arial"/>
                <a:ea typeface="Arial"/>
                <a:cs typeface="Arial"/>
              </a:defRPr>
            </a:lvl2pPr>
            <a:lvl3pPr>
              <a:defRPr sz="2400" b="1">
                <a:solidFill>
                  <a:srgbClr val="67E2D0"/>
                </a:solidFill>
                <a:latin typeface="Arial"/>
                <a:ea typeface="Arial"/>
                <a:cs typeface="Arial"/>
              </a:defRPr>
            </a:lvl3pPr>
            <a:lvl4pPr>
              <a:defRPr sz="2400" b="1">
                <a:solidFill>
                  <a:srgbClr val="67E2D0"/>
                </a:solidFill>
                <a:latin typeface="Arial"/>
                <a:ea typeface="Arial"/>
                <a:cs typeface="Arial"/>
              </a:defRPr>
            </a:lvl4pPr>
            <a:lvl5pPr>
              <a:defRPr sz="2400" b="1">
                <a:solidFill>
                  <a:srgbClr val="67E2D0"/>
                </a:solidFill>
                <a:latin typeface="Arial"/>
                <a:ea typeface="Arial"/>
                <a:cs typeface="Arial"/>
              </a:defRPr>
            </a:lvl5pPr>
            <a:lvl6pPr>
              <a:defRPr sz="2400" b="1">
                <a:solidFill>
                  <a:srgbClr val="67E2D0"/>
                </a:solidFill>
                <a:latin typeface="Arial"/>
                <a:ea typeface="Arial"/>
                <a:cs typeface="Arial"/>
              </a:defRPr>
            </a:lvl6pPr>
            <a:lvl7pPr>
              <a:defRPr sz="2400" b="1">
                <a:solidFill>
                  <a:srgbClr val="67E2D0"/>
                </a:solidFill>
                <a:latin typeface="Arial"/>
                <a:ea typeface="Arial"/>
                <a:cs typeface="Arial"/>
              </a:defRPr>
            </a:lvl7pPr>
            <a:lvl8pPr>
              <a:defRPr sz="2400" b="1">
                <a:solidFill>
                  <a:srgbClr val="67E2D0"/>
                </a:solidFill>
                <a:latin typeface="Arial"/>
                <a:ea typeface="Arial"/>
                <a:cs typeface="Arial"/>
              </a:defRPr>
            </a:lvl8pPr>
            <a:lvl9pPr>
              <a:defRPr sz="2400" b="1">
                <a:solidFill>
                  <a:srgbClr val="67E2D0"/>
                </a:solidFill>
                <a:latin typeface="Arial"/>
                <a:ea typeface="Arial"/>
                <a:cs typeface="Arial"/>
              </a:defRPr>
            </a:lvl9pPr>
          </a:lstStyle>
          <a:p xmlns:a="http://schemas.openxmlformats.org/drawingml/2006/main">
            <a:pPr>
              <a:defRPr sz="2400" b="1">
                <a:solidFill>
                  <a:srgbClr val="67E2D0"/>
                </a:solidFill>
                <a:latin typeface="Arial"/>
                <a:ea typeface="Arial"/>
                <a:cs typeface="Arial"/>
              </a:defRPr>
            </a:pPr>
            <a:r>
              <a:rPr sz="2400" b="1">
                <a:solidFill>
                  <a:srgbClr val="67E2D0"/>
                </a:solidFill>
                <a:latin typeface="Arial"/>
                <a:ea typeface="Arial"/>
                <a:cs typeface="Arial"/>
              </a:rPr>
              <a:t>Every model uses</a:t>
            </a:r>
          </a:p>
          <a:p xmlns:a="http://schemas.openxmlformats.org/drawingml/2006/main">
            <a:pPr>
              <a:defRPr sz="2400" b="1">
                <a:solidFill>
                  <a:srgbClr val="67E2D0"/>
                </a:solidFill>
                <a:latin typeface="Arial"/>
                <a:ea typeface="Arial"/>
                <a:cs typeface="Arial"/>
              </a:defRPr>
            </a:pPr>
            <a:r>
              <a:rPr sz="2400" b="1">
                <a:solidFill>
                  <a:srgbClr val="67E2D0"/>
                </a:solidFill>
                <a:latin typeface="Arial"/>
                <a:ea typeface="Arial"/>
                <a:cs typeface="Arial"/>
              </a:rPr>
              <a:t>the same eligible</a:t>
            </a:r>
          </a:p>
          <a:p xmlns:a="http://schemas.openxmlformats.org/drawingml/2006/main">
            <a:pPr>
              <a:defRPr sz="2400" b="1">
                <a:solidFill>
                  <a:srgbClr val="67E2D0"/>
                </a:solidFill>
                <a:latin typeface="Arial"/>
                <a:ea typeface="Arial"/>
                <a:cs typeface="Arial"/>
              </a:defRPr>
            </a:pPr>
            <a:r>
              <a:rPr sz="2400" b="1">
                <a:solidFill>
                  <a:srgbClr val="67E2D0"/>
                </a:solidFill>
                <a:latin typeface="Arial"/>
                <a:ea typeface="Arial"/>
                <a:cs typeface="Arial"/>
              </a:rPr>
              <a:t>test timestamps.</a:t>
            </a:r>
          </a:p>
        </p:txBody>
      </p:sp>
      <p:sp>
        <p:nvSpPr>
          <p:cNvPr id="7" name="">
            <a:extLst xmlns:a="http://schemas.openxmlformats.org/drawingml/2006/main">
              <a:ext uri="{FF2B5EF4-FFF2-40B4-BE49-F238E27FC236}">
                <a16:creationId xmlns:a16="http://schemas.microsoft.com/office/drawing/2014/main" id="{6A8F1B4C-7F18-4693-B2A1-FC11EF36C291}"/>
              </a:ext>
            </a:extLst>
          </p:cNvPr>
          <p:cNvSpPr>
            <a:spLocks xmlns:a="http://schemas.openxmlformats.org/drawingml/2006/main" noGrp="1"/>
          </p:cNvSpPr>
          <p:nvPr/>
        </p:nvSpPr>
        <p:spPr>
          <a:xfrm xmlns:a="http://schemas.openxmlformats.org/drawingml/2006/main">
            <a:off x="8715375" y="4171950"/>
            <a:ext cx="285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5F7F8"/>
                </a:solidFill>
                <a:latin typeface="Arial"/>
                <a:ea typeface="Arial"/>
                <a:cs typeface="Arial"/>
              </a:defRPr>
            </a:defPPr>
            <a:lvl1pPr>
              <a:defRPr sz="1950" b="0">
                <a:solidFill>
                  <a:srgbClr val="F5F7F8"/>
                </a:solidFill>
                <a:latin typeface="Arial"/>
                <a:ea typeface="Arial"/>
                <a:cs typeface="Arial"/>
              </a:defRPr>
            </a:lvl1pPr>
            <a:lvl2pPr>
              <a:defRPr sz="1950" b="0">
                <a:solidFill>
                  <a:srgbClr val="F5F7F8"/>
                </a:solidFill>
                <a:latin typeface="Arial"/>
                <a:ea typeface="Arial"/>
                <a:cs typeface="Arial"/>
              </a:defRPr>
            </a:lvl2pPr>
            <a:lvl3pPr>
              <a:defRPr sz="1950" b="0">
                <a:solidFill>
                  <a:srgbClr val="F5F7F8"/>
                </a:solidFill>
                <a:latin typeface="Arial"/>
                <a:ea typeface="Arial"/>
                <a:cs typeface="Arial"/>
              </a:defRPr>
            </a:lvl3pPr>
            <a:lvl4pPr>
              <a:defRPr sz="1950" b="0">
                <a:solidFill>
                  <a:srgbClr val="F5F7F8"/>
                </a:solidFill>
                <a:latin typeface="Arial"/>
                <a:ea typeface="Arial"/>
                <a:cs typeface="Arial"/>
              </a:defRPr>
            </a:lvl4pPr>
            <a:lvl5pPr>
              <a:defRPr sz="1950" b="0">
                <a:solidFill>
                  <a:srgbClr val="F5F7F8"/>
                </a:solidFill>
                <a:latin typeface="Arial"/>
                <a:ea typeface="Arial"/>
                <a:cs typeface="Arial"/>
              </a:defRPr>
            </a:lvl5pPr>
            <a:lvl6pPr>
              <a:defRPr sz="1950" b="0">
                <a:solidFill>
                  <a:srgbClr val="F5F7F8"/>
                </a:solidFill>
                <a:latin typeface="Arial"/>
                <a:ea typeface="Arial"/>
                <a:cs typeface="Arial"/>
              </a:defRPr>
            </a:lvl6pPr>
            <a:lvl7pPr>
              <a:defRPr sz="1950" b="0">
                <a:solidFill>
                  <a:srgbClr val="F5F7F8"/>
                </a:solidFill>
                <a:latin typeface="Arial"/>
                <a:ea typeface="Arial"/>
                <a:cs typeface="Arial"/>
              </a:defRPr>
            </a:lvl7pPr>
            <a:lvl8pPr>
              <a:defRPr sz="1950" b="0">
                <a:solidFill>
                  <a:srgbClr val="F5F7F8"/>
                </a:solidFill>
                <a:latin typeface="Arial"/>
                <a:ea typeface="Arial"/>
                <a:cs typeface="Arial"/>
              </a:defRPr>
            </a:lvl8pPr>
            <a:lvl9pPr>
              <a:defRPr sz="1950" b="0">
                <a:solidFill>
                  <a:srgbClr val="F5F7F8"/>
                </a:solidFill>
                <a:latin typeface="Arial"/>
                <a:ea typeface="Arial"/>
                <a:cs typeface="Arial"/>
              </a:defRPr>
            </a:lvl9pPr>
          </a:lstStyle>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The dashboard exposes</a:t>
            </a:r>
          </a:p>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model-level and</a:t>
            </a:r>
          </a:p>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participant-level errors.</a:t>
            </a:r>
          </a:p>
        </p:txBody>
      </p:sp>
    </p:spTree>
    <p:extLst>
      <p:ext uri="{BB962C8B-B14F-4D97-AF65-F5344CB8AC3E}">
        <p14:creationId xmlns:p14="http://schemas.microsoft.com/office/powerpoint/2010/main" val="82474282"/>
      </p:ext>
    </p:extLst>
  </p:cSld>
</p:sld>
</file>

<file path=ppt/slides/slide11.xml><?xml version="1.0" encoding="utf-8"?>
<p:sld xmlns:p="http://schemas.openxmlformats.org/presentationml/2006/main">
  <p:cSld>
    <p:bg>
      <p:bgPr>
        <a:solidFill xmlns:a="http://schemas.openxmlformats.org/drawingml/2006/main">
          <a:srgbClr val="F2F3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824F99-A1EB-4680-9A85-256AE137C572}"/>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E3B"/>
                </a:solidFill>
                <a:latin typeface="Arial"/>
                <a:ea typeface="Arial"/>
                <a:cs typeface="Arial"/>
              </a:defRPr>
            </a:defPPr>
            <a:lvl1pPr>
              <a:defRPr sz="3450" b="1">
                <a:solidFill>
                  <a:srgbClr val="132E3B"/>
                </a:solidFill>
                <a:latin typeface="Arial"/>
                <a:ea typeface="Arial"/>
                <a:cs typeface="Arial"/>
              </a:defRPr>
            </a:lvl1pPr>
            <a:lvl2pPr>
              <a:defRPr sz="3450" b="1">
                <a:solidFill>
                  <a:srgbClr val="132E3B"/>
                </a:solidFill>
                <a:latin typeface="Arial"/>
                <a:ea typeface="Arial"/>
                <a:cs typeface="Arial"/>
              </a:defRPr>
            </a:lvl2pPr>
            <a:lvl3pPr>
              <a:defRPr sz="3450" b="1">
                <a:solidFill>
                  <a:srgbClr val="132E3B"/>
                </a:solidFill>
                <a:latin typeface="Arial"/>
                <a:ea typeface="Arial"/>
                <a:cs typeface="Arial"/>
              </a:defRPr>
            </a:lvl3pPr>
            <a:lvl4pPr>
              <a:defRPr sz="3450" b="1">
                <a:solidFill>
                  <a:srgbClr val="132E3B"/>
                </a:solidFill>
                <a:latin typeface="Arial"/>
                <a:ea typeface="Arial"/>
                <a:cs typeface="Arial"/>
              </a:defRPr>
            </a:lvl4pPr>
            <a:lvl5pPr>
              <a:defRPr sz="3450" b="1">
                <a:solidFill>
                  <a:srgbClr val="132E3B"/>
                </a:solidFill>
                <a:latin typeface="Arial"/>
                <a:ea typeface="Arial"/>
                <a:cs typeface="Arial"/>
              </a:defRPr>
            </a:lvl5pPr>
            <a:lvl6pPr>
              <a:defRPr sz="3450" b="1">
                <a:solidFill>
                  <a:srgbClr val="132E3B"/>
                </a:solidFill>
                <a:latin typeface="Arial"/>
                <a:ea typeface="Arial"/>
                <a:cs typeface="Arial"/>
              </a:defRPr>
            </a:lvl6pPr>
            <a:lvl7pPr>
              <a:defRPr sz="3450" b="1">
                <a:solidFill>
                  <a:srgbClr val="132E3B"/>
                </a:solidFill>
                <a:latin typeface="Arial"/>
                <a:ea typeface="Arial"/>
                <a:cs typeface="Arial"/>
              </a:defRPr>
            </a:lvl7pPr>
            <a:lvl8pPr>
              <a:defRPr sz="3450" b="1">
                <a:solidFill>
                  <a:srgbClr val="132E3B"/>
                </a:solidFill>
                <a:latin typeface="Arial"/>
                <a:ea typeface="Arial"/>
                <a:cs typeface="Arial"/>
              </a:defRPr>
            </a:lvl8pPr>
            <a:lvl9pPr>
              <a:defRPr sz="3450" b="1">
                <a:solidFill>
                  <a:srgbClr val="132E3B"/>
                </a:solidFill>
                <a:latin typeface="Arial"/>
                <a:ea typeface="Arial"/>
                <a:cs typeface="Arial"/>
              </a:defRPr>
            </a:lvl9pPr>
          </a:lstStyle>
          <a:p xmlns:a="http://schemas.openxmlformats.org/drawingml/2006/main">
            <a:pPr>
              <a:defRPr sz="3450" b="1">
                <a:solidFill>
                  <a:srgbClr val="132E3B"/>
                </a:solidFill>
                <a:latin typeface="Arial"/>
                <a:ea typeface="Arial"/>
                <a:cs typeface="Arial"/>
              </a:defRPr>
            </a:pPr>
            <a:r>
              <a:rPr sz="3450" b="1">
                <a:solidFill>
                  <a:srgbClr val="132E3B"/>
                </a:solidFill>
                <a:latin typeface="Arial"/>
                <a:ea typeface="Arial"/>
                <a:cs typeface="Arial"/>
              </a:rPr>
              <a:t>Clinical fusion needs more evidence</a:t>
            </a:r>
          </a:p>
        </p:txBody>
      </p:sp>
      <p:sp>
        <p:nvSpPr>
          <p:cNvPr id="2" name="">
            <a:extLst xmlns:a="http://schemas.openxmlformats.org/drawingml/2006/main">
              <a:ext uri="{FF2B5EF4-FFF2-40B4-BE49-F238E27FC236}">
                <a16:creationId xmlns:a16="http://schemas.microsoft.com/office/drawing/2014/main" id="{CB4203BD-C9ED-4A69-AD59-8D034A1EE860}"/>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087E80"/>
                </a:solidFill>
                <a:latin typeface="Arial"/>
                <a:ea typeface="Arial"/>
                <a:cs typeface="Arial"/>
              </a:defRPr>
            </a:defPPr>
            <a:lvl1pPr>
              <a:defRPr sz="1200" b="1">
                <a:solidFill>
                  <a:srgbClr val="087E80"/>
                </a:solidFill>
                <a:latin typeface="Arial"/>
                <a:ea typeface="Arial"/>
                <a:cs typeface="Arial"/>
              </a:defRPr>
            </a:lvl1pPr>
            <a:lvl2pPr>
              <a:defRPr sz="1200" b="1">
                <a:solidFill>
                  <a:srgbClr val="087E80"/>
                </a:solidFill>
                <a:latin typeface="Arial"/>
                <a:ea typeface="Arial"/>
                <a:cs typeface="Arial"/>
              </a:defRPr>
            </a:lvl2pPr>
            <a:lvl3pPr>
              <a:defRPr sz="1200" b="1">
                <a:solidFill>
                  <a:srgbClr val="087E80"/>
                </a:solidFill>
                <a:latin typeface="Arial"/>
                <a:ea typeface="Arial"/>
                <a:cs typeface="Arial"/>
              </a:defRPr>
            </a:lvl3pPr>
            <a:lvl4pPr>
              <a:defRPr sz="1200" b="1">
                <a:solidFill>
                  <a:srgbClr val="087E80"/>
                </a:solidFill>
                <a:latin typeface="Arial"/>
                <a:ea typeface="Arial"/>
                <a:cs typeface="Arial"/>
              </a:defRPr>
            </a:lvl4pPr>
            <a:lvl5pPr>
              <a:defRPr sz="1200" b="1">
                <a:solidFill>
                  <a:srgbClr val="087E80"/>
                </a:solidFill>
                <a:latin typeface="Arial"/>
                <a:ea typeface="Arial"/>
                <a:cs typeface="Arial"/>
              </a:defRPr>
            </a:lvl5pPr>
            <a:lvl6pPr>
              <a:defRPr sz="1200" b="1">
                <a:solidFill>
                  <a:srgbClr val="087E80"/>
                </a:solidFill>
                <a:latin typeface="Arial"/>
                <a:ea typeface="Arial"/>
                <a:cs typeface="Arial"/>
              </a:defRPr>
            </a:lvl6pPr>
            <a:lvl7pPr>
              <a:defRPr sz="1200" b="1">
                <a:solidFill>
                  <a:srgbClr val="087E80"/>
                </a:solidFill>
                <a:latin typeface="Arial"/>
                <a:ea typeface="Arial"/>
                <a:cs typeface="Arial"/>
              </a:defRPr>
            </a:lvl7pPr>
            <a:lvl8pPr>
              <a:defRPr sz="1200" b="1">
                <a:solidFill>
                  <a:srgbClr val="087E80"/>
                </a:solidFill>
                <a:latin typeface="Arial"/>
                <a:ea typeface="Arial"/>
                <a:cs typeface="Arial"/>
              </a:defRPr>
            </a:lvl8pPr>
            <a:lvl9pPr>
              <a:defRPr sz="1200" b="1">
                <a:solidFill>
                  <a:srgbClr val="087E80"/>
                </a:solidFill>
                <a:latin typeface="Arial"/>
                <a:ea typeface="Arial"/>
                <a:cs typeface="Arial"/>
              </a:defRPr>
            </a:lvl9pPr>
          </a:lstStyle>
          <a:p xmlns:a="http://schemas.openxmlformats.org/drawingml/2006/main">
            <a:pPr>
              <a:defRPr sz="1200" b="1">
                <a:solidFill>
                  <a:srgbClr val="087E80"/>
                </a:solidFill>
                <a:latin typeface="Arial"/>
                <a:ea typeface="Arial"/>
                <a:cs typeface="Arial"/>
              </a:defRPr>
            </a:pPr>
            <a:r>
              <a:rPr sz="1200" b="1">
                <a:solidFill>
                  <a:srgbClr val="087E80"/>
                </a:solidFill>
                <a:latin typeface="Arial"/>
                <a:ea typeface="Arial"/>
                <a:cs typeface="Arial"/>
              </a:rPr>
              <a:t>ABLATION RESULT</a:t>
            </a:r>
          </a:p>
        </p:txBody>
      </p:sp>
      <p:sp>
        <p:nvSpPr>
          <p:cNvPr id="3" name="">
            <a:extLst xmlns:a="http://schemas.openxmlformats.org/drawingml/2006/main">
              <a:ext uri="{FF2B5EF4-FFF2-40B4-BE49-F238E27FC236}">
                <a16:creationId xmlns:a16="http://schemas.microsoft.com/office/drawing/2014/main" id="{CDA18E0A-BFE4-410B-8582-8D3150B14BCA}"/>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DE517781-9F0E-49D7-AB10-739A142CFFB2}"/>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MAE in mg/dL. Model selection uses validation, even when test rankings differ.</a:t>
            </a:r>
          </a:p>
        </p:txBody>
      </p:sp>
      <p:graphicFrame>
        <p:nvGraphicFramePr>
          <p:cNvPr id="5" name="">
            <a:extLst xmlns:a="http://schemas.openxmlformats.org/drawingml/2006/main">
              <a:ext uri="{FF2B5EF4-FFF2-40B4-BE49-F238E27FC236}">
                <a16:creationId xmlns:a16="http://schemas.microsoft.com/office/drawing/2014/main" id="{16941E4D-C8A0-4A96-88CD-31C6608431C8}"/>
              </a:ext>
            </a:extLst>
          </p:cNvPr>
          <p:cNvGraphicFramePr/>
          <p:nvPr/>
        </p:nvGraphicFramePr>
        <p:xfrm>
          <a:off xmlns:a="http://schemas.openxmlformats.org/drawingml/2006/main" x="647700" y="1857375"/>
          <a:ext xmlns:a="http://schemas.openxmlformats.org/drawingml/2006/main" cx="10858500" cy="2476500"/>
        </p:xfrm>
        <a:graphic xmlns:a="http://schemas.openxmlformats.org/drawingml/2006/main">
          <a:graphicData uri="http://schemas.openxmlformats.org/drawingml/2006/table">
            <a:tbl>
              <a:tblPr/>
              <a:tblGrid>
                <a:gridCol w="6000750"/>
                <a:gridCol w="2428875"/>
                <a:gridCol w="2428875"/>
              </a:tblGrid>
              <a:tr h="619125">
                <a:tc>
                  <a:txBody>
                    <a:bodyPr lIns="142875" tIns="95250" rIns="123825" bIns="95250"/>
                    <a:lstStyle/>
                    <a:p>
                      <a:r>
                        <a:rPr sz="1575" b="1">
                          <a:solidFill>
                            <a:srgbClr val="F5F7F8"/>
                          </a:solidFill>
                          <a:latin typeface="Arial"/>
                          <a:ea typeface="Arial"/>
                          <a:cs typeface="Arial"/>
                        </a:rPr>
                        <a:t>Model</a:t>
                      </a:r>
                    </a:p>
                  </a:txBody>
                  <a:tcPr marL="91440" marR="91440" marT="45720" marB="45720" anchor="ctr">
                    <a:lnL w="5715">
                      <a:solidFill>
                        <a:srgbClr val="CFD8D8"/>
                      </a:solidFill>
                      <a:prstDash val="solid"/>
                    </a:lnL>
                    <a:lnR w="5715">
                      <a:solidFill>
                        <a:srgbClr val="CFD8D8"/>
                      </a:solidFill>
                      <a:prstDash val="solid"/>
                    </a:lnR>
                    <a:lnT w="5715">
                      <a:solidFill>
                        <a:srgbClr val="CFD8D8"/>
                      </a:solidFill>
                      <a:prstDash val="solid"/>
                    </a:lnT>
                    <a:lnB w="5715">
                      <a:solidFill>
                        <a:srgbClr val="CFD8D8"/>
                      </a:solidFill>
                      <a:prstDash val="solid"/>
                    </a:lnB>
                    <a:solidFill>
                      <a:srgbClr val="132E3B"/>
                    </a:solidFill>
                  </a:tcPr>
                </a:tc>
                <a:tc>
                  <a:txBody>
                    <a:bodyPr lIns="142875" tIns="95250" rIns="123825" bIns="95250"/>
                    <a:lstStyle/>
                    <a:p>
                      <a:r>
                        <a:rPr sz="1575" b="1">
                          <a:solidFill>
                            <a:srgbClr val="F5F7F8"/>
                          </a:solidFill>
                          <a:latin typeface="Arial"/>
                          <a:ea typeface="Arial"/>
                          <a:cs typeface="Arial"/>
                        </a:rPr>
                        <a:t>Validation</a:t>
                      </a:r>
                    </a:p>
                  </a:txBody>
                  <a:tcPr marL="91440" marR="91440" marT="45720" marB="45720" anchor="ctr">
                    <a:lnR w="5715">
                      <a:solidFill>
                        <a:srgbClr val="CFD8D8"/>
                      </a:solidFill>
                      <a:prstDash val="solid"/>
                    </a:lnR>
                    <a:lnT w="5715">
                      <a:solidFill>
                        <a:srgbClr val="CFD8D8"/>
                      </a:solidFill>
                      <a:prstDash val="solid"/>
                    </a:lnT>
                    <a:lnB w="5715">
                      <a:solidFill>
                        <a:srgbClr val="CFD8D8"/>
                      </a:solidFill>
                      <a:prstDash val="solid"/>
                    </a:lnB>
                    <a:solidFill>
                      <a:srgbClr val="132E3B"/>
                    </a:solidFill>
                  </a:tcPr>
                </a:tc>
                <a:tc>
                  <a:txBody>
                    <a:bodyPr lIns="142875" tIns="95250" rIns="123825" bIns="95250"/>
                    <a:lstStyle/>
                    <a:p>
                      <a:r>
                        <a:rPr sz="1575" b="1">
                          <a:solidFill>
                            <a:srgbClr val="F5F7F8"/>
                          </a:solidFill>
                          <a:latin typeface="Arial"/>
                          <a:ea typeface="Arial"/>
                          <a:cs typeface="Arial"/>
                        </a:rPr>
                        <a:t>Reserved test</a:t>
                      </a:r>
                    </a:p>
                  </a:txBody>
                  <a:tcPr marL="91440" marR="91440" marT="45720" marB="45720" anchor="ctr">
                    <a:lnR w="5715">
                      <a:solidFill>
                        <a:srgbClr val="CFD8D8"/>
                      </a:solidFill>
                      <a:prstDash val="solid"/>
                    </a:lnR>
                    <a:lnT w="5715">
                      <a:solidFill>
                        <a:srgbClr val="CFD8D8"/>
                      </a:solidFill>
                      <a:prstDash val="solid"/>
                    </a:lnT>
                    <a:lnB w="5715">
                      <a:solidFill>
                        <a:srgbClr val="CFD8D8"/>
                      </a:solidFill>
                      <a:prstDash val="solid"/>
                    </a:lnB>
                    <a:solidFill>
                      <a:srgbClr val="132E3B"/>
                    </a:solidFill>
                  </a:tcPr>
                </a:tc>
              </a:tr>
              <a:tr h="619125">
                <a:tc>
                  <a:txBody>
                    <a:bodyPr lIns="142875" tIns="95250" rIns="123825" bIns="95250"/>
                    <a:lstStyle/>
                    <a:p>
                      <a:r>
                        <a:rPr sz="1650" b="0">
                          <a:solidFill>
                            <a:srgbClr val="132E3B"/>
                          </a:solidFill>
                          <a:latin typeface="Arial"/>
                          <a:ea typeface="Arial"/>
                          <a:cs typeface="Arial"/>
                        </a:rPr>
                        <a:t>Boosted CGM</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10.55</a:t>
                      </a:r>
                    </a:p>
                  </a:txBody>
                  <a:tcPr marL="91440" marR="91440" marT="45720" marB="45720" anchor="ctr">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12.64</a:t>
                      </a:r>
                    </a:p>
                  </a:txBody>
                  <a:tcPr marL="91440" marR="91440" marT="45720" marB="45720" anchor="ctr">
                    <a:lnR w="5715">
                      <a:solidFill>
                        <a:srgbClr val="CFD8D8"/>
                      </a:solidFill>
                      <a:prstDash val="solid"/>
                    </a:lnR>
                    <a:lnB w="5715">
                      <a:solidFill>
                        <a:srgbClr val="CFD8D8"/>
                      </a:solidFill>
                      <a:prstDash val="solid"/>
                    </a:lnB>
                    <a:solidFill>
                      <a:srgbClr val="FFFFFF"/>
                    </a:solidFill>
                  </a:tcPr>
                </a:tc>
              </a:tr>
              <a:tr h="619125">
                <a:tc>
                  <a:txBody>
                    <a:bodyPr lIns="142875" tIns="95250" rIns="123825" bIns="95250"/>
                    <a:lstStyle/>
                    <a:p>
                      <a:r>
                        <a:rPr sz="1650" b="0">
                          <a:solidFill>
                            <a:srgbClr val="132E3B"/>
                          </a:solidFill>
                          <a:latin typeface="Arial"/>
                          <a:ea typeface="Arial"/>
                          <a:cs typeface="Arial"/>
                        </a:rPr>
                        <a:t>Clinical + CGM</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10.65</a:t>
                      </a:r>
                    </a:p>
                  </a:txBody>
                  <a:tcPr marL="91440" marR="91440" marT="45720" marB="45720" anchor="ctr">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12.53</a:t>
                      </a:r>
                    </a:p>
                  </a:txBody>
                  <a:tcPr marL="91440" marR="91440" marT="45720" marB="45720" anchor="ctr">
                    <a:lnR w="5715">
                      <a:solidFill>
                        <a:srgbClr val="CFD8D8"/>
                      </a:solidFill>
                      <a:prstDash val="solid"/>
                    </a:lnR>
                    <a:lnB w="5715">
                      <a:solidFill>
                        <a:srgbClr val="CFD8D8"/>
                      </a:solidFill>
                      <a:prstDash val="solid"/>
                    </a:lnB>
                    <a:solidFill>
                      <a:srgbClr val="E8EEEB"/>
                    </a:solidFill>
                  </a:tcPr>
                </a:tc>
              </a:tr>
              <a:tr h="619125">
                <a:tc>
                  <a:txBody>
                    <a:bodyPr lIns="142875" tIns="95250" rIns="123825" bIns="95250"/>
                    <a:lstStyle/>
                    <a:p>
                      <a:r>
                        <a:rPr sz="1650" b="0">
                          <a:solidFill>
                            <a:srgbClr val="132E3B"/>
                          </a:solidFill>
                          <a:latin typeface="Arial"/>
                          <a:ea typeface="Arial"/>
                          <a:cs typeface="Arial"/>
                        </a:rPr>
                        <a:t>Clinical + CGM + activity</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10.62</a:t>
                      </a:r>
                    </a:p>
                  </a:txBody>
                  <a:tcPr marL="91440" marR="91440" marT="45720" marB="45720" anchor="ctr">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12.47</a:t>
                      </a:r>
                    </a:p>
                  </a:txBody>
                  <a:tcPr marL="91440" marR="91440" marT="45720" marB="45720" anchor="ctr">
                    <a:lnR w="5715">
                      <a:solidFill>
                        <a:srgbClr val="CFD8D8"/>
                      </a:solidFill>
                      <a:prstDash val="solid"/>
                    </a:lnR>
                    <a:lnB w="5715">
                      <a:solidFill>
                        <a:srgbClr val="CFD8D8"/>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493A070-1725-4455-9BDF-BF5E6C061D1F}"/>
              </a:ext>
            </a:extLst>
          </p:cNvPr>
          <p:cNvSpPr>
            <a:spLocks xmlns:a="http://schemas.openxmlformats.org/drawingml/2006/main" noGrp="1"/>
          </p:cNvSpPr>
          <p:nvPr/>
        </p:nvSpPr>
        <p:spPr>
          <a:xfrm xmlns:a="http://schemas.openxmlformats.org/drawingml/2006/main">
            <a:off x="666750" y="47339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087E80"/>
                </a:solidFill>
                <a:latin typeface="Arial"/>
                <a:ea typeface="Arial"/>
                <a:cs typeface="Arial"/>
              </a:defRPr>
            </a:defPPr>
            <a:lvl1pPr>
              <a:defRPr sz="2925" b="1">
                <a:solidFill>
                  <a:srgbClr val="087E80"/>
                </a:solidFill>
                <a:latin typeface="Arial"/>
                <a:ea typeface="Arial"/>
                <a:cs typeface="Arial"/>
              </a:defRPr>
            </a:lvl1pPr>
            <a:lvl2pPr>
              <a:defRPr sz="2925" b="1">
                <a:solidFill>
                  <a:srgbClr val="087E80"/>
                </a:solidFill>
                <a:latin typeface="Arial"/>
                <a:ea typeface="Arial"/>
                <a:cs typeface="Arial"/>
              </a:defRPr>
            </a:lvl2pPr>
            <a:lvl3pPr>
              <a:defRPr sz="2925" b="1">
                <a:solidFill>
                  <a:srgbClr val="087E80"/>
                </a:solidFill>
                <a:latin typeface="Arial"/>
                <a:ea typeface="Arial"/>
                <a:cs typeface="Arial"/>
              </a:defRPr>
            </a:lvl3pPr>
            <a:lvl4pPr>
              <a:defRPr sz="2925" b="1">
                <a:solidFill>
                  <a:srgbClr val="087E80"/>
                </a:solidFill>
                <a:latin typeface="Arial"/>
                <a:ea typeface="Arial"/>
                <a:cs typeface="Arial"/>
              </a:defRPr>
            </a:lvl4pPr>
            <a:lvl5pPr>
              <a:defRPr sz="2925" b="1">
                <a:solidFill>
                  <a:srgbClr val="087E80"/>
                </a:solidFill>
                <a:latin typeface="Arial"/>
                <a:ea typeface="Arial"/>
                <a:cs typeface="Arial"/>
              </a:defRPr>
            </a:lvl5pPr>
            <a:lvl6pPr>
              <a:defRPr sz="2925" b="1">
                <a:solidFill>
                  <a:srgbClr val="087E80"/>
                </a:solidFill>
                <a:latin typeface="Arial"/>
                <a:ea typeface="Arial"/>
                <a:cs typeface="Arial"/>
              </a:defRPr>
            </a:lvl6pPr>
            <a:lvl7pPr>
              <a:defRPr sz="2925" b="1">
                <a:solidFill>
                  <a:srgbClr val="087E80"/>
                </a:solidFill>
                <a:latin typeface="Arial"/>
                <a:ea typeface="Arial"/>
                <a:cs typeface="Arial"/>
              </a:defRPr>
            </a:lvl7pPr>
            <a:lvl8pPr>
              <a:defRPr sz="2925" b="1">
                <a:solidFill>
                  <a:srgbClr val="087E80"/>
                </a:solidFill>
                <a:latin typeface="Arial"/>
                <a:ea typeface="Arial"/>
                <a:cs typeface="Arial"/>
              </a:defRPr>
            </a:lvl8pPr>
            <a:lvl9pPr>
              <a:defRPr sz="2925" b="1">
                <a:solidFill>
                  <a:srgbClr val="087E80"/>
                </a:solidFill>
                <a:latin typeface="Arial"/>
                <a:ea typeface="Arial"/>
                <a:cs typeface="Arial"/>
              </a:defRPr>
            </a:lvl9pPr>
          </a:lstStyle>
          <a:p xmlns:a="http://schemas.openxmlformats.org/drawingml/2006/main">
            <a:pPr>
              <a:defRPr sz="2925" b="1">
                <a:solidFill>
                  <a:srgbClr val="087E80"/>
                </a:solidFill>
                <a:latin typeface="Arial"/>
                <a:ea typeface="Arial"/>
                <a:cs typeface="Arial"/>
              </a:defRPr>
            </a:pPr>
            <a:r>
              <a:rPr sz="2925" b="1">
                <a:solidFill>
                  <a:srgbClr val="087E80"/>
                </a:solidFill>
                <a:latin typeface="Arial"/>
                <a:ea typeface="Arial"/>
                <a:cs typeface="Arial"/>
              </a:rPr>
              <a:t>CGM-only won validation.</a:t>
            </a:r>
          </a:p>
        </p:txBody>
      </p:sp>
      <p:sp>
        <p:nvSpPr>
          <p:cNvPr id="7" name="">
            <a:extLst xmlns:a="http://schemas.openxmlformats.org/drawingml/2006/main">
              <a:ext uri="{FF2B5EF4-FFF2-40B4-BE49-F238E27FC236}">
                <a16:creationId xmlns:a16="http://schemas.microsoft.com/office/drawing/2014/main" id="{1E01BF27-225E-4E2A-86FE-C388159AECD6}"/>
              </a:ext>
            </a:extLst>
          </p:cNvPr>
          <p:cNvSpPr>
            <a:spLocks xmlns:a="http://schemas.openxmlformats.org/drawingml/2006/main" noGrp="1"/>
          </p:cNvSpPr>
          <p:nvPr/>
        </p:nvSpPr>
        <p:spPr>
          <a:xfrm xmlns:a="http://schemas.openxmlformats.org/drawingml/2006/main">
            <a:off x="666750" y="53816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E3B"/>
                </a:solidFill>
                <a:latin typeface="Arial"/>
                <a:ea typeface="Arial"/>
                <a:cs typeface="Arial"/>
              </a:defRPr>
            </a:defPPr>
            <a:lvl1pPr>
              <a:defRPr sz="2025" b="0">
                <a:solidFill>
                  <a:srgbClr val="132E3B"/>
                </a:solidFill>
                <a:latin typeface="Arial"/>
                <a:ea typeface="Arial"/>
                <a:cs typeface="Arial"/>
              </a:defRPr>
            </a:lvl1pPr>
            <a:lvl2pPr>
              <a:defRPr sz="2025" b="0">
                <a:solidFill>
                  <a:srgbClr val="132E3B"/>
                </a:solidFill>
                <a:latin typeface="Arial"/>
                <a:ea typeface="Arial"/>
                <a:cs typeface="Arial"/>
              </a:defRPr>
            </a:lvl2pPr>
            <a:lvl3pPr>
              <a:defRPr sz="2025" b="0">
                <a:solidFill>
                  <a:srgbClr val="132E3B"/>
                </a:solidFill>
                <a:latin typeface="Arial"/>
                <a:ea typeface="Arial"/>
                <a:cs typeface="Arial"/>
              </a:defRPr>
            </a:lvl3pPr>
            <a:lvl4pPr>
              <a:defRPr sz="2025" b="0">
                <a:solidFill>
                  <a:srgbClr val="132E3B"/>
                </a:solidFill>
                <a:latin typeface="Arial"/>
                <a:ea typeface="Arial"/>
                <a:cs typeface="Arial"/>
              </a:defRPr>
            </a:lvl4pPr>
            <a:lvl5pPr>
              <a:defRPr sz="2025" b="0">
                <a:solidFill>
                  <a:srgbClr val="132E3B"/>
                </a:solidFill>
                <a:latin typeface="Arial"/>
                <a:ea typeface="Arial"/>
                <a:cs typeface="Arial"/>
              </a:defRPr>
            </a:lvl5pPr>
            <a:lvl6pPr>
              <a:defRPr sz="2025" b="0">
                <a:solidFill>
                  <a:srgbClr val="132E3B"/>
                </a:solidFill>
                <a:latin typeface="Arial"/>
                <a:ea typeface="Arial"/>
                <a:cs typeface="Arial"/>
              </a:defRPr>
            </a:lvl6pPr>
            <a:lvl7pPr>
              <a:defRPr sz="2025" b="0">
                <a:solidFill>
                  <a:srgbClr val="132E3B"/>
                </a:solidFill>
                <a:latin typeface="Arial"/>
                <a:ea typeface="Arial"/>
                <a:cs typeface="Arial"/>
              </a:defRPr>
            </a:lvl7pPr>
            <a:lvl8pPr>
              <a:defRPr sz="2025" b="0">
                <a:solidFill>
                  <a:srgbClr val="132E3B"/>
                </a:solidFill>
                <a:latin typeface="Arial"/>
                <a:ea typeface="Arial"/>
                <a:cs typeface="Arial"/>
              </a:defRPr>
            </a:lvl8pPr>
            <a:lvl9pPr>
              <a:defRPr sz="2025" b="0">
                <a:solidFill>
                  <a:srgbClr val="132E3B"/>
                </a:solidFill>
                <a:latin typeface="Arial"/>
                <a:ea typeface="Arial"/>
                <a:cs typeface="Arial"/>
              </a:defRPr>
            </a:lvl9pPr>
          </a:lstStyle>
          <a:p xmlns:a="http://schemas.openxmlformats.org/drawingml/2006/main">
            <a:pPr>
              <a:defRPr sz="2025" b="0">
                <a:solidFill>
                  <a:srgbClr val="132E3B"/>
                </a:solidFill>
                <a:latin typeface="Arial"/>
                <a:ea typeface="Arial"/>
                <a:cs typeface="Arial"/>
              </a:defRPr>
            </a:pPr>
            <a:r>
              <a:rPr sz="2025" b="0">
                <a:solidFill>
                  <a:srgbClr val="132E3B"/>
                </a:solidFill>
                <a:latin typeface="Arial"/>
                <a:ea typeface="Arial"/>
                <a:cs typeface="Arial"/>
              </a:rPr>
              <a:t>Online bias correction also failed to improve validation.</a:t>
            </a:r>
          </a:p>
          <a:p xmlns:a="http://schemas.openxmlformats.org/drawingml/2006/main">
            <a:pPr>
              <a:defRPr sz="2025" b="0">
                <a:solidFill>
                  <a:srgbClr val="132E3B"/>
                </a:solidFill>
                <a:latin typeface="Arial"/>
                <a:ea typeface="Arial"/>
                <a:cs typeface="Arial"/>
              </a:defRPr>
            </a:pPr>
            <a:r>
              <a:rPr sz="2025" b="0">
                <a:solidFill>
                  <a:srgbClr val="132E3B"/>
                </a:solidFill>
                <a:latin typeface="Arial"/>
                <a:ea typeface="Arial"/>
                <a:cs typeface="Arial"/>
              </a:rPr>
              <a:t>The deployed update rate is zero.</a:t>
            </a:r>
          </a:p>
        </p:txBody>
      </p:sp>
    </p:spTree>
    <p:extLst>
      <p:ext uri="{BB962C8B-B14F-4D97-AF65-F5344CB8AC3E}">
        <p14:creationId xmlns:p14="http://schemas.microsoft.com/office/powerpoint/2010/main" val="788717957"/>
      </p:ext>
    </p:extLst>
  </p:cSld>
</p:sld>
</file>

<file path=ppt/slides/slide1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46BF39-C3B4-4631-8BEE-B4146760C1B1}"/>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5F7F8"/>
                </a:solidFill>
                <a:latin typeface="Arial"/>
                <a:ea typeface="Arial"/>
                <a:cs typeface="Arial"/>
              </a:defRPr>
            </a:defPPr>
            <a:lvl1pPr>
              <a:defRPr sz="3450" b="1">
                <a:solidFill>
                  <a:srgbClr val="F5F7F8"/>
                </a:solidFill>
                <a:latin typeface="Arial"/>
                <a:ea typeface="Arial"/>
                <a:cs typeface="Arial"/>
              </a:defRPr>
            </a:lvl1pPr>
            <a:lvl2pPr>
              <a:defRPr sz="3450" b="1">
                <a:solidFill>
                  <a:srgbClr val="F5F7F8"/>
                </a:solidFill>
                <a:latin typeface="Arial"/>
                <a:ea typeface="Arial"/>
                <a:cs typeface="Arial"/>
              </a:defRPr>
            </a:lvl2pPr>
            <a:lvl3pPr>
              <a:defRPr sz="3450" b="1">
                <a:solidFill>
                  <a:srgbClr val="F5F7F8"/>
                </a:solidFill>
                <a:latin typeface="Arial"/>
                <a:ea typeface="Arial"/>
                <a:cs typeface="Arial"/>
              </a:defRPr>
            </a:lvl3pPr>
            <a:lvl4pPr>
              <a:defRPr sz="3450" b="1">
                <a:solidFill>
                  <a:srgbClr val="F5F7F8"/>
                </a:solidFill>
                <a:latin typeface="Arial"/>
                <a:ea typeface="Arial"/>
                <a:cs typeface="Arial"/>
              </a:defRPr>
            </a:lvl4pPr>
            <a:lvl5pPr>
              <a:defRPr sz="3450" b="1">
                <a:solidFill>
                  <a:srgbClr val="F5F7F8"/>
                </a:solidFill>
                <a:latin typeface="Arial"/>
                <a:ea typeface="Arial"/>
                <a:cs typeface="Arial"/>
              </a:defRPr>
            </a:lvl5pPr>
            <a:lvl6pPr>
              <a:defRPr sz="3450" b="1">
                <a:solidFill>
                  <a:srgbClr val="F5F7F8"/>
                </a:solidFill>
                <a:latin typeface="Arial"/>
                <a:ea typeface="Arial"/>
                <a:cs typeface="Arial"/>
              </a:defRPr>
            </a:lvl6pPr>
            <a:lvl7pPr>
              <a:defRPr sz="3450" b="1">
                <a:solidFill>
                  <a:srgbClr val="F5F7F8"/>
                </a:solidFill>
                <a:latin typeface="Arial"/>
                <a:ea typeface="Arial"/>
                <a:cs typeface="Arial"/>
              </a:defRPr>
            </a:lvl7pPr>
            <a:lvl8pPr>
              <a:defRPr sz="3450" b="1">
                <a:solidFill>
                  <a:srgbClr val="F5F7F8"/>
                </a:solidFill>
                <a:latin typeface="Arial"/>
                <a:ea typeface="Arial"/>
                <a:cs typeface="Arial"/>
              </a:defRPr>
            </a:lvl8pPr>
            <a:lvl9pPr>
              <a:defRPr sz="3450" b="1">
                <a:solidFill>
                  <a:srgbClr val="F5F7F8"/>
                </a:solidFill>
                <a:latin typeface="Arial"/>
                <a:ea typeface="Arial"/>
                <a:cs typeface="Arial"/>
              </a:defRPr>
            </a:lvl9pPr>
          </a:lstStyle>
          <a:p xmlns:a="http://schemas.openxmlformats.org/drawingml/2006/main">
            <a:pPr>
              <a:defRPr sz="3450" b="1">
                <a:solidFill>
                  <a:srgbClr val="F5F7F8"/>
                </a:solidFill>
                <a:latin typeface="Arial"/>
                <a:ea typeface="Arial"/>
                <a:cs typeface="Arial"/>
              </a:defRPr>
            </a:pPr>
            <a:r>
              <a:rPr sz="3450" b="1">
                <a:solidFill>
                  <a:srgbClr val="F5F7F8"/>
                </a:solidFill>
                <a:latin typeface="Arial"/>
                <a:ea typeface="Arial"/>
                <a:cs typeface="Arial"/>
              </a:rPr>
              <a:t>Corrected warning evaluation</a:t>
            </a:r>
          </a:p>
        </p:txBody>
      </p:sp>
      <p:sp>
        <p:nvSpPr>
          <p:cNvPr id="2" name="">
            <a:extLst xmlns:a="http://schemas.openxmlformats.org/drawingml/2006/main">
              <a:ext uri="{FF2B5EF4-FFF2-40B4-BE49-F238E27FC236}">
                <a16:creationId xmlns:a16="http://schemas.microsoft.com/office/drawing/2014/main" id="{C4634B66-08AF-4D40-8315-97BA1FE49AD3}"/>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7E2D0"/>
                </a:solidFill>
                <a:latin typeface="Arial"/>
                <a:ea typeface="Arial"/>
                <a:cs typeface="Arial"/>
              </a:defRPr>
            </a:defPPr>
            <a:lvl1pPr>
              <a:defRPr sz="1200" b="1">
                <a:solidFill>
                  <a:srgbClr val="67E2D0"/>
                </a:solidFill>
                <a:latin typeface="Arial"/>
                <a:ea typeface="Arial"/>
                <a:cs typeface="Arial"/>
              </a:defRPr>
            </a:lvl1pPr>
            <a:lvl2pPr>
              <a:defRPr sz="1200" b="1">
                <a:solidFill>
                  <a:srgbClr val="67E2D0"/>
                </a:solidFill>
                <a:latin typeface="Arial"/>
                <a:ea typeface="Arial"/>
                <a:cs typeface="Arial"/>
              </a:defRPr>
            </a:lvl2pPr>
            <a:lvl3pPr>
              <a:defRPr sz="1200" b="1">
                <a:solidFill>
                  <a:srgbClr val="67E2D0"/>
                </a:solidFill>
                <a:latin typeface="Arial"/>
                <a:ea typeface="Arial"/>
                <a:cs typeface="Arial"/>
              </a:defRPr>
            </a:lvl3pPr>
            <a:lvl4pPr>
              <a:defRPr sz="1200" b="1">
                <a:solidFill>
                  <a:srgbClr val="67E2D0"/>
                </a:solidFill>
                <a:latin typeface="Arial"/>
                <a:ea typeface="Arial"/>
                <a:cs typeface="Arial"/>
              </a:defRPr>
            </a:lvl4pPr>
            <a:lvl5pPr>
              <a:defRPr sz="1200" b="1">
                <a:solidFill>
                  <a:srgbClr val="67E2D0"/>
                </a:solidFill>
                <a:latin typeface="Arial"/>
                <a:ea typeface="Arial"/>
                <a:cs typeface="Arial"/>
              </a:defRPr>
            </a:lvl5pPr>
            <a:lvl6pPr>
              <a:defRPr sz="1200" b="1">
                <a:solidFill>
                  <a:srgbClr val="67E2D0"/>
                </a:solidFill>
                <a:latin typeface="Arial"/>
                <a:ea typeface="Arial"/>
                <a:cs typeface="Arial"/>
              </a:defRPr>
            </a:lvl6pPr>
            <a:lvl7pPr>
              <a:defRPr sz="1200" b="1">
                <a:solidFill>
                  <a:srgbClr val="67E2D0"/>
                </a:solidFill>
                <a:latin typeface="Arial"/>
                <a:ea typeface="Arial"/>
                <a:cs typeface="Arial"/>
              </a:defRPr>
            </a:lvl7pPr>
            <a:lvl8pPr>
              <a:defRPr sz="1200" b="1">
                <a:solidFill>
                  <a:srgbClr val="67E2D0"/>
                </a:solidFill>
                <a:latin typeface="Arial"/>
                <a:ea typeface="Arial"/>
                <a:cs typeface="Arial"/>
              </a:defRPr>
            </a:lvl8pPr>
            <a:lvl9pPr>
              <a:defRPr sz="1200" b="1">
                <a:solidFill>
                  <a:srgbClr val="67E2D0"/>
                </a:solidFill>
                <a:latin typeface="Arial"/>
                <a:ea typeface="Arial"/>
                <a:cs typeface="Arial"/>
              </a:defRPr>
            </a:lvl9pPr>
          </a:lstStyle>
          <a:p xmlns:a="http://schemas.openxmlformats.org/drawingml/2006/main">
            <a:pPr>
              <a:defRPr sz="1200" b="1">
                <a:solidFill>
                  <a:srgbClr val="67E2D0"/>
                </a:solidFill>
                <a:latin typeface="Arial"/>
                <a:ea typeface="Arial"/>
                <a:cs typeface="Arial"/>
              </a:defRPr>
            </a:pPr>
            <a:r>
              <a:rPr sz="1200" b="1">
                <a:solidFill>
                  <a:srgbClr val="67E2D0"/>
                </a:solidFill>
                <a:latin typeface="Arial"/>
                <a:ea typeface="Arial"/>
                <a:cs typeface="Arial"/>
              </a:rPr>
              <a:t>SCORING V2</a:t>
            </a:r>
          </a:p>
        </p:txBody>
      </p:sp>
      <p:sp>
        <p:nvSpPr>
          <p:cNvPr id="3" name="">
            <a:extLst xmlns:a="http://schemas.openxmlformats.org/drawingml/2006/main">
              <a:ext uri="{FF2B5EF4-FFF2-40B4-BE49-F238E27FC236}">
                <a16:creationId xmlns:a16="http://schemas.microsoft.com/office/drawing/2014/main" id="{104B8A9A-BF8D-4164-8C37-6FA97584CDC6}"/>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26D7A2DB-1736-4F67-BD2A-CBE868AB2585}"/>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Frozen models and thresholds. Retrospective research counts, not overall accuracy.</a:t>
            </a:r>
          </a:p>
        </p:txBody>
      </p:sp>
      <p:sp>
        <p:nvSpPr>
          <p:cNvPr id="5" name="">
            <a:extLst xmlns:a="http://schemas.openxmlformats.org/drawingml/2006/main">
              <a:ext uri="{FF2B5EF4-FFF2-40B4-BE49-F238E27FC236}">
                <a16:creationId xmlns:a16="http://schemas.microsoft.com/office/drawing/2014/main" id="{8CC243BF-4C1B-4B39-87E8-B801D47B3673}"/>
              </a:ext>
            </a:extLst>
          </p:cNvPr>
          <p:cNvSpPr>
            <a:spLocks xmlns:a="http://schemas.openxmlformats.org/drawingml/2006/main" noGrp="1"/>
          </p:cNvSpPr>
          <p:nvPr/>
        </p:nvSpPr>
        <p:spPr>
          <a:xfrm xmlns:a="http://schemas.openxmlformats.org/drawingml/2006/main">
            <a:off x="647700" y="1905000"/>
            <a:ext cx="619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67E2D0"/>
                </a:solidFill>
                <a:latin typeface="Arial"/>
                <a:ea typeface="Arial"/>
                <a:cs typeface="Arial"/>
              </a:defRPr>
            </a:defPPr>
            <a:lvl1pPr>
              <a:defRPr sz="7500" b="1">
                <a:solidFill>
                  <a:srgbClr val="67E2D0"/>
                </a:solidFill>
                <a:latin typeface="Arial"/>
                <a:ea typeface="Arial"/>
                <a:cs typeface="Arial"/>
              </a:defRPr>
            </a:lvl1pPr>
            <a:lvl2pPr>
              <a:defRPr sz="7500" b="1">
                <a:solidFill>
                  <a:srgbClr val="67E2D0"/>
                </a:solidFill>
                <a:latin typeface="Arial"/>
                <a:ea typeface="Arial"/>
                <a:cs typeface="Arial"/>
              </a:defRPr>
            </a:lvl2pPr>
            <a:lvl3pPr>
              <a:defRPr sz="7500" b="1">
                <a:solidFill>
                  <a:srgbClr val="67E2D0"/>
                </a:solidFill>
                <a:latin typeface="Arial"/>
                <a:ea typeface="Arial"/>
                <a:cs typeface="Arial"/>
              </a:defRPr>
            </a:lvl3pPr>
            <a:lvl4pPr>
              <a:defRPr sz="7500" b="1">
                <a:solidFill>
                  <a:srgbClr val="67E2D0"/>
                </a:solidFill>
                <a:latin typeface="Arial"/>
                <a:ea typeface="Arial"/>
                <a:cs typeface="Arial"/>
              </a:defRPr>
            </a:lvl4pPr>
            <a:lvl5pPr>
              <a:defRPr sz="7500" b="1">
                <a:solidFill>
                  <a:srgbClr val="67E2D0"/>
                </a:solidFill>
                <a:latin typeface="Arial"/>
                <a:ea typeface="Arial"/>
                <a:cs typeface="Arial"/>
              </a:defRPr>
            </a:lvl5pPr>
            <a:lvl6pPr>
              <a:defRPr sz="7500" b="1">
                <a:solidFill>
                  <a:srgbClr val="67E2D0"/>
                </a:solidFill>
                <a:latin typeface="Arial"/>
                <a:ea typeface="Arial"/>
                <a:cs typeface="Arial"/>
              </a:defRPr>
            </a:lvl6pPr>
            <a:lvl7pPr>
              <a:defRPr sz="7500" b="1">
                <a:solidFill>
                  <a:srgbClr val="67E2D0"/>
                </a:solidFill>
                <a:latin typeface="Arial"/>
                <a:ea typeface="Arial"/>
                <a:cs typeface="Arial"/>
              </a:defRPr>
            </a:lvl7pPr>
            <a:lvl8pPr>
              <a:defRPr sz="7500" b="1">
                <a:solidFill>
                  <a:srgbClr val="67E2D0"/>
                </a:solidFill>
                <a:latin typeface="Arial"/>
                <a:ea typeface="Arial"/>
                <a:cs typeface="Arial"/>
              </a:defRPr>
            </a:lvl8pPr>
            <a:lvl9pPr>
              <a:defRPr sz="7500" b="1">
                <a:solidFill>
                  <a:srgbClr val="67E2D0"/>
                </a:solidFill>
                <a:latin typeface="Arial"/>
                <a:ea typeface="Arial"/>
                <a:cs typeface="Arial"/>
              </a:defRPr>
            </a:lvl9pPr>
          </a:lstStyle>
          <a:p xmlns:a="http://schemas.openxmlformats.org/drawingml/2006/main">
            <a:pPr>
              <a:defRPr sz="7500" b="1">
                <a:solidFill>
                  <a:srgbClr val="67E2D0"/>
                </a:solidFill>
                <a:latin typeface="Arial"/>
                <a:ea typeface="Arial"/>
                <a:cs typeface="Arial"/>
              </a:defRPr>
            </a:pPr>
            <a:r>
              <a:rPr sz="7500" b="1">
                <a:solidFill>
                  <a:srgbClr val="67E2D0"/>
                </a:solidFill>
                <a:latin typeface="Arial"/>
                <a:ea typeface="Arial"/>
                <a:cs typeface="Arial"/>
              </a:rPr>
              <a:t>162 / 163</a:t>
            </a:r>
          </a:p>
        </p:txBody>
      </p:sp>
      <p:sp>
        <p:nvSpPr>
          <p:cNvPr id="6" name="">
            <a:extLst xmlns:a="http://schemas.openxmlformats.org/drawingml/2006/main">
              <a:ext uri="{FF2B5EF4-FFF2-40B4-BE49-F238E27FC236}">
                <a16:creationId xmlns:a16="http://schemas.microsoft.com/office/drawing/2014/main" id="{F2D4535B-2996-4E7F-A01F-A663E38C79C2}"/>
              </a:ext>
            </a:extLst>
          </p:cNvPr>
          <p:cNvSpPr>
            <a:spLocks xmlns:a="http://schemas.openxmlformats.org/drawingml/2006/main" noGrp="1"/>
          </p:cNvSpPr>
          <p:nvPr/>
        </p:nvSpPr>
        <p:spPr>
          <a:xfrm xmlns:a="http://schemas.openxmlformats.org/drawingml/2006/main">
            <a:off x="666750" y="3143250"/>
            <a:ext cx="609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5F7F8"/>
                </a:solidFill>
                <a:latin typeface="Arial"/>
                <a:ea typeface="Arial"/>
                <a:cs typeface="Arial"/>
              </a:defRPr>
            </a:defPPr>
            <a:lvl1pPr>
              <a:defRPr sz="2250" b="0">
                <a:solidFill>
                  <a:srgbClr val="F5F7F8"/>
                </a:solidFill>
                <a:latin typeface="Arial"/>
                <a:ea typeface="Arial"/>
                <a:cs typeface="Arial"/>
              </a:defRPr>
            </a:lvl1pPr>
            <a:lvl2pPr>
              <a:defRPr sz="2250" b="0">
                <a:solidFill>
                  <a:srgbClr val="F5F7F8"/>
                </a:solidFill>
                <a:latin typeface="Arial"/>
                <a:ea typeface="Arial"/>
                <a:cs typeface="Arial"/>
              </a:defRPr>
            </a:lvl2pPr>
            <a:lvl3pPr>
              <a:defRPr sz="2250" b="0">
                <a:solidFill>
                  <a:srgbClr val="F5F7F8"/>
                </a:solidFill>
                <a:latin typeface="Arial"/>
                <a:ea typeface="Arial"/>
                <a:cs typeface="Arial"/>
              </a:defRPr>
            </a:lvl3pPr>
            <a:lvl4pPr>
              <a:defRPr sz="2250" b="0">
                <a:solidFill>
                  <a:srgbClr val="F5F7F8"/>
                </a:solidFill>
                <a:latin typeface="Arial"/>
                <a:ea typeface="Arial"/>
                <a:cs typeface="Arial"/>
              </a:defRPr>
            </a:lvl4pPr>
            <a:lvl5pPr>
              <a:defRPr sz="2250" b="0">
                <a:solidFill>
                  <a:srgbClr val="F5F7F8"/>
                </a:solidFill>
                <a:latin typeface="Arial"/>
                <a:ea typeface="Arial"/>
                <a:cs typeface="Arial"/>
              </a:defRPr>
            </a:lvl5pPr>
            <a:lvl6pPr>
              <a:defRPr sz="2250" b="0">
                <a:solidFill>
                  <a:srgbClr val="F5F7F8"/>
                </a:solidFill>
                <a:latin typeface="Arial"/>
                <a:ea typeface="Arial"/>
                <a:cs typeface="Arial"/>
              </a:defRPr>
            </a:lvl6pPr>
            <a:lvl7pPr>
              <a:defRPr sz="2250" b="0">
                <a:solidFill>
                  <a:srgbClr val="F5F7F8"/>
                </a:solidFill>
                <a:latin typeface="Arial"/>
                <a:ea typeface="Arial"/>
                <a:cs typeface="Arial"/>
              </a:defRPr>
            </a:lvl7pPr>
            <a:lvl8pPr>
              <a:defRPr sz="2250" b="0">
                <a:solidFill>
                  <a:srgbClr val="F5F7F8"/>
                </a:solidFill>
                <a:latin typeface="Arial"/>
                <a:ea typeface="Arial"/>
                <a:cs typeface="Arial"/>
              </a:defRPr>
            </a:lvl8pPr>
            <a:lvl9pPr>
              <a:defRPr sz="2250" b="0">
                <a:solidFill>
                  <a:srgbClr val="F5F7F8"/>
                </a:solidFill>
                <a:latin typeface="Arial"/>
                <a:ea typeface="Arial"/>
                <a:cs typeface="Arial"/>
              </a:defRPr>
            </a:lvl9pPr>
          </a:lstStyle>
          <a:p xmlns:a="http://schemas.openxmlformats.org/drawingml/2006/main">
            <a:pPr>
              <a:defRPr sz="2250" b="0">
                <a:solidFill>
                  <a:srgbClr val="F5F7F8"/>
                </a:solidFill>
                <a:latin typeface="Arial"/>
                <a:ea typeface="Arial"/>
                <a:cs typeface="Arial"/>
              </a:defRPr>
            </a:pPr>
            <a:r>
              <a:rPr sz="2250" b="0">
                <a:solidFill>
                  <a:srgbClr val="F5F7F8"/>
                </a:solidFill>
                <a:latin typeface="Arial"/>
                <a:ea typeface="Arial"/>
                <a:cs typeface="Arial"/>
              </a:rPr>
              <a:t>eligible onsets credited</a:t>
            </a:r>
          </a:p>
        </p:txBody>
      </p:sp>
      <p:sp>
        <p:nvSpPr>
          <p:cNvPr id="7" name="">
            <a:extLst xmlns:a="http://schemas.openxmlformats.org/drawingml/2006/main">
              <a:ext uri="{FF2B5EF4-FFF2-40B4-BE49-F238E27FC236}">
                <a16:creationId xmlns:a16="http://schemas.microsoft.com/office/drawing/2014/main" id="{9D215D84-412B-4A48-8571-4E7DF81A0CFD}"/>
              </a:ext>
            </a:extLst>
          </p:cNvPr>
          <p:cNvSpPr>
            <a:spLocks xmlns:a="http://schemas.openxmlformats.org/drawingml/2006/main" noGrp="1"/>
          </p:cNvSpPr>
          <p:nvPr/>
        </p:nvSpPr>
        <p:spPr>
          <a:xfrm xmlns:a="http://schemas.openxmlformats.org/drawingml/2006/main">
            <a:off x="666750" y="4238625"/>
            <a:ext cx="676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5F7F8"/>
                </a:solidFill>
                <a:latin typeface="Arial"/>
                <a:ea typeface="Arial"/>
                <a:cs typeface="Arial"/>
              </a:defRPr>
            </a:defPPr>
            <a:lvl1pPr>
              <a:defRPr sz="2550" b="0">
                <a:solidFill>
                  <a:srgbClr val="F5F7F8"/>
                </a:solidFill>
                <a:latin typeface="Arial"/>
                <a:ea typeface="Arial"/>
                <a:cs typeface="Arial"/>
              </a:defRPr>
            </a:lvl1pPr>
            <a:lvl2pPr>
              <a:defRPr sz="2550" b="0">
                <a:solidFill>
                  <a:srgbClr val="F5F7F8"/>
                </a:solidFill>
                <a:latin typeface="Arial"/>
                <a:ea typeface="Arial"/>
                <a:cs typeface="Arial"/>
              </a:defRPr>
            </a:lvl2pPr>
            <a:lvl3pPr>
              <a:defRPr sz="2550" b="0">
                <a:solidFill>
                  <a:srgbClr val="F5F7F8"/>
                </a:solidFill>
                <a:latin typeface="Arial"/>
                <a:ea typeface="Arial"/>
                <a:cs typeface="Arial"/>
              </a:defRPr>
            </a:lvl3pPr>
            <a:lvl4pPr>
              <a:defRPr sz="2550" b="0">
                <a:solidFill>
                  <a:srgbClr val="F5F7F8"/>
                </a:solidFill>
                <a:latin typeface="Arial"/>
                <a:ea typeface="Arial"/>
                <a:cs typeface="Arial"/>
              </a:defRPr>
            </a:lvl4pPr>
            <a:lvl5pPr>
              <a:defRPr sz="2550" b="0">
                <a:solidFill>
                  <a:srgbClr val="F5F7F8"/>
                </a:solidFill>
                <a:latin typeface="Arial"/>
                <a:ea typeface="Arial"/>
                <a:cs typeface="Arial"/>
              </a:defRPr>
            </a:lvl5pPr>
            <a:lvl6pPr>
              <a:defRPr sz="2550" b="0">
                <a:solidFill>
                  <a:srgbClr val="F5F7F8"/>
                </a:solidFill>
                <a:latin typeface="Arial"/>
                <a:ea typeface="Arial"/>
                <a:cs typeface="Arial"/>
              </a:defRPr>
            </a:lvl6pPr>
            <a:lvl7pPr>
              <a:defRPr sz="2550" b="0">
                <a:solidFill>
                  <a:srgbClr val="F5F7F8"/>
                </a:solidFill>
                <a:latin typeface="Arial"/>
                <a:ea typeface="Arial"/>
                <a:cs typeface="Arial"/>
              </a:defRPr>
            </a:lvl7pPr>
            <a:lvl8pPr>
              <a:defRPr sz="2550" b="0">
                <a:solidFill>
                  <a:srgbClr val="F5F7F8"/>
                </a:solidFill>
                <a:latin typeface="Arial"/>
                <a:ea typeface="Arial"/>
                <a:cs typeface="Arial"/>
              </a:defRPr>
            </a:lvl8pPr>
            <a:lvl9pPr>
              <a:defRPr sz="2550" b="0">
                <a:solidFill>
                  <a:srgbClr val="F5F7F8"/>
                </a:solidFill>
                <a:latin typeface="Arial"/>
                <a:ea typeface="Arial"/>
                <a:cs typeface="Arial"/>
              </a:defRPr>
            </a:lvl9pPr>
          </a:lstStyle>
          <a:p xmlns:a="http://schemas.openxmlformats.org/drawingml/2006/main">
            <a:pPr>
              <a:defRPr sz="2550" b="0">
                <a:solidFill>
                  <a:srgbClr val="F5F7F8"/>
                </a:solidFill>
                <a:latin typeface="Arial"/>
                <a:ea typeface="Arial"/>
                <a:cs typeface="Arial"/>
              </a:defRPr>
            </a:pPr>
            <a:r>
              <a:rPr sz="2550" b="0">
                <a:solidFill>
                  <a:srgbClr val="F5F7F8"/>
                </a:solidFill>
                <a:latin typeface="Arial"/>
                <a:ea typeface="Arial"/>
                <a:cs typeface="Arial"/>
              </a:rPr>
              <a:t>268 false warnings</a:t>
            </a:r>
          </a:p>
          <a:p xmlns:a="http://schemas.openxmlformats.org/drawingml/2006/main">
            <a:pPr>
              <a:defRPr sz="2550" b="0">
                <a:solidFill>
                  <a:srgbClr val="F5F7F8"/>
                </a:solidFill>
                <a:latin typeface="Arial"/>
                <a:ea typeface="Arial"/>
                <a:cs typeface="Arial"/>
              </a:defRPr>
            </a:pPr>
            <a:r>
              <a:rPr sz="2550" b="0">
                <a:solidFill>
                  <a:srgbClr val="F5F7F8"/>
                </a:solidFill>
                <a:latin typeface="Arial"/>
                <a:ea typeface="Arial"/>
                <a:cs typeface="Arial"/>
              </a:rPr>
              <a:t>3 warnings with unknown outcomes</a:t>
            </a:r>
          </a:p>
        </p:txBody>
      </p:sp>
      <p:sp>
        <p:nvSpPr>
          <p:cNvPr id="8" name="">
            <a:extLst xmlns:a="http://schemas.openxmlformats.org/drawingml/2006/main">
              <a:ext uri="{FF2B5EF4-FFF2-40B4-BE49-F238E27FC236}">
                <a16:creationId xmlns:a16="http://schemas.microsoft.com/office/drawing/2014/main" id="{91218F9C-B4B6-435A-B320-20B0EB184624}"/>
              </a:ext>
            </a:extLst>
          </p:cNvPr>
          <p:cNvSpPr>
            <a:spLocks xmlns:a="http://schemas.openxmlformats.org/drawingml/2006/main" noGrp="1"/>
          </p:cNvSpPr>
          <p:nvPr/>
        </p:nvSpPr>
        <p:spPr>
          <a:xfrm xmlns:a="http://schemas.openxmlformats.org/drawingml/2006/main">
            <a:off x="8334375" y="2190750"/>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67E2D0"/>
                </a:solidFill>
                <a:latin typeface="Arial"/>
                <a:ea typeface="Arial"/>
                <a:cs typeface="Arial"/>
              </a:defRPr>
            </a:defPPr>
            <a:lvl1pPr>
              <a:defRPr sz="2100" b="1">
                <a:solidFill>
                  <a:srgbClr val="67E2D0"/>
                </a:solidFill>
                <a:latin typeface="Arial"/>
                <a:ea typeface="Arial"/>
                <a:cs typeface="Arial"/>
              </a:defRPr>
            </a:lvl1pPr>
            <a:lvl2pPr>
              <a:defRPr sz="2100" b="1">
                <a:solidFill>
                  <a:srgbClr val="67E2D0"/>
                </a:solidFill>
                <a:latin typeface="Arial"/>
                <a:ea typeface="Arial"/>
                <a:cs typeface="Arial"/>
              </a:defRPr>
            </a:lvl2pPr>
            <a:lvl3pPr>
              <a:defRPr sz="2100" b="1">
                <a:solidFill>
                  <a:srgbClr val="67E2D0"/>
                </a:solidFill>
                <a:latin typeface="Arial"/>
                <a:ea typeface="Arial"/>
                <a:cs typeface="Arial"/>
              </a:defRPr>
            </a:lvl3pPr>
            <a:lvl4pPr>
              <a:defRPr sz="2100" b="1">
                <a:solidFill>
                  <a:srgbClr val="67E2D0"/>
                </a:solidFill>
                <a:latin typeface="Arial"/>
                <a:ea typeface="Arial"/>
                <a:cs typeface="Arial"/>
              </a:defRPr>
            </a:lvl4pPr>
            <a:lvl5pPr>
              <a:defRPr sz="2100" b="1">
                <a:solidFill>
                  <a:srgbClr val="67E2D0"/>
                </a:solidFill>
                <a:latin typeface="Arial"/>
                <a:ea typeface="Arial"/>
                <a:cs typeface="Arial"/>
              </a:defRPr>
            </a:lvl5pPr>
            <a:lvl6pPr>
              <a:defRPr sz="2100" b="1">
                <a:solidFill>
                  <a:srgbClr val="67E2D0"/>
                </a:solidFill>
                <a:latin typeface="Arial"/>
                <a:ea typeface="Arial"/>
                <a:cs typeface="Arial"/>
              </a:defRPr>
            </a:lvl6pPr>
            <a:lvl7pPr>
              <a:defRPr sz="2100" b="1">
                <a:solidFill>
                  <a:srgbClr val="67E2D0"/>
                </a:solidFill>
                <a:latin typeface="Arial"/>
                <a:ea typeface="Arial"/>
                <a:cs typeface="Arial"/>
              </a:defRPr>
            </a:lvl7pPr>
            <a:lvl8pPr>
              <a:defRPr sz="2100" b="1">
                <a:solidFill>
                  <a:srgbClr val="67E2D0"/>
                </a:solidFill>
                <a:latin typeface="Arial"/>
                <a:ea typeface="Arial"/>
                <a:cs typeface="Arial"/>
              </a:defRPr>
            </a:lvl8pPr>
            <a:lvl9pPr>
              <a:defRPr sz="2100" b="1">
                <a:solidFill>
                  <a:srgbClr val="67E2D0"/>
                </a:solidFill>
                <a:latin typeface="Arial"/>
                <a:ea typeface="Arial"/>
                <a:cs typeface="Arial"/>
              </a:defRPr>
            </a:lvl9pPr>
          </a:lstStyle>
          <a:p xmlns:a="http://schemas.openxmlformats.org/drawingml/2006/main">
            <a:pPr>
              <a:defRPr sz="2100" b="1">
                <a:solidFill>
                  <a:srgbClr val="67E2D0"/>
                </a:solidFill>
                <a:latin typeface="Arial"/>
                <a:ea typeface="Arial"/>
                <a:cs typeface="Arial"/>
              </a:defRPr>
            </a:pPr>
            <a:r>
              <a:rPr sz="2100" b="1">
                <a:solidFill>
                  <a:srgbClr val="67E2D0"/>
                </a:solidFill>
                <a:latin typeface="Arial"/>
                <a:ea typeface="Arial"/>
                <a:cs typeface="Arial"/>
              </a:rPr>
              <a:t>What changed</a:t>
            </a:r>
          </a:p>
        </p:txBody>
      </p:sp>
      <p:sp>
        <p:nvSpPr>
          <p:cNvPr id="9" name="">
            <a:extLst xmlns:a="http://schemas.openxmlformats.org/drawingml/2006/main">
              <a:ext uri="{FF2B5EF4-FFF2-40B4-BE49-F238E27FC236}">
                <a16:creationId xmlns:a16="http://schemas.microsoft.com/office/drawing/2014/main" id="{B9BF3A0F-0C24-4637-AC18-DC0B7838596C}"/>
              </a:ext>
            </a:extLst>
          </p:cNvPr>
          <p:cNvSpPr>
            <a:spLocks xmlns:a="http://schemas.openxmlformats.org/drawingml/2006/main" noGrp="1"/>
          </p:cNvSpPr>
          <p:nvPr/>
        </p:nvSpPr>
        <p:spPr>
          <a:xfrm xmlns:a="http://schemas.openxmlformats.org/drawingml/2006/main">
            <a:off x="8334375" y="2762250"/>
            <a:ext cx="3190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7F8"/>
                </a:solidFill>
                <a:latin typeface="Arial"/>
                <a:ea typeface="Arial"/>
                <a:cs typeface="Arial"/>
              </a:defRPr>
            </a:defPPr>
            <a:lvl1pPr>
              <a:defRPr sz="2100" b="0">
                <a:solidFill>
                  <a:srgbClr val="F5F7F8"/>
                </a:solidFill>
                <a:latin typeface="Arial"/>
                <a:ea typeface="Arial"/>
                <a:cs typeface="Arial"/>
              </a:defRPr>
            </a:lvl1pPr>
            <a:lvl2pPr>
              <a:defRPr sz="2100" b="0">
                <a:solidFill>
                  <a:srgbClr val="F5F7F8"/>
                </a:solidFill>
                <a:latin typeface="Arial"/>
                <a:ea typeface="Arial"/>
                <a:cs typeface="Arial"/>
              </a:defRPr>
            </a:lvl2pPr>
            <a:lvl3pPr>
              <a:defRPr sz="2100" b="0">
                <a:solidFill>
                  <a:srgbClr val="F5F7F8"/>
                </a:solidFill>
                <a:latin typeface="Arial"/>
                <a:ea typeface="Arial"/>
                <a:cs typeface="Arial"/>
              </a:defRPr>
            </a:lvl3pPr>
            <a:lvl4pPr>
              <a:defRPr sz="2100" b="0">
                <a:solidFill>
                  <a:srgbClr val="F5F7F8"/>
                </a:solidFill>
                <a:latin typeface="Arial"/>
                <a:ea typeface="Arial"/>
                <a:cs typeface="Arial"/>
              </a:defRPr>
            </a:lvl4pPr>
            <a:lvl5pPr>
              <a:defRPr sz="2100" b="0">
                <a:solidFill>
                  <a:srgbClr val="F5F7F8"/>
                </a:solidFill>
                <a:latin typeface="Arial"/>
                <a:ea typeface="Arial"/>
                <a:cs typeface="Arial"/>
              </a:defRPr>
            </a:lvl5pPr>
            <a:lvl6pPr>
              <a:defRPr sz="2100" b="0">
                <a:solidFill>
                  <a:srgbClr val="F5F7F8"/>
                </a:solidFill>
                <a:latin typeface="Arial"/>
                <a:ea typeface="Arial"/>
                <a:cs typeface="Arial"/>
              </a:defRPr>
            </a:lvl6pPr>
            <a:lvl7pPr>
              <a:defRPr sz="2100" b="0">
                <a:solidFill>
                  <a:srgbClr val="F5F7F8"/>
                </a:solidFill>
                <a:latin typeface="Arial"/>
                <a:ea typeface="Arial"/>
                <a:cs typeface="Arial"/>
              </a:defRPr>
            </a:lvl7pPr>
            <a:lvl8pPr>
              <a:defRPr sz="2100" b="0">
                <a:solidFill>
                  <a:srgbClr val="F5F7F8"/>
                </a:solidFill>
                <a:latin typeface="Arial"/>
                <a:ea typeface="Arial"/>
                <a:cs typeface="Arial"/>
              </a:defRPr>
            </a:lvl8pPr>
            <a:lvl9pPr>
              <a:defRPr sz="2100" b="0">
                <a:solidFill>
                  <a:srgbClr val="F5F7F8"/>
                </a:solidFill>
                <a:latin typeface="Arial"/>
                <a:ea typeface="Arial"/>
                <a:cs typeface="Arial"/>
              </a:defRPr>
            </a:lvl9pPr>
          </a:lstStyle>
          <a:p xmlns:a="http://schemas.openxmlformats.org/drawingml/2006/main">
            <a:pPr>
              <a:defRPr sz="2100" b="0">
                <a:solidFill>
                  <a:srgbClr val="F5F7F8"/>
                </a:solidFill>
                <a:latin typeface="Arial"/>
                <a:ea typeface="Arial"/>
                <a:cs typeface="Arial"/>
              </a:defRPr>
            </a:pPr>
            <a:r>
              <a:rPr sz="2100" b="0">
                <a:solidFill>
                  <a:srgbClr val="F5F7F8"/>
                </a:solidFill>
                <a:latin typeface="Arial"/>
                <a:ea typeface="Arial"/>
                <a:cs typeface="Arial"/>
              </a:rPr>
              <a:t>Every emitted warning</a:t>
            </a:r>
          </a:p>
          <a:p xmlns:a="http://schemas.openxmlformats.org/drawingml/2006/main">
            <a:pPr>
              <a:defRPr sz="2100" b="0">
                <a:solidFill>
                  <a:srgbClr val="F5F7F8"/>
                </a:solidFill>
                <a:latin typeface="Arial"/>
                <a:ea typeface="Arial"/>
                <a:cs typeface="Arial"/>
              </a:defRPr>
            </a:pPr>
            <a:r>
              <a:rPr sz="2100" b="0">
                <a:solidFill>
                  <a:srgbClr val="F5F7F8"/>
                </a:solidFill>
                <a:latin typeface="Arial"/>
                <a:ea typeface="Arial"/>
                <a:cs typeface="Arial"/>
              </a:rPr>
              <a:t>advances cooldown.</a:t>
            </a:r>
          </a:p>
          <a:p xmlns:a="http://schemas.openxmlformats.org/drawingml/2006/main">
            <a:pPr>
              <a:defRPr sz="2100" b="0">
                <a:solidFill>
                  <a:srgbClr val="F5F7F8"/>
                </a:solidFill>
                <a:latin typeface="Arial"/>
                <a:ea typeface="Arial"/>
                <a:cs typeface="Arial"/>
              </a:defRPr>
            </a:pPr>
            <a:r>
              <a:rPr sz="2100" b="0">
                <a:solidFill>
                  <a:srgbClr val="F5F7F8"/>
                </a:solidFill>
                <a:latin typeface="Arial"/>
                <a:ea typeface="Arial"/>
                <a:cs typeface="Arial"/>
              </a:rPr>
              <a:t>Incomplete outcomes</a:t>
            </a:r>
          </a:p>
          <a:p xmlns:a="http://schemas.openxmlformats.org/drawingml/2006/main">
            <a:pPr>
              <a:defRPr sz="2100" b="0">
                <a:solidFill>
                  <a:srgbClr val="F5F7F8"/>
                </a:solidFill>
                <a:latin typeface="Arial"/>
                <a:ea typeface="Arial"/>
                <a:cs typeface="Arial"/>
              </a:defRPr>
            </a:pPr>
            <a:r>
              <a:rPr sz="2100" b="0">
                <a:solidFill>
                  <a:srgbClr val="F5F7F8"/>
                </a:solidFill>
                <a:latin typeface="Arial"/>
                <a:ea typeface="Arial"/>
                <a:cs typeface="Arial"/>
              </a:rPr>
              <a:t>remain censored.</a:t>
            </a:r>
          </a:p>
        </p:txBody>
      </p:sp>
      <p:sp>
        <p:nvSpPr>
          <p:cNvPr id="10" name="">
            <a:extLst xmlns:a="http://schemas.openxmlformats.org/drawingml/2006/main">
              <a:ext uri="{FF2B5EF4-FFF2-40B4-BE49-F238E27FC236}">
                <a16:creationId xmlns:a16="http://schemas.microsoft.com/office/drawing/2014/main" id="{8D5FB0D2-DD28-4B8C-84C6-C845FEC76ACF}"/>
              </a:ext>
            </a:extLst>
          </p:cNvPr>
          <p:cNvSpPr>
            <a:spLocks xmlns:a="http://schemas.openxmlformats.org/drawingml/2006/main" noGrp="1"/>
          </p:cNvSpPr>
          <p:nvPr/>
        </p:nvSpPr>
        <p:spPr>
          <a:xfrm xmlns:a="http://schemas.openxmlformats.org/drawingml/2006/main">
            <a:off x="666750" y="5524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ABCCF"/>
                </a:solidFill>
                <a:latin typeface="Arial"/>
                <a:ea typeface="Arial"/>
                <a:cs typeface="Arial"/>
              </a:defRPr>
            </a:defPPr>
            <a:lvl1pPr>
              <a:defRPr sz="1875" b="0">
                <a:solidFill>
                  <a:srgbClr val="AABCCF"/>
                </a:solidFill>
                <a:latin typeface="Arial"/>
                <a:ea typeface="Arial"/>
                <a:cs typeface="Arial"/>
              </a:defRPr>
            </a:lvl1pPr>
            <a:lvl2pPr>
              <a:defRPr sz="1875" b="0">
                <a:solidFill>
                  <a:srgbClr val="AABCCF"/>
                </a:solidFill>
                <a:latin typeface="Arial"/>
                <a:ea typeface="Arial"/>
                <a:cs typeface="Arial"/>
              </a:defRPr>
            </a:lvl2pPr>
            <a:lvl3pPr>
              <a:defRPr sz="1875" b="0">
                <a:solidFill>
                  <a:srgbClr val="AABCCF"/>
                </a:solidFill>
                <a:latin typeface="Arial"/>
                <a:ea typeface="Arial"/>
                <a:cs typeface="Arial"/>
              </a:defRPr>
            </a:lvl3pPr>
            <a:lvl4pPr>
              <a:defRPr sz="1875" b="0">
                <a:solidFill>
                  <a:srgbClr val="AABCCF"/>
                </a:solidFill>
                <a:latin typeface="Arial"/>
                <a:ea typeface="Arial"/>
                <a:cs typeface="Arial"/>
              </a:defRPr>
            </a:lvl4pPr>
            <a:lvl5pPr>
              <a:defRPr sz="1875" b="0">
                <a:solidFill>
                  <a:srgbClr val="AABCCF"/>
                </a:solidFill>
                <a:latin typeface="Arial"/>
                <a:ea typeface="Arial"/>
                <a:cs typeface="Arial"/>
              </a:defRPr>
            </a:lvl5pPr>
            <a:lvl6pPr>
              <a:defRPr sz="1875" b="0">
                <a:solidFill>
                  <a:srgbClr val="AABCCF"/>
                </a:solidFill>
                <a:latin typeface="Arial"/>
                <a:ea typeface="Arial"/>
                <a:cs typeface="Arial"/>
              </a:defRPr>
            </a:lvl6pPr>
            <a:lvl7pPr>
              <a:defRPr sz="1875" b="0">
                <a:solidFill>
                  <a:srgbClr val="AABCCF"/>
                </a:solidFill>
                <a:latin typeface="Arial"/>
                <a:ea typeface="Arial"/>
                <a:cs typeface="Arial"/>
              </a:defRPr>
            </a:lvl7pPr>
            <a:lvl8pPr>
              <a:defRPr sz="1875" b="0">
                <a:solidFill>
                  <a:srgbClr val="AABCCF"/>
                </a:solidFill>
                <a:latin typeface="Arial"/>
                <a:ea typeface="Arial"/>
                <a:cs typeface="Arial"/>
              </a:defRPr>
            </a:lvl8pPr>
            <a:lvl9pPr>
              <a:defRPr sz="1875" b="0">
                <a:solidFill>
                  <a:srgbClr val="AABCCF"/>
                </a:solidFill>
                <a:latin typeface="Arial"/>
                <a:ea typeface="Arial"/>
                <a:cs typeface="Arial"/>
              </a:defRPr>
            </a:lvl9pPr>
          </a:lstStyle>
          <a:p xmlns:a="http://schemas.openxmlformats.org/drawingml/2006/main">
            <a:pPr>
              <a:defRPr sz="1875" b="0">
                <a:solidFill>
                  <a:srgbClr val="AABCCF"/>
                </a:solidFill>
                <a:latin typeface="Arial"/>
                <a:ea typeface="Arial"/>
                <a:cs typeface="Arial"/>
              </a:defRPr>
            </a:pPr>
            <a:r>
              <a:rPr sz="1875" b="0">
                <a:solidFill>
                  <a:srgbClr val="AABCCF"/>
                </a:solidFill>
                <a:latin typeface="Arial"/>
                <a:ea typeface="Arial"/>
                <a:cs typeface="Arial"/>
              </a:rPr>
              <a:t>Type 2 false-warning burden</a:t>
            </a:r>
          </a:p>
          <a:p xmlns:a="http://schemas.openxmlformats.org/drawingml/2006/main">
            <a:pPr>
              <a:defRPr sz="1875" b="0">
                <a:solidFill>
                  <a:srgbClr val="AABCCF"/>
                </a:solidFill>
                <a:latin typeface="Arial"/>
                <a:ea typeface="Arial"/>
                <a:cs typeface="Arial"/>
              </a:defRPr>
            </a:pPr>
            <a:r>
              <a:rPr sz="1875" b="0">
                <a:solidFill>
                  <a:srgbClr val="AABCCF"/>
                </a:solidFill>
                <a:latin typeface="Arial"/>
                <a:ea typeface="Arial"/>
                <a:cs typeface="Arial"/>
              </a:rPr>
              <a:t>0.466 per eligible non-event hour</a:t>
            </a:r>
          </a:p>
        </p:txBody>
      </p:sp>
    </p:spTree>
    <p:extLst>
      <p:ext uri="{BB962C8B-B14F-4D97-AF65-F5344CB8AC3E}">
        <p14:creationId xmlns:p14="http://schemas.microsoft.com/office/powerpoint/2010/main" val="1341969351"/>
      </p:ext>
    </p:extLst>
  </p:cSld>
</p:sld>
</file>

<file path=ppt/slides/slide1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584B21-DBF0-423A-821E-5E4931413E76}"/>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5F7F8"/>
                </a:solidFill>
                <a:latin typeface="Arial"/>
                <a:ea typeface="Arial"/>
                <a:cs typeface="Arial"/>
              </a:defRPr>
            </a:defPPr>
            <a:lvl1pPr>
              <a:defRPr sz="3450" b="1">
                <a:solidFill>
                  <a:srgbClr val="F5F7F8"/>
                </a:solidFill>
                <a:latin typeface="Arial"/>
                <a:ea typeface="Arial"/>
                <a:cs typeface="Arial"/>
              </a:defRPr>
            </a:lvl1pPr>
            <a:lvl2pPr>
              <a:defRPr sz="3450" b="1">
                <a:solidFill>
                  <a:srgbClr val="F5F7F8"/>
                </a:solidFill>
                <a:latin typeface="Arial"/>
                <a:ea typeface="Arial"/>
                <a:cs typeface="Arial"/>
              </a:defRPr>
            </a:lvl2pPr>
            <a:lvl3pPr>
              <a:defRPr sz="3450" b="1">
                <a:solidFill>
                  <a:srgbClr val="F5F7F8"/>
                </a:solidFill>
                <a:latin typeface="Arial"/>
                <a:ea typeface="Arial"/>
                <a:cs typeface="Arial"/>
              </a:defRPr>
            </a:lvl3pPr>
            <a:lvl4pPr>
              <a:defRPr sz="3450" b="1">
                <a:solidFill>
                  <a:srgbClr val="F5F7F8"/>
                </a:solidFill>
                <a:latin typeface="Arial"/>
                <a:ea typeface="Arial"/>
                <a:cs typeface="Arial"/>
              </a:defRPr>
            </a:lvl4pPr>
            <a:lvl5pPr>
              <a:defRPr sz="3450" b="1">
                <a:solidFill>
                  <a:srgbClr val="F5F7F8"/>
                </a:solidFill>
                <a:latin typeface="Arial"/>
                <a:ea typeface="Arial"/>
                <a:cs typeface="Arial"/>
              </a:defRPr>
            </a:lvl5pPr>
            <a:lvl6pPr>
              <a:defRPr sz="3450" b="1">
                <a:solidFill>
                  <a:srgbClr val="F5F7F8"/>
                </a:solidFill>
                <a:latin typeface="Arial"/>
                <a:ea typeface="Arial"/>
                <a:cs typeface="Arial"/>
              </a:defRPr>
            </a:lvl6pPr>
            <a:lvl7pPr>
              <a:defRPr sz="3450" b="1">
                <a:solidFill>
                  <a:srgbClr val="F5F7F8"/>
                </a:solidFill>
                <a:latin typeface="Arial"/>
                <a:ea typeface="Arial"/>
                <a:cs typeface="Arial"/>
              </a:defRPr>
            </a:lvl7pPr>
            <a:lvl8pPr>
              <a:defRPr sz="3450" b="1">
                <a:solidFill>
                  <a:srgbClr val="F5F7F8"/>
                </a:solidFill>
                <a:latin typeface="Arial"/>
                <a:ea typeface="Arial"/>
                <a:cs typeface="Arial"/>
              </a:defRPr>
            </a:lvl8pPr>
            <a:lvl9pPr>
              <a:defRPr sz="3450" b="1">
                <a:solidFill>
                  <a:srgbClr val="F5F7F8"/>
                </a:solidFill>
                <a:latin typeface="Arial"/>
                <a:ea typeface="Arial"/>
                <a:cs typeface="Arial"/>
              </a:defRPr>
            </a:lvl9pPr>
          </a:lstStyle>
          <a:p xmlns:a="http://schemas.openxmlformats.org/drawingml/2006/main">
            <a:pPr>
              <a:defRPr sz="3450" b="1">
                <a:solidFill>
                  <a:srgbClr val="F5F7F8"/>
                </a:solidFill>
                <a:latin typeface="Arial"/>
                <a:ea typeface="Arial"/>
                <a:cs typeface="Arial"/>
              </a:defRPr>
            </a:pPr>
            <a:r>
              <a:rPr sz="3450" b="1">
                <a:solidFill>
                  <a:srgbClr val="F5F7F8"/>
                </a:solidFill>
                <a:latin typeface="Arial"/>
                <a:ea typeface="Arial"/>
                <a:cs typeface="Arial"/>
              </a:rPr>
              <a:t>Missing data produces a withheld forecast</a:t>
            </a:r>
          </a:p>
        </p:txBody>
      </p:sp>
      <p:sp>
        <p:nvSpPr>
          <p:cNvPr id="2" name="">
            <a:extLst xmlns:a="http://schemas.openxmlformats.org/drawingml/2006/main">
              <a:ext uri="{FF2B5EF4-FFF2-40B4-BE49-F238E27FC236}">
                <a16:creationId xmlns:a16="http://schemas.microsoft.com/office/drawing/2014/main" id="{30A1A08C-D413-4658-A12B-F3D0CD28BEEF}"/>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7E2D0"/>
                </a:solidFill>
                <a:latin typeface="Arial"/>
                <a:ea typeface="Arial"/>
                <a:cs typeface="Arial"/>
              </a:defRPr>
            </a:defPPr>
            <a:lvl1pPr>
              <a:defRPr sz="1200" b="1">
                <a:solidFill>
                  <a:srgbClr val="67E2D0"/>
                </a:solidFill>
                <a:latin typeface="Arial"/>
                <a:ea typeface="Arial"/>
                <a:cs typeface="Arial"/>
              </a:defRPr>
            </a:lvl1pPr>
            <a:lvl2pPr>
              <a:defRPr sz="1200" b="1">
                <a:solidFill>
                  <a:srgbClr val="67E2D0"/>
                </a:solidFill>
                <a:latin typeface="Arial"/>
                <a:ea typeface="Arial"/>
                <a:cs typeface="Arial"/>
              </a:defRPr>
            </a:lvl2pPr>
            <a:lvl3pPr>
              <a:defRPr sz="1200" b="1">
                <a:solidFill>
                  <a:srgbClr val="67E2D0"/>
                </a:solidFill>
                <a:latin typeface="Arial"/>
                <a:ea typeface="Arial"/>
                <a:cs typeface="Arial"/>
              </a:defRPr>
            </a:lvl3pPr>
            <a:lvl4pPr>
              <a:defRPr sz="1200" b="1">
                <a:solidFill>
                  <a:srgbClr val="67E2D0"/>
                </a:solidFill>
                <a:latin typeface="Arial"/>
                <a:ea typeface="Arial"/>
                <a:cs typeface="Arial"/>
              </a:defRPr>
            </a:lvl4pPr>
            <a:lvl5pPr>
              <a:defRPr sz="1200" b="1">
                <a:solidFill>
                  <a:srgbClr val="67E2D0"/>
                </a:solidFill>
                <a:latin typeface="Arial"/>
                <a:ea typeface="Arial"/>
                <a:cs typeface="Arial"/>
              </a:defRPr>
            </a:lvl5pPr>
            <a:lvl6pPr>
              <a:defRPr sz="1200" b="1">
                <a:solidFill>
                  <a:srgbClr val="67E2D0"/>
                </a:solidFill>
                <a:latin typeface="Arial"/>
                <a:ea typeface="Arial"/>
                <a:cs typeface="Arial"/>
              </a:defRPr>
            </a:lvl6pPr>
            <a:lvl7pPr>
              <a:defRPr sz="1200" b="1">
                <a:solidFill>
                  <a:srgbClr val="67E2D0"/>
                </a:solidFill>
                <a:latin typeface="Arial"/>
                <a:ea typeface="Arial"/>
                <a:cs typeface="Arial"/>
              </a:defRPr>
            </a:lvl7pPr>
            <a:lvl8pPr>
              <a:defRPr sz="1200" b="1">
                <a:solidFill>
                  <a:srgbClr val="67E2D0"/>
                </a:solidFill>
                <a:latin typeface="Arial"/>
                <a:ea typeface="Arial"/>
                <a:cs typeface="Arial"/>
              </a:defRPr>
            </a:lvl8pPr>
            <a:lvl9pPr>
              <a:defRPr sz="1200" b="1">
                <a:solidFill>
                  <a:srgbClr val="67E2D0"/>
                </a:solidFill>
                <a:latin typeface="Arial"/>
                <a:ea typeface="Arial"/>
                <a:cs typeface="Arial"/>
              </a:defRPr>
            </a:lvl9pPr>
          </a:lstStyle>
          <a:p xmlns:a="http://schemas.openxmlformats.org/drawingml/2006/main">
            <a:pPr>
              <a:defRPr sz="1200" b="1">
                <a:solidFill>
                  <a:srgbClr val="67E2D0"/>
                </a:solidFill>
                <a:latin typeface="Arial"/>
                <a:ea typeface="Arial"/>
                <a:cs typeface="Arial"/>
              </a:defRPr>
            </a:pPr>
            <a:r>
              <a:rPr sz="1200" b="1">
                <a:solidFill>
                  <a:srgbClr val="67E2D0"/>
                </a:solidFill>
                <a:latin typeface="Arial"/>
                <a:ea typeface="Arial"/>
                <a:cs typeface="Arial"/>
              </a:rPr>
              <a:t>ACTUAL RELIABILITY BEHAVIOR</a:t>
            </a:r>
          </a:p>
        </p:txBody>
      </p:sp>
      <p:sp>
        <p:nvSpPr>
          <p:cNvPr id="3" name="">
            <a:extLst xmlns:a="http://schemas.openxmlformats.org/drawingml/2006/main">
              <a:ext uri="{FF2B5EF4-FFF2-40B4-BE49-F238E27FC236}">
                <a16:creationId xmlns:a16="http://schemas.microsoft.com/office/drawing/2014/main" id="{9582F8DC-EC27-485B-B7F4-7B5CBC90A354}"/>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2DD946C-8E5C-455F-9F11-387F541D6F5A}"/>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Signal-loss simulation. Forecasting resumes after sufficient uninterrupted history returns.</a:t>
            </a:r>
          </a:p>
        </p:txBody>
      </p:sp>
      <p:pic>
        <p:nvPicPr>
          <p:cNvPr id="5" name="">
            <a:extLst xmlns:a="http://schemas.openxmlformats.org/drawingml/2006/main">
              <a:ext uri="{FF2B5EF4-FFF2-40B4-BE49-F238E27FC236}">
                <a16:creationId xmlns:a16="http://schemas.microsoft.com/office/drawing/2014/main" id="{ED6EB515-9EFE-44F0-A2FC-8740131B99E0}"/>
              </a:ext>
            </a:extLst>
          </p:cNvPr>
          <p:cNvPicPr>
            <a:picLocks xmlns:a="http://schemas.openxmlformats.org/drawingml/2006/main" noChangeAspect="1"/>
          </p:cNvPicPr>
          <p:nvPr/>
        </p:nvPicPr>
        <p:blipFill>
          <a:blip xmlns:r="http://schemas.openxmlformats.org/officeDocument/2006/relationships" xmlns:a="http://schemas.openxmlformats.org/drawingml/2006/main" r:embed="Ra6539bcd5c3a4a25"/>
          <a:stretch xmlns:a="http://schemas.openxmlformats.org/drawingml/2006/main"/>
        </p:blipFill>
        <p:spPr>
          <a:xfrm xmlns:a="http://schemas.openxmlformats.org/drawingml/2006/main">
            <a:off x="2157284" y="1714500"/>
            <a:ext cx="7877432" cy="4286250"/>
          </a:xfrm>
          <a:prstGeom xmlns:a="http://schemas.openxmlformats.org/drawingml/2006/main" prst="rect">
            <a:avLst/>
          </a:prstGeom>
        </p:spPr>
      </p:pic>
    </p:spTree>
    <p:extLst>
      <p:ext uri="{BB962C8B-B14F-4D97-AF65-F5344CB8AC3E}">
        <p14:creationId xmlns:p14="http://schemas.microsoft.com/office/powerpoint/2010/main" val="319675367"/>
      </p:ext>
    </p:extLst>
  </p:cSld>
</p:sld>
</file>

<file path=ppt/slides/slide14.xml><?xml version="1.0" encoding="utf-8"?>
<p:sld xmlns:p="http://schemas.openxmlformats.org/presentationml/2006/main">
  <p:cSld>
    <p:bg>
      <p:bgPr>
        <a:solidFill xmlns:a="http://schemas.openxmlformats.org/drawingml/2006/main">
          <a:srgbClr val="F2F3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5D7257-9402-4F90-893E-5FE0D0B56468}"/>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E3B"/>
                </a:solidFill>
                <a:latin typeface="Arial"/>
                <a:ea typeface="Arial"/>
                <a:cs typeface="Arial"/>
              </a:defRPr>
            </a:defPPr>
            <a:lvl1pPr>
              <a:defRPr sz="3450" b="1">
                <a:solidFill>
                  <a:srgbClr val="132E3B"/>
                </a:solidFill>
                <a:latin typeface="Arial"/>
                <a:ea typeface="Arial"/>
                <a:cs typeface="Arial"/>
              </a:defRPr>
            </a:lvl1pPr>
            <a:lvl2pPr>
              <a:defRPr sz="3450" b="1">
                <a:solidFill>
                  <a:srgbClr val="132E3B"/>
                </a:solidFill>
                <a:latin typeface="Arial"/>
                <a:ea typeface="Arial"/>
                <a:cs typeface="Arial"/>
              </a:defRPr>
            </a:lvl2pPr>
            <a:lvl3pPr>
              <a:defRPr sz="3450" b="1">
                <a:solidFill>
                  <a:srgbClr val="132E3B"/>
                </a:solidFill>
                <a:latin typeface="Arial"/>
                <a:ea typeface="Arial"/>
                <a:cs typeface="Arial"/>
              </a:defRPr>
            </a:lvl3pPr>
            <a:lvl4pPr>
              <a:defRPr sz="3450" b="1">
                <a:solidFill>
                  <a:srgbClr val="132E3B"/>
                </a:solidFill>
                <a:latin typeface="Arial"/>
                <a:ea typeface="Arial"/>
                <a:cs typeface="Arial"/>
              </a:defRPr>
            </a:lvl4pPr>
            <a:lvl5pPr>
              <a:defRPr sz="3450" b="1">
                <a:solidFill>
                  <a:srgbClr val="132E3B"/>
                </a:solidFill>
                <a:latin typeface="Arial"/>
                <a:ea typeface="Arial"/>
                <a:cs typeface="Arial"/>
              </a:defRPr>
            </a:lvl5pPr>
            <a:lvl6pPr>
              <a:defRPr sz="3450" b="1">
                <a:solidFill>
                  <a:srgbClr val="132E3B"/>
                </a:solidFill>
                <a:latin typeface="Arial"/>
                <a:ea typeface="Arial"/>
                <a:cs typeface="Arial"/>
              </a:defRPr>
            </a:lvl6pPr>
            <a:lvl7pPr>
              <a:defRPr sz="3450" b="1">
                <a:solidFill>
                  <a:srgbClr val="132E3B"/>
                </a:solidFill>
                <a:latin typeface="Arial"/>
                <a:ea typeface="Arial"/>
                <a:cs typeface="Arial"/>
              </a:defRPr>
            </a:lvl7pPr>
            <a:lvl8pPr>
              <a:defRPr sz="3450" b="1">
                <a:solidFill>
                  <a:srgbClr val="132E3B"/>
                </a:solidFill>
                <a:latin typeface="Arial"/>
                <a:ea typeface="Arial"/>
                <a:cs typeface="Arial"/>
              </a:defRPr>
            </a:lvl8pPr>
            <a:lvl9pPr>
              <a:defRPr sz="3450" b="1">
                <a:solidFill>
                  <a:srgbClr val="132E3B"/>
                </a:solidFill>
                <a:latin typeface="Arial"/>
                <a:ea typeface="Arial"/>
                <a:cs typeface="Arial"/>
              </a:defRPr>
            </a:lvl9pPr>
          </a:lstStyle>
          <a:p xmlns:a="http://schemas.openxmlformats.org/drawingml/2006/main">
            <a:pPr>
              <a:defRPr sz="3450" b="1">
                <a:solidFill>
                  <a:srgbClr val="132E3B"/>
                </a:solidFill>
                <a:latin typeface="Arial"/>
                <a:ea typeface="Arial"/>
                <a:cs typeface="Arial"/>
              </a:defRPr>
            </a:pPr>
            <a:r>
              <a:rPr sz="3450" b="1">
                <a:solidFill>
                  <a:srgbClr val="132E3B"/>
                </a:solidFill>
                <a:latin typeface="Arial"/>
                <a:ea typeface="Arial"/>
                <a:cs typeface="Arial"/>
              </a:rPr>
              <a:t>Uncertainty and monitoring coverage</a:t>
            </a:r>
          </a:p>
        </p:txBody>
      </p:sp>
      <p:sp>
        <p:nvSpPr>
          <p:cNvPr id="2" name="">
            <a:extLst xmlns:a="http://schemas.openxmlformats.org/drawingml/2006/main">
              <a:ext uri="{FF2B5EF4-FFF2-40B4-BE49-F238E27FC236}">
                <a16:creationId xmlns:a16="http://schemas.microsoft.com/office/drawing/2014/main" id="{0ED04C40-1B71-4633-AC07-041AAAAD0AFD}"/>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087E80"/>
                </a:solidFill>
                <a:latin typeface="Arial"/>
                <a:ea typeface="Arial"/>
                <a:cs typeface="Arial"/>
              </a:defRPr>
            </a:defPPr>
            <a:lvl1pPr>
              <a:defRPr sz="1200" b="1">
                <a:solidFill>
                  <a:srgbClr val="087E80"/>
                </a:solidFill>
                <a:latin typeface="Arial"/>
                <a:ea typeface="Arial"/>
                <a:cs typeface="Arial"/>
              </a:defRPr>
            </a:lvl1pPr>
            <a:lvl2pPr>
              <a:defRPr sz="1200" b="1">
                <a:solidFill>
                  <a:srgbClr val="087E80"/>
                </a:solidFill>
                <a:latin typeface="Arial"/>
                <a:ea typeface="Arial"/>
                <a:cs typeface="Arial"/>
              </a:defRPr>
            </a:lvl2pPr>
            <a:lvl3pPr>
              <a:defRPr sz="1200" b="1">
                <a:solidFill>
                  <a:srgbClr val="087E80"/>
                </a:solidFill>
                <a:latin typeface="Arial"/>
                <a:ea typeface="Arial"/>
                <a:cs typeface="Arial"/>
              </a:defRPr>
            </a:lvl3pPr>
            <a:lvl4pPr>
              <a:defRPr sz="1200" b="1">
                <a:solidFill>
                  <a:srgbClr val="087E80"/>
                </a:solidFill>
                <a:latin typeface="Arial"/>
                <a:ea typeface="Arial"/>
                <a:cs typeface="Arial"/>
              </a:defRPr>
            </a:lvl4pPr>
            <a:lvl5pPr>
              <a:defRPr sz="1200" b="1">
                <a:solidFill>
                  <a:srgbClr val="087E80"/>
                </a:solidFill>
                <a:latin typeface="Arial"/>
                <a:ea typeface="Arial"/>
                <a:cs typeface="Arial"/>
              </a:defRPr>
            </a:lvl5pPr>
            <a:lvl6pPr>
              <a:defRPr sz="1200" b="1">
                <a:solidFill>
                  <a:srgbClr val="087E80"/>
                </a:solidFill>
                <a:latin typeface="Arial"/>
                <a:ea typeface="Arial"/>
                <a:cs typeface="Arial"/>
              </a:defRPr>
            </a:lvl6pPr>
            <a:lvl7pPr>
              <a:defRPr sz="1200" b="1">
                <a:solidFill>
                  <a:srgbClr val="087E80"/>
                </a:solidFill>
                <a:latin typeface="Arial"/>
                <a:ea typeface="Arial"/>
                <a:cs typeface="Arial"/>
              </a:defRPr>
            </a:lvl7pPr>
            <a:lvl8pPr>
              <a:defRPr sz="1200" b="1">
                <a:solidFill>
                  <a:srgbClr val="087E80"/>
                </a:solidFill>
                <a:latin typeface="Arial"/>
                <a:ea typeface="Arial"/>
                <a:cs typeface="Arial"/>
              </a:defRPr>
            </a:lvl8pPr>
            <a:lvl9pPr>
              <a:defRPr sz="1200" b="1">
                <a:solidFill>
                  <a:srgbClr val="087E80"/>
                </a:solidFill>
                <a:latin typeface="Arial"/>
                <a:ea typeface="Arial"/>
                <a:cs typeface="Arial"/>
              </a:defRPr>
            </a:lvl9pPr>
          </a:lstStyle>
          <a:p xmlns:a="http://schemas.openxmlformats.org/drawingml/2006/main">
            <a:pPr>
              <a:defRPr sz="1200" b="1">
                <a:solidFill>
                  <a:srgbClr val="087E80"/>
                </a:solidFill>
                <a:latin typeface="Arial"/>
                <a:ea typeface="Arial"/>
                <a:cs typeface="Arial"/>
              </a:defRPr>
            </a:pPr>
            <a:r>
              <a:rPr sz="1200" b="1">
                <a:solidFill>
                  <a:srgbClr val="087E80"/>
                </a:solidFill>
                <a:latin typeface="Arial"/>
                <a:ea typeface="Arial"/>
                <a:cs typeface="Arial"/>
              </a:rPr>
              <a:t>OPERATING LIMITS</a:t>
            </a:r>
          </a:p>
        </p:txBody>
      </p:sp>
      <p:sp>
        <p:nvSpPr>
          <p:cNvPr id="3" name="">
            <a:extLst xmlns:a="http://schemas.openxmlformats.org/drawingml/2006/main">
              <a:ext uri="{FF2B5EF4-FFF2-40B4-BE49-F238E27FC236}">
                <a16:creationId xmlns:a16="http://schemas.microsoft.com/office/drawing/2014/main" id="{D799CA38-DE9C-4AAA-AC5B-EBB9C74C13E3}"/>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FF4D8D88-1448-44EC-86CC-9640B18102D8}"/>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Patient-mean test measurements. One unsupported test participant remains in monitoring coverage.</a:t>
            </a:r>
          </a:p>
        </p:txBody>
      </p:sp>
      <p:sp>
        <p:nvSpPr>
          <p:cNvPr id="5" name="">
            <a:extLst xmlns:a="http://schemas.openxmlformats.org/drawingml/2006/main">
              <a:ext uri="{FF2B5EF4-FFF2-40B4-BE49-F238E27FC236}">
                <a16:creationId xmlns:a16="http://schemas.microsoft.com/office/drawing/2014/main" id="{933E3976-7F46-45D1-8E76-E8C617C65153}"/>
              </a:ext>
            </a:extLst>
          </p:cNvPr>
          <p:cNvSpPr>
            <a:spLocks xmlns:a="http://schemas.openxmlformats.org/drawingml/2006/main" noGrp="1"/>
          </p:cNvSpPr>
          <p:nvPr/>
        </p:nvSpPr>
        <p:spPr>
          <a:xfrm xmlns:a="http://schemas.openxmlformats.org/drawingml/2006/main">
            <a:off x="647700" y="2095500"/>
            <a:ext cx="457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087E80"/>
                </a:solidFill>
                <a:latin typeface="Arial"/>
                <a:ea typeface="Arial"/>
                <a:cs typeface="Arial"/>
              </a:defRPr>
            </a:defPPr>
            <a:lvl1pPr>
              <a:defRPr sz="7200" b="1">
                <a:solidFill>
                  <a:srgbClr val="087E80"/>
                </a:solidFill>
                <a:latin typeface="Arial"/>
                <a:ea typeface="Arial"/>
                <a:cs typeface="Arial"/>
              </a:defRPr>
            </a:lvl1pPr>
            <a:lvl2pPr>
              <a:defRPr sz="7200" b="1">
                <a:solidFill>
                  <a:srgbClr val="087E80"/>
                </a:solidFill>
                <a:latin typeface="Arial"/>
                <a:ea typeface="Arial"/>
                <a:cs typeface="Arial"/>
              </a:defRPr>
            </a:lvl2pPr>
            <a:lvl3pPr>
              <a:defRPr sz="7200" b="1">
                <a:solidFill>
                  <a:srgbClr val="087E80"/>
                </a:solidFill>
                <a:latin typeface="Arial"/>
                <a:ea typeface="Arial"/>
                <a:cs typeface="Arial"/>
              </a:defRPr>
            </a:lvl3pPr>
            <a:lvl4pPr>
              <a:defRPr sz="7200" b="1">
                <a:solidFill>
                  <a:srgbClr val="087E80"/>
                </a:solidFill>
                <a:latin typeface="Arial"/>
                <a:ea typeface="Arial"/>
                <a:cs typeface="Arial"/>
              </a:defRPr>
            </a:lvl4pPr>
            <a:lvl5pPr>
              <a:defRPr sz="7200" b="1">
                <a:solidFill>
                  <a:srgbClr val="087E80"/>
                </a:solidFill>
                <a:latin typeface="Arial"/>
                <a:ea typeface="Arial"/>
                <a:cs typeface="Arial"/>
              </a:defRPr>
            </a:lvl5pPr>
            <a:lvl6pPr>
              <a:defRPr sz="7200" b="1">
                <a:solidFill>
                  <a:srgbClr val="087E80"/>
                </a:solidFill>
                <a:latin typeface="Arial"/>
                <a:ea typeface="Arial"/>
                <a:cs typeface="Arial"/>
              </a:defRPr>
            </a:lvl6pPr>
            <a:lvl7pPr>
              <a:defRPr sz="7200" b="1">
                <a:solidFill>
                  <a:srgbClr val="087E80"/>
                </a:solidFill>
                <a:latin typeface="Arial"/>
                <a:ea typeface="Arial"/>
                <a:cs typeface="Arial"/>
              </a:defRPr>
            </a:lvl7pPr>
            <a:lvl8pPr>
              <a:defRPr sz="7200" b="1">
                <a:solidFill>
                  <a:srgbClr val="087E80"/>
                </a:solidFill>
                <a:latin typeface="Arial"/>
                <a:ea typeface="Arial"/>
                <a:cs typeface="Arial"/>
              </a:defRPr>
            </a:lvl8pPr>
            <a:lvl9pPr>
              <a:defRPr sz="7200" b="1">
                <a:solidFill>
                  <a:srgbClr val="087E80"/>
                </a:solidFill>
                <a:latin typeface="Arial"/>
                <a:ea typeface="Arial"/>
                <a:cs typeface="Arial"/>
              </a:defRPr>
            </a:lvl9pPr>
          </a:lstStyle>
          <a:p xmlns:a="http://schemas.openxmlformats.org/drawingml/2006/main">
            <a:pPr>
              <a:defRPr sz="7200" b="1">
                <a:solidFill>
                  <a:srgbClr val="087E80"/>
                </a:solidFill>
                <a:latin typeface="Arial"/>
                <a:ea typeface="Arial"/>
                <a:cs typeface="Arial"/>
              </a:defRPr>
            </a:pPr>
            <a:r>
              <a:rPr sz="7200" b="1">
                <a:solidFill>
                  <a:srgbClr val="087E80"/>
                </a:solidFill>
                <a:latin typeface="Arial"/>
                <a:ea typeface="Arial"/>
                <a:cs typeface="Arial"/>
              </a:rPr>
              <a:t>86.5%</a:t>
            </a:r>
          </a:p>
        </p:txBody>
      </p:sp>
      <p:sp>
        <p:nvSpPr>
          <p:cNvPr id="6" name="">
            <a:extLst xmlns:a="http://schemas.openxmlformats.org/drawingml/2006/main">
              <a:ext uri="{FF2B5EF4-FFF2-40B4-BE49-F238E27FC236}">
                <a16:creationId xmlns:a16="http://schemas.microsoft.com/office/drawing/2014/main" id="{8D9B4B9F-6CEA-4C90-AE46-D29725379C06}"/>
              </a:ext>
            </a:extLst>
          </p:cNvPr>
          <p:cNvSpPr>
            <a:spLocks xmlns:a="http://schemas.openxmlformats.org/drawingml/2006/main" noGrp="1"/>
          </p:cNvSpPr>
          <p:nvPr/>
        </p:nvSpPr>
        <p:spPr>
          <a:xfrm xmlns:a="http://schemas.openxmlformats.org/drawingml/2006/main">
            <a:off x="647700" y="3238500"/>
            <a:ext cx="457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32E3B"/>
                </a:solidFill>
                <a:latin typeface="Arial"/>
                <a:ea typeface="Arial"/>
                <a:cs typeface="Arial"/>
              </a:defRPr>
            </a:defPPr>
            <a:lvl1pPr>
              <a:defRPr sz="1875" b="0">
                <a:solidFill>
                  <a:srgbClr val="132E3B"/>
                </a:solidFill>
                <a:latin typeface="Arial"/>
                <a:ea typeface="Arial"/>
                <a:cs typeface="Arial"/>
              </a:defRPr>
            </a:lvl1pPr>
            <a:lvl2pPr>
              <a:defRPr sz="1875" b="0">
                <a:solidFill>
                  <a:srgbClr val="132E3B"/>
                </a:solidFill>
                <a:latin typeface="Arial"/>
                <a:ea typeface="Arial"/>
                <a:cs typeface="Arial"/>
              </a:defRPr>
            </a:lvl2pPr>
            <a:lvl3pPr>
              <a:defRPr sz="1875" b="0">
                <a:solidFill>
                  <a:srgbClr val="132E3B"/>
                </a:solidFill>
                <a:latin typeface="Arial"/>
                <a:ea typeface="Arial"/>
                <a:cs typeface="Arial"/>
              </a:defRPr>
            </a:lvl3pPr>
            <a:lvl4pPr>
              <a:defRPr sz="1875" b="0">
                <a:solidFill>
                  <a:srgbClr val="132E3B"/>
                </a:solidFill>
                <a:latin typeface="Arial"/>
                <a:ea typeface="Arial"/>
                <a:cs typeface="Arial"/>
              </a:defRPr>
            </a:lvl4pPr>
            <a:lvl5pPr>
              <a:defRPr sz="1875" b="0">
                <a:solidFill>
                  <a:srgbClr val="132E3B"/>
                </a:solidFill>
                <a:latin typeface="Arial"/>
                <a:ea typeface="Arial"/>
                <a:cs typeface="Arial"/>
              </a:defRPr>
            </a:lvl5pPr>
            <a:lvl6pPr>
              <a:defRPr sz="1875" b="0">
                <a:solidFill>
                  <a:srgbClr val="132E3B"/>
                </a:solidFill>
                <a:latin typeface="Arial"/>
                <a:ea typeface="Arial"/>
                <a:cs typeface="Arial"/>
              </a:defRPr>
            </a:lvl6pPr>
            <a:lvl7pPr>
              <a:defRPr sz="1875" b="0">
                <a:solidFill>
                  <a:srgbClr val="132E3B"/>
                </a:solidFill>
                <a:latin typeface="Arial"/>
                <a:ea typeface="Arial"/>
                <a:cs typeface="Arial"/>
              </a:defRPr>
            </a:lvl7pPr>
            <a:lvl8pPr>
              <a:defRPr sz="1875" b="0">
                <a:solidFill>
                  <a:srgbClr val="132E3B"/>
                </a:solidFill>
                <a:latin typeface="Arial"/>
                <a:ea typeface="Arial"/>
                <a:cs typeface="Arial"/>
              </a:defRPr>
            </a:lvl8pPr>
            <a:lvl9pPr>
              <a:defRPr sz="1875" b="0">
                <a:solidFill>
                  <a:srgbClr val="132E3B"/>
                </a:solidFill>
                <a:latin typeface="Arial"/>
                <a:ea typeface="Arial"/>
                <a:cs typeface="Arial"/>
              </a:defRPr>
            </a:lvl9pPr>
          </a:lstStyle>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observed coverage of</a:t>
            </a:r>
          </a:p>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a nominal 90% band</a:t>
            </a:r>
          </a:p>
        </p:txBody>
      </p:sp>
      <p:sp>
        <p:nvSpPr>
          <p:cNvPr id="7" name="">
            <a:extLst xmlns:a="http://schemas.openxmlformats.org/drawingml/2006/main">
              <a:ext uri="{FF2B5EF4-FFF2-40B4-BE49-F238E27FC236}">
                <a16:creationId xmlns:a16="http://schemas.microsoft.com/office/drawing/2014/main" id="{31E7716A-70E6-44A1-AFAC-52C4242403BB}"/>
              </a:ext>
            </a:extLst>
          </p:cNvPr>
          <p:cNvSpPr>
            <a:spLocks xmlns:a="http://schemas.openxmlformats.org/drawingml/2006/main" noGrp="1"/>
          </p:cNvSpPr>
          <p:nvPr/>
        </p:nvSpPr>
        <p:spPr>
          <a:xfrm xmlns:a="http://schemas.openxmlformats.org/drawingml/2006/main">
            <a:off x="6667500" y="2095500"/>
            <a:ext cx="457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087E80"/>
                </a:solidFill>
                <a:latin typeface="Arial"/>
                <a:ea typeface="Arial"/>
                <a:cs typeface="Arial"/>
              </a:defRPr>
            </a:defPPr>
            <a:lvl1pPr>
              <a:defRPr sz="7200" b="1">
                <a:solidFill>
                  <a:srgbClr val="087E80"/>
                </a:solidFill>
                <a:latin typeface="Arial"/>
                <a:ea typeface="Arial"/>
                <a:cs typeface="Arial"/>
              </a:defRPr>
            </a:lvl1pPr>
            <a:lvl2pPr>
              <a:defRPr sz="7200" b="1">
                <a:solidFill>
                  <a:srgbClr val="087E80"/>
                </a:solidFill>
                <a:latin typeface="Arial"/>
                <a:ea typeface="Arial"/>
                <a:cs typeface="Arial"/>
              </a:defRPr>
            </a:lvl2pPr>
            <a:lvl3pPr>
              <a:defRPr sz="7200" b="1">
                <a:solidFill>
                  <a:srgbClr val="087E80"/>
                </a:solidFill>
                <a:latin typeface="Arial"/>
                <a:ea typeface="Arial"/>
                <a:cs typeface="Arial"/>
              </a:defRPr>
            </a:lvl3pPr>
            <a:lvl4pPr>
              <a:defRPr sz="7200" b="1">
                <a:solidFill>
                  <a:srgbClr val="087E80"/>
                </a:solidFill>
                <a:latin typeface="Arial"/>
                <a:ea typeface="Arial"/>
                <a:cs typeface="Arial"/>
              </a:defRPr>
            </a:lvl4pPr>
            <a:lvl5pPr>
              <a:defRPr sz="7200" b="1">
                <a:solidFill>
                  <a:srgbClr val="087E80"/>
                </a:solidFill>
                <a:latin typeface="Arial"/>
                <a:ea typeface="Arial"/>
                <a:cs typeface="Arial"/>
              </a:defRPr>
            </a:lvl5pPr>
            <a:lvl6pPr>
              <a:defRPr sz="7200" b="1">
                <a:solidFill>
                  <a:srgbClr val="087E80"/>
                </a:solidFill>
                <a:latin typeface="Arial"/>
                <a:ea typeface="Arial"/>
                <a:cs typeface="Arial"/>
              </a:defRPr>
            </a:lvl6pPr>
            <a:lvl7pPr>
              <a:defRPr sz="7200" b="1">
                <a:solidFill>
                  <a:srgbClr val="087E80"/>
                </a:solidFill>
                <a:latin typeface="Arial"/>
                <a:ea typeface="Arial"/>
                <a:cs typeface="Arial"/>
              </a:defRPr>
            </a:lvl7pPr>
            <a:lvl8pPr>
              <a:defRPr sz="7200" b="1">
                <a:solidFill>
                  <a:srgbClr val="087E80"/>
                </a:solidFill>
                <a:latin typeface="Arial"/>
                <a:ea typeface="Arial"/>
                <a:cs typeface="Arial"/>
              </a:defRPr>
            </a:lvl8pPr>
            <a:lvl9pPr>
              <a:defRPr sz="7200" b="1">
                <a:solidFill>
                  <a:srgbClr val="087E80"/>
                </a:solidFill>
                <a:latin typeface="Arial"/>
                <a:ea typeface="Arial"/>
                <a:cs typeface="Arial"/>
              </a:defRPr>
            </a:lvl9pPr>
          </a:lstStyle>
          <a:p xmlns:a="http://schemas.openxmlformats.org/drawingml/2006/main">
            <a:pPr>
              <a:defRPr sz="7200" b="1">
                <a:solidFill>
                  <a:srgbClr val="087E80"/>
                </a:solidFill>
                <a:latin typeface="Arial"/>
                <a:ea typeface="Arial"/>
                <a:cs typeface="Arial"/>
              </a:defRPr>
            </a:pPr>
            <a:r>
              <a:rPr sz="7200" b="1">
                <a:solidFill>
                  <a:srgbClr val="087E80"/>
                </a:solidFill>
                <a:latin typeface="Arial"/>
                <a:ea typeface="Arial"/>
                <a:cs typeface="Arial"/>
              </a:rPr>
              <a:t>78.8%</a:t>
            </a:r>
          </a:p>
        </p:txBody>
      </p:sp>
      <p:sp>
        <p:nvSpPr>
          <p:cNvPr id="8" name="">
            <a:extLst xmlns:a="http://schemas.openxmlformats.org/drawingml/2006/main">
              <a:ext uri="{FF2B5EF4-FFF2-40B4-BE49-F238E27FC236}">
                <a16:creationId xmlns:a16="http://schemas.microsoft.com/office/drawing/2014/main" id="{CB933E2A-97A0-489B-B12C-A31FE66290E4}"/>
              </a:ext>
            </a:extLst>
          </p:cNvPr>
          <p:cNvSpPr>
            <a:spLocks xmlns:a="http://schemas.openxmlformats.org/drawingml/2006/main" noGrp="1"/>
          </p:cNvSpPr>
          <p:nvPr/>
        </p:nvSpPr>
        <p:spPr>
          <a:xfrm xmlns:a="http://schemas.openxmlformats.org/drawingml/2006/main">
            <a:off x="6667500" y="3238500"/>
            <a:ext cx="457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32E3B"/>
                </a:solidFill>
                <a:latin typeface="Arial"/>
                <a:ea typeface="Arial"/>
                <a:cs typeface="Arial"/>
              </a:defRPr>
            </a:defPPr>
            <a:lvl1pPr>
              <a:defRPr sz="1875" b="0">
                <a:solidFill>
                  <a:srgbClr val="132E3B"/>
                </a:solidFill>
                <a:latin typeface="Arial"/>
                <a:ea typeface="Arial"/>
                <a:cs typeface="Arial"/>
              </a:defRPr>
            </a:lvl1pPr>
            <a:lvl2pPr>
              <a:defRPr sz="1875" b="0">
                <a:solidFill>
                  <a:srgbClr val="132E3B"/>
                </a:solidFill>
                <a:latin typeface="Arial"/>
                <a:ea typeface="Arial"/>
                <a:cs typeface="Arial"/>
              </a:defRPr>
            </a:lvl2pPr>
            <a:lvl3pPr>
              <a:defRPr sz="1875" b="0">
                <a:solidFill>
                  <a:srgbClr val="132E3B"/>
                </a:solidFill>
                <a:latin typeface="Arial"/>
                <a:ea typeface="Arial"/>
                <a:cs typeface="Arial"/>
              </a:defRPr>
            </a:lvl3pPr>
            <a:lvl4pPr>
              <a:defRPr sz="1875" b="0">
                <a:solidFill>
                  <a:srgbClr val="132E3B"/>
                </a:solidFill>
                <a:latin typeface="Arial"/>
                <a:ea typeface="Arial"/>
                <a:cs typeface="Arial"/>
              </a:defRPr>
            </a:lvl4pPr>
            <a:lvl5pPr>
              <a:defRPr sz="1875" b="0">
                <a:solidFill>
                  <a:srgbClr val="132E3B"/>
                </a:solidFill>
                <a:latin typeface="Arial"/>
                <a:ea typeface="Arial"/>
                <a:cs typeface="Arial"/>
              </a:defRPr>
            </a:lvl5pPr>
            <a:lvl6pPr>
              <a:defRPr sz="1875" b="0">
                <a:solidFill>
                  <a:srgbClr val="132E3B"/>
                </a:solidFill>
                <a:latin typeface="Arial"/>
                <a:ea typeface="Arial"/>
                <a:cs typeface="Arial"/>
              </a:defRPr>
            </a:lvl6pPr>
            <a:lvl7pPr>
              <a:defRPr sz="1875" b="0">
                <a:solidFill>
                  <a:srgbClr val="132E3B"/>
                </a:solidFill>
                <a:latin typeface="Arial"/>
                <a:ea typeface="Arial"/>
                <a:cs typeface="Arial"/>
              </a:defRPr>
            </a:lvl7pPr>
            <a:lvl8pPr>
              <a:defRPr sz="1875" b="0">
                <a:solidFill>
                  <a:srgbClr val="132E3B"/>
                </a:solidFill>
                <a:latin typeface="Arial"/>
                <a:ea typeface="Arial"/>
                <a:cs typeface="Arial"/>
              </a:defRPr>
            </a:lvl8pPr>
            <a:lvl9pPr>
              <a:defRPr sz="1875" b="0">
                <a:solidFill>
                  <a:srgbClr val="132E3B"/>
                </a:solidFill>
                <a:latin typeface="Arial"/>
                <a:ea typeface="Arial"/>
                <a:cs typeface="Arial"/>
              </a:defRPr>
            </a:lvl9pPr>
          </a:lstStyle>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monitoring time with</a:t>
            </a:r>
          </a:p>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a supported forecast</a:t>
            </a:r>
          </a:p>
        </p:txBody>
      </p:sp>
      <p:sp>
        <p:nvSpPr>
          <p:cNvPr id="9" name="">
            <a:extLst xmlns:a="http://schemas.openxmlformats.org/drawingml/2006/main">
              <a:ext uri="{FF2B5EF4-FFF2-40B4-BE49-F238E27FC236}">
                <a16:creationId xmlns:a16="http://schemas.microsoft.com/office/drawing/2014/main" id="{DAA71326-6396-4874-85B7-D9478F5A5952}"/>
              </a:ext>
            </a:extLst>
          </p:cNvPr>
          <p:cNvSpPr>
            <a:spLocks xmlns:a="http://schemas.openxmlformats.org/drawingml/2006/main" noGrp="1"/>
          </p:cNvSpPr>
          <p:nvPr/>
        </p:nvSpPr>
        <p:spPr>
          <a:xfrm xmlns:a="http://schemas.openxmlformats.org/drawingml/2006/main">
            <a:off x="666750" y="48577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32E3B"/>
                </a:solidFill>
                <a:latin typeface="Arial"/>
                <a:ea typeface="Arial"/>
                <a:cs typeface="Arial"/>
              </a:defRPr>
            </a:defPPr>
            <a:lvl1pPr>
              <a:defRPr sz="2250" b="0">
                <a:solidFill>
                  <a:srgbClr val="132E3B"/>
                </a:solidFill>
                <a:latin typeface="Arial"/>
                <a:ea typeface="Arial"/>
                <a:cs typeface="Arial"/>
              </a:defRPr>
            </a:lvl1pPr>
            <a:lvl2pPr>
              <a:defRPr sz="2250" b="0">
                <a:solidFill>
                  <a:srgbClr val="132E3B"/>
                </a:solidFill>
                <a:latin typeface="Arial"/>
                <a:ea typeface="Arial"/>
                <a:cs typeface="Arial"/>
              </a:defRPr>
            </a:lvl2pPr>
            <a:lvl3pPr>
              <a:defRPr sz="2250" b="0">
                <a:solidFill>
                  <a:srgbClr val="132E3B"/>
                </a:solidFill>
                <a:latin typeface="Arial"/>
                <a:ea typeface="Arial"/>
                <a:cs typeface="Arial"/>
              </a:defRPr>
            </a:lvl3pPr>
            <a:lvl4pPr>
              <a:defRPr sz="2250" b="0">
                <a:solidFill>
                  <a:srgbClr val="132E3B"/>
                </a:solidFill>
                <a:latin typeface="Arial"/>
                <a:ea typeface="Arial"/>
                <a:cs typeface="Arial"/>
              </a:defRPr>
            </a:lvl4pPr>
            <a:lvl5pPr>
              <a:defRPr sz="2250" b="0">
                <a:solidFill>
                  <a:srgbClr val="132E3B"/>
                </a:solidFill>
                <a:latin typeface="Arial"/>
                <a:ea typeface="Arial"/>
                <a:cs typeface="Arial"/>
              </a:defRPr>
            </a:lvl5pPr>
            <a:lvl6pPr>
              <a:defRPr sz="2250" b="0">
                <a:solidFill>
                  <a:srgbClr val="132E3B"/>
                </a:solidFill>
                <a:latin typeface="Arial"/>
                <a:ea typeface="Arial"/>
                <a:cs typeface="Arial"/>
              </a:defRPr>
            </a:lvl6pPr>
            <a:lvl7pPr>
              <a:defRPr sz="2250" b="0">
                <a:solidFill>
                  <a:srgbClr val="132E3B"/>
                </a:solidFill>
                <a:latin typeface="Arial"/>
                <a:ea typeface="Arial"/>
                <a:cs typeface="Arial"/>
              </a:defRPr>
            </a:lvl7pPr>
            <a:lvl8pPr>
              <a:defRPr sz="2250" b="0">
                <a:solidFill>
                  <a:srgbClr val="132E3B"/>
                </a:solidFill>
                <a:latin typeface="Arial"/>
                <a:ea typeface="Arial"/>
                <a:cs typeface="Arial"/>
              </a:defRPr>
            </a:lvl8pPr>
            <a:lvl9pPr>
              <a:defRPr sz="2250" b="0">
                <a:solidFill>
                  <a:srgbClr val="132E3B"/>
                </a:solidFill>
                <a:latin typeface="Arial"/>
                <a:ea typeface="Arial"/>
                <a:cs typeface="Arial"/>
              </a:defRPr>
            </a:lvl9pPr>
          </a:lstStyle>
          <a:p xmlns:a="http://schemas.openxmlformats.org/drawingml/2006/main">
            <a:pPr>
              <a:defRPr sz="2250" b="0">
                <a:solidFill>
                  <a:srgbClr val="132E3B"/>
                </a:solidFill>
                <a:latin typeface="Arial"/>
                <a:ea typeface="Arial"/>
                <a:cs typeface="Arial"/>
              </a:defRPr>
            </a:pPr>
            <a:r>
              <a:rPr sz="2250" b="0">
                <a:solidFill>
                  <a:srgbClr val="132E3B"/>
                </a:solidFill>
                <a:latin typeface="Arial"/>
                <a:ea typeface="Arial"/>
                <a:cs typeface="Arial"/>
              </a:rPr>
              <a:t>The 30-minute error band spans 50.8 mg/dL.</a:t>
            </a:r>
          </a:p>
          <a:p xmlns:a="http://schemas.openxmlformats.org/drawingml/2006/main">
            <a:pPr>
              <a:defRPr sz="2250" b="0">
                <a:solidFill>
                  <a:srgbClr val="132E3B"/>
                </a:solidFill>
                <a:latin typeface="Arial"/>
                <a:ea typeface="Arial"/>
                <a:cs typeface="Arial"/>
              </a:defRPr>
            </a:pPr>
            <a:r>
              <a:rPr sz="2250" b="0">
                <a:solidFill>
                  <a:srgbClr val="132E3B"/>
                </a:solidFill>
                <a:latin typeface="Arial"/>
                <a:ea typeface="Arial"/>
                <a:cs typeface="Arial"/>
              </a:rPr>
              <a:t>Average forecast improvement still leaves large errors.</a:t>
            </a:r>
          </a:p>
        </p:txBody>
      </p:sp>
    </p:spTree>
    <p:extLst>
      <p:ext uri="{BB962C8B-B14F-4D97-AF65-F5344CB8AC3E}">
        <p14:creationId xmlns:p14="http://schemas.microsoft.com/office/powerpoint/2010/main" val="397615766"/>
      </p:ext>
    </p:extLst>
  </p:cSld>
</p:sld>
</file>

<file path=ppt/slides/slide15.xml><?xml version="1.0" encoding="utf-8"?>
<p:sld xmlns:p="http://schemas.openxmlformats.org/presentationml/2006/main">
  <p:cSld>
    <p:bg>
      <p:bgPr>
        <a:solidFill xmlns:a="http://schemas.openxmlformats.org/drawingml/2006/main">
          <a:srgbClr val="F2F3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EFDB45-4E21-4DB3-B785-F0912B857C26}"/>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E3B"/>
                </a:solidFill>
                <a:latin typeface="Arial"/>
                <a:ea typeface="Arial"/>
                <a:cs typeface="Arial"/>
              </a:defRPr>
            </a:defPPr>
            <a:lvl1pPr>
              <a:defRPr sz="3450" b="1">
                <a:solidFill>
                  <a:srgbClr val="132E3B"/>
                </a:solidFill>
                <a:latin typeface="Arial"/>
                <a:ea typeface="Arial"/>
                <a:cs typeface="Arial"/>
              </a:defRPr>
            </a:lvl1pPr>
            <a:lvl2pPr>
              <a:defRPr sz="3450" b="1">
                <a:solidFill>
                  <a:srgbClr val="132E3B"/>
                </a:solidFill>
                <a:latin typeface="Arial"/>
                <a:ea typeface="Arial"/>
                <a:cs typeface="Arial"/>
              </a:defRPr>
            </a:lvl2pPr>
            <a:lvl3pPr>
              <a:defRPr sz="3450" b="1">
                <a:solidFill>
                  <a:srgbClr val="132E3B"/>
                </a:solidFill>
                <a:latin typeface="Arial"/>
                <a:ea typeface="Arial"/>
                <a:cs typeface="Arial"/>
              </a:defRPr>
            </a:lvl3pPr>
            <a:lvl4pPr>
              <a:defRPr sz="3450" b="1">
                <a:solidFill>
                  <a:srgbClr val="132E3B"/>
                </a:solidFill>
                <a:latin typeface="Arial"/>
                <a:ea typeface="Arial"/>
                <a:cs typeface="Arial"/>
              </a:defRPr>
            </a:lvl4pPr>
            <a:lvl5pPr>
              <a:defRPr sz="3450" b="1">
                <a:solidFill>
                  <a:srgbClr val="132E3B"/>
                </a:solidFill>
                <a:latin typeface="Arial"/>
                <a:ea typeface="Arial"/>
                <a:cs typeface="Arial"/>
              </a:defRPr>
            </a:lvl5pPr>
            <a:lvl6pPr>
              <a:defRPr sz="3450" b="1">
                <a:solidFill>
                  <a:srgbClr val="132E3B"/>
                </a:solidFill>
                <a:latin typeface="Arial"/>
                <a:ea typeface="Arial"/>
                <a:cs typeface="Arial"/>
              </a:defRPr>
            </a:lvl6pPr>
            <a:lvl7pPr>
              <a:defRPr sz="3450" b="1">
                <a:solidFill>
                  <a:srgbClr val="132E3B"/>
                </a:solidFill>
                <a:latin typeface="Arial"/>
                <a:ea typeface="Arial"/>
                <a:cs typeface="Arial"/>
              </a:defRPr>
            </a:lvl7pPr>
            <a:lvl8pPr>
              <a:defRPr sz="3450" b="1">
                <a:solidFill>
                  <a:srgbClr val="132E3B"/>
                </a:solidFill>
                <a:latin typeface="Arial"/>
                <a:ea typeface="Arial"/>
                <a:cs typeface="Arial"/>
              </a:defRPr>
            </a:lvl8pPr>
            <a:lvl9pPr>
              <a:defRPr sz="3450" b="1">
                <a:solidFill>
                  <a:srgbClr val="132E3B"/>
                </a:solidFill>
                <a:latin typeface="Arial"/>
                <a:ea typeface="Arial"/>
                <a:cs typeface="Arial"/>
              </a:defRPr>
            </a:lvl9pPr>
          </a:lstStyle>
          <a:p xmlns:a="http://schemas.openxmlformats.org/drawingml/2006/main">
            <a:pPr>
              <a:defRPr sz="3450" b="1">
                <a:solidFill>
                  <a:srgbClr val="132E3B"/>
                </a:solidFill>
                <a:latin typeface="Arial"/>
                <a:ea typeface="Arial"/>
                <a:cs typeface="Arial"/>
              </a:defRPr>
            </a:pPr>
            <a:r>
              <a:rPr sz="3450" b="1">
                <a:solidFill>
                  <a:srgbClr val="132E3B"/>
                </a:solidFill>
                <a:latin typeface="Arial"/>
                <a:ea typeface="Arial"/>
                <a:cs typeface="Arial"/>
              </a:rPr>
              <a:t>Disruption reduces forecast availability</a:t>
            </a:r>
          </a:p>
        </p:txBody>
      </p:sp>
      <p:sp>
        <p:nvSpPr>
          <p:cNvPr id="2" name="">
            <a:extLst xmlns:a="http://schemas.openxmlformats.org/drawingml/2006/main">
              <a:ext uri="{FF2B5EF4-FFF2-40B4-BE49-F238E27FC236}">
                <a16:creationId xmlns:a16="http://schemas.microsoft.com/office/drawing/2014/main" id="{61EEE6EA-52F0-4E2D-A1AF-B96028123FC2}"/>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087E80"/>
                </a:solidFill>
                <a:latin typeface="Arial"/>
                <a:ea typeface="Arial"/>
                <a:cs typeface="Arial"/>
              </a:defRPr>
            </a:defPPr>
            <a:lvl1pPr>
              <a:defRPr sz="1200" b="1">
                <a:solidFill>
                  <a:srgbClr val="087E80"/>
                </a:solidFill>
                <a:latin typeface="Arial"/>
                <a:ea typeface="Arial"/>
                <a:cs typeface="Arial"/>
              </a:defRPr>
            </a:lvl1pPr>
            <a:lvl2pPr>
              <a:defRPr sz="1200" b="1">
                <a:solidFill>
                  <a:srgbClr val="087E80"/>
                </a:solidFill>
                <a:latin typeface="Arial"/>
                <a:ea typeface="Arial"/>
                <a:cs typeface="Arial"/>
              </a:defRPr>
            </a:lvl2pPr>
            <a:lvl3pPr>
              <a:defRPr sz="1200" b="1">
                <a:solidFill>
                  <a:srgbClr val="087E80"/>
                </a:solidFill>
                <a:latin typeface="Arial"/>
                <a:ea typeface="Arial"/>
                <a:cs typeface="Arial"/>
              </a:defRPr>
            </a:lvl3pPr>
            <a:lvl4pPr>
              <a:defRPr sz="1200" b="1">
                <a:solidFill>
                  <a:srgbClr val="087E80"/>
                </a:solidFill>
                <a:latin typeface="Arial"/>
                <a:ea typeface="Arial"/>
                <a:cs typeface="Arial"/>
              </a:defRPr>
            </a:lvl4pPr>
            <a:lvl5pPr>
              <a:defRPr sz="1200" b="1">
                <a:solidFill>
                  <a:srgbClr val="087E80"/>
                </a:solidFill>
                <a:latin typeface="Arial"/>
                <a:ea typeface="Arial"/>
                <a:cs typeface="Arial"/>
              </a:defRPr>
            </a:lvl5pPr>
            <a:lvl6pPr>
              <a:defRPr sz="1200" b="1">
                <a:solidFill>
                  <a:srgbClr val="087E80"/>
                </a:solidFill>
                <a:latin typeface="Arial"/>
                <a:ea typeface="Arial"/>
                <a:cs typeface="Arial"/>
              </a:defRPr>
            </a:lvl6pPr>
            <a:lvl7pPr>
              <a:defRPr sz="1200" b="1">
                <a:solidFill>
                  <a:srgbClr val="087E80"/>
                </a:solidFill>
                <a:latin typeface="Arial"/>
                <a:ea typeface="Arial"/>
                <a:cs typeface="Arial"/>
              </a:defRPr>
            </a:lvl7pPr>
            <a:lvl8pPr>
              <a:defRPr sz="1200" b="1">
                <a:solidFill>
                  <a:srgbClr val="087E80"/>
                </a:solidFill>
                <a:latin typeface="Arial"/>
                <a:ea typeface="Arial"/>
                <a:cs typeface="Arial"/>
              </a:defRPr>
            </a:lvl8pPr>
            <a:lvl9pPr>
              <a:defRPr sz="1200" b="1">
                <a:solidFill>
                  <a:srgbClr val="087E80"/>
                </a:solidFill>
                <a:latin typeface="Arial"/>
                <a:ea typeface="Arial"/>
                <a:cs typeface="Arial"/>
              </a:defRPr>
            </a:lvl9pPr>
          </a:lstStyle>
          <a:p xmlns:a="http://schemas.openxmlformats.org/drawingml/2006/main">
            <a:pPr>
              <a:defRPr sz="1200" b="1">
                <a:solidFill>
                  <a:srgbClr val="087E80"/>
                </a:solidFill>
                <a:latin typeface="Arial"/>
                <a:ea typeface="Arial"/>
                <a:cs typeface="Arial"/>
              </a:defRPr>
            </a:pPr>
            <a:r>
              <a:rPr sz="1200" b="1">
                <a:solidFill>
                  <a:srgbClr val="087E80"/>
                </a:solidFill>
                <a:latin typeface="Arial"/>
                <a:ea typeface="Arial"/>
                <a:cs typeface="Arial"/>
              </a:rPr>
              <a:t>FORECAST RELIABILITY LAB</a:t>
            </a:r>
          </a:p>
        </p:txBody>
      </p:sp>
      <p:sp>
        <p:nvSpPr>
          <p:cNvPr id="3" name="">
            <a:extLst xmlns:a="http://schemas.openxmlformats.org/drawingml/2006/main">
              <a:ext uri="{FF2B5EF4-FFF2-40B4-BE49-F238E27FC236}">
                <a16:creationId xmlns:a16="http://schemas.microsoft.com/office/drawing/2014/main" id="{4D2561D3-3EDD-47EA-B1F1-02B26AE16BA3}"/>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BAD768FE-B51A-477B-8D17-242C5C59A952}"/>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All 9 reserved participants, including one unsupported recording. Controlled delivery faults.</a:t>
            </a:r>
          </a:p>
        </p:txBody>
      </p:sp>
      <p:graphicFrame>
        <p:nvGraphicFramePr>
          <p:cNvPr id="5" name="Chart">
            <a:extLst xmlns:a="http://schemas.openxmlformats.org/drawingml/2006/main">
              <a:ext uri="{FF2B5EF4-FFF2-40B4-BE49-F238E27FC236}">
                <a16:creationId xmlns:a16="http://schemas.microsoft.com/office/drawing/2014/main" id="{E92799E2-1AB3-4B76-AB2D-C34EA97604BA}"/>
              </a:ext>
            </a:extLst>
          </p:cNvPr>
          <p:cNvGraphicFramePr/>
          <p:nvPr/>
        </p:nvGraphicFramePr>
        <p:xfrm>
          <a:off xmlns:a="http://schemas.openxmlformats.org/drawingml/2006/main" x="762000" y="1809750"/>
          <a:ext xmlns:a="http://schemas.openxmlformats.org/drawingml/2006/main" cx="10477500" cy="3524250"/>
        </p:xfrm>
        <a:graphic xmlns:a="http://schemas.openxmlformats.org/drawingml/2006/main">
          <a:graphicData uri="http://schemas.openxmlformats.org/drawingml/2006/chart">
            <c:chart xmlns:r="http://schemas.openxmlformats.org/officeDocument/2006/relationships" xmlns:c="http://schemas.openxmlformats.org/drawingml/2006/chart" r:id="R1984be0648e14f4d"/>
          </a:graphicData>
        </a:graphic>
      </p:graphicFrame>
      <p:sp>
        <p:nvSpPr>
          <p:cNvPr id="6" name="">
            <a:extLst xmlns:a="http://schemas.openxmlformats.org/drawingml/2006/main">
              <a:ext uri="{FF2B5EF4-FFF2-40B4-BE49-F238E27FC236}">
                <a16:creationId xmlns:a16="http://schemas.microsoft.com/office/drawing/2014/main" id="{5856DACE-9967-44EB-909E-5B07B1E70F77}"/>
              </a:ext>
            </a:extLst>
          </p:cNvPr>
          <p:cNvSpPr>
            <a:spLocks xmlns:a="http://schemas.openxmlformats.org/drawingml/2006/main" noGrp="1"/>
          </p:cNvSpPr>
          <p:nvPr/>
        </p:nvSpPr>
        <p:spPr>
          <a:xfrm xmlns:a="http://schemas.openxmlformats.org/drawingml/2006/main">
            <a:off x="666750" y="542925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E3B"/>
                </a:solidFill>
                <a:latin typeface="Arial"/>
                <a:ea typeface="Arial"/>
                <a:cs typeface="Arial"/>
              </a:defRPr>
            </a:defPPr>
            <a:lvl1pPr>
              <a:defRPr sz="2025" b="0">
                <a:solidFill>
                  <a:srgbClr val="132E3B"/>
                </a:solidFill>
                <a:latin typeface="Arial"/>
                <a:ea typeface="Arial"/>
                <a:cs typeface="Arial"/>
              </a:defRPr>
            </a:lvl1pPr>
            <a:lvl2pPr>
              <a:defRPr sz="2025" b="0">
                <a:solidFill>
                  <a:srgbClr val="132E3B"/>
                </a:solidFill>
                <a:latin typeface="Arial"/>
                <a:ea typeface="Arial"/>
                <a:cs typeface="Arial"/>
              </a:defRPr>
            </a:lvl2pPr>
            <a:lvl3pPr>
              <a:defRPr sz="2025" b="0">
                <a:solidFill>
                  <a:srgbClr val="132E3B"/>
                </a:solidFill>
                <a:latin typeface="Arial"/>
                <a:ea typeface="Arial"/>
                <a:cs typeface="Arial"/>
              </a:defRPr>
            </a:lvl3pPr>
            <a:lvl4pPr>
              <a:defRPr sz="2025" b="0">
                <a:solidFill>
                  <a:srgbClr val="132E3B"/>
                </a:solidFill>
                <a:latin typeface="Arial"/>
                <a:ea typeface="Arial"/>
                <a:cs typeface="Arial"/>
              </a:defRPr>
            </a:lvl4pPr>
            <a:lvl5pPr>
              <a:defRPr sz="2025" b="0">
                <a:solidFill>
                  <a:srgbClr val="132E3B"/>
                </a:solidFill>
                <a:latin typeface="Arial"/>
                <a:ea typeface="Arial"/>
                <a:cs typeface="Arial"/>
              </a:defRPr>
            </a:lvl5pPr>
            <a:lvl6pPr>
              <a:defRPr sz="2025" b="0">
                <a:solidFill>
                  <a:srgbClr val="132E3B"/>
                </a:solidFill>
                <a:latin typeface="Arial"/>
                <a:ea typeface="Arial"/>
                <a:cs typeface="Arial"/>
              </a:defRPr>
            </a:lvl6pPr>
            <a:lvl7pPr>
              <a:defRPr sz="2025" b="0">
                <a:solidFill>
                  <a:srgbClr val="132E3B"/>
                </a:solidFill>
                <a:latin typeface="Arial"/>
                <a:ea typeface="Arial"/>
                <a:cs typeface="Arial"/>
              </a:defRPr>
            </a:lvl7pPr>
            <a:lvl8pPr>
              <a:defRPr sz="2025" b="0">
                <a:solidFill>
                  <a:srgbClr val="132E3B"/>
                </a:solidFill>
                <a:latin typeface="Arial"/>
                <a:ea typeface="Arial"/>
                <a:cs typeface="Arial"/>
              </a:defRPr>
            </a:lvl8pPr>
            <a:lvl9pPr>
              <a:defRPr sz="2025" b="0">
                <a:solidFill>
                  <a:srgbClr val="132E3B"/>
                </a:solidFill>
                <a:latin typeface="Arial"/>
                <a:ea typeface="Arial"/>
                <a:cs typeface="Arial"/>
              </a:defRPr>
            </a:lvl9pPr>
          </a:lstStyle>
          <a:p xmlns:a="http://schemas.openxmlformats.org/drawingml/2006/main">
            <a:pPr>
              <a:defRPr sz="2025" b="0">
                <a:solidFill>
                  <a:srgbClr val="132E3B"/>
                </a:solidFill>
                <a:latin typeface="Arial"/>
                <a:ea typeface="Arial"/>
                <a:cs typeface="Arial"/>
              </a:defRPr>
            </a:pPr>
            <a:r>
              <a:rPr sz="2025" b="0">
                <a:solidFill>
                  <a:srgbClr val="132E3B"/>
                </a:solidFill>
                <a:latin typeface="Arial"/>
                <a:ea typeface="Arial"/>
                <a:cs typeface="Arial"/>
              </a:rPr>
              <a:t>Retained forecasts equal normal forecasts on the same inputs.</a:t>
            </a:r>
          </a:p>
          <a:p xmlns:a="http://schemas.openxmlformats.org/drawingml/2006/main">
            <a:pPr>
              <a:defRPr sz="2025" b="0">
                <a:solidFill>
                  <a:srgbClr val="132E3B"/>
                </a:solidFill>
                <a:latin typeface="Arial"/>
                <a:ea typeface="Arial"/>
                <a:cs typeface="Arial"/>
              </a:defRPr>
            </a:pPr>
            <a:r>
              <a:rPr sz="2025" b="0">
                <a:solidFill>
                  <a:srgbClr val="132E3B"/>
                </a:solidFill>
                <a:latin typeface="Arial"/>
                <a:ea typeface="Arial"/>
                <a:cs typeface="Arial"/>
              </a:rPr>
              <a:t>The result measures availability, not better predictive accuracy.</a:t>
            </a:r>
          </a:p>
        </p:txBody>
      </p:sp>
    </p:spTree>
    <p:extLst>
      <p:ext uri="{BB962C8B-B14F-4D97-AF65-F5344CB8AC3E}">
        <p14:creationId xmlns:p14="http://schemas.microsoft.com/office/powerpoint/2010/main" val="1182558340"/>
      </p:ext>
    </p:extLst>
  </p:cSld>
</p:sld>
</file>

<file path=ppt/slides/slide1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2F1E28-58F3-4622-8A14-19C552AD20FA}"/>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5F7F8"/>
                </a:solidFill>
                <a:latin typeface="Arial"/>
                <a:ea typeface="Arial"/>
                <a:cs typeface="Arial"/>
              </a:defRPr>
            </a:defPPr>
            <a:lvl1pPr>
              <a:defRPr sz="3450" b="1">
                <a:solidFill>
                  <a:srgbClr val="F5F7F8"/>
                </a:solidFill>
                <a:latin typeface="Arial"/>
                <a:ea typeface="Arial"/>
                <a:cs typeface="Arial"/>
              </a:defRPr>
            </a:lvl1pPr>
            <a:lvl2pPr>
              <a:defRPr sz="3450" b="1">
                <a:solidFill>
                  <a:srgbClr val="F5F7F8"/>
                </a:solidFill>
                <a:latin typeface="Arial"/>
                <a:ea typeface="Arial"/>
                <a:cs typeface="Arial"/>
              </a:defRPr>
            </a:lvl2pPr>
            <a:lvl3pPr>
              <a:defRPr sz="3450" b="1">
                <a:solidFill>
                  <a:srgbClr val="F5F7F8"/>
                </a:solidFill>
                <a:latin typeface="Arial"/>
                <a:ea typeface="Arial"/>
                <a:cs typeface="Arial"/>
              </a:defRPr>
            </a:lvl3pPr>
            <a:lvl4pPr>
              <a:defRPr sz="3450" b="1">
                <a:solidFill>
                  <a:srgbClr val="F5F7F8"/>
                </a:solidFill>
                <a:latin typeface="Arial"/>
                <a:ea typeface="Arial"/>
                <a:cs typeface="Arial"/>
              </a:defRPr>
            </a:lvl4pPr>
            <a:lvl5pPr>
              <a:defRPr sz="3450" b="1">
                <a:solidFill>
                  <a:srgbClr val="F5F7F8"/>
                </a:solidFill>
                <a:latin typeface="Arial"/>
                <a:ea typeface="Arial"/>
                <a:cs typeface="Arial"/>
              </a:defRPr>
            </a:lvl5pPr>
            <a:lvl6pPr>
              <a:defRPr sz="3450" b="1">
                <a:solidFill>
                  <a:srgbClr val="F5F7F8"/>
                </a:solidFill>
                <a:latin typeface="Arial"/>
                <a:ea typeface="Arial"/>
                <a:cs typeface="Arial"/>
              </a:defRPr>
            </a:lvl6pPr>
            <a:lvl7pPr>
              <a:defRPr sz="3450" b="1">
                <a:solidFill>
                  <a:srgbClr val="F5F7F8"/>
                </a:solidFill>
                <a:latin typeface="Arial"/>
                <a:ea typeface="Arial"/>
                <a:cs typeface="Arial"/>
              </a:defRPr>
            </a:lvl7pPr>
            <a:lvl8pPr>
              <a:defRPr sz="3450" b="1">
                <a:solidFill>
                  <a:srgbClr val="F5F7F8"/>
                </a:solidFill>
                <a:latin typeface="Arial"/>
                <a:ea typeface="Arial"/>
                <a:cs typeface="Arial"/>
              </a:defRPr>
            </a:lvl8pPr>
            <a:lvl9pPr>
              <a:defRPr sz="3450" b="1">
                <a:solidFill>
                  <a:srgbClr val="F5F7F8"/>
                </a:solidFill>
                <a:latin typeface="Arial"/>
                <a:ea typeface="Arial"/>
                <a:cs typeface="Arial"/>
              </a:defRPr>
            </a:lvl9pPr>
          </a:lstStyle>
          <a:p xmlns:a="http://schemas.openxmlformats.org/drawingml/2006/main">
            <a:pPr>
              <a:defRPr sz="3450" b="1">
                <a:solidFill>
                  <a:srgbClr val="F5F7F8"/>
                </a:solidFill>
                <a:latin typeface="Arial"/>
                <a:ea typeface="Arial"/>
                <a:cs typeface="Arial"/>
              </a:defRPr>
            </a:pPr>
            <a:r>
              <a:rPr sz="3450" b="1">
                <a:solidFill>
                  <a:srgbClr val="F5F7F8"/>
                </a:solidFill>
                <a:latin typeface="Arial"/>
                <a:ea typeface="Arial"/>
                <a:cs typeface="Arial"/>
              </a:rPr>
              <a:t>A receipt for an actual issued forecast</a:t>
            </a:r>
          </a:p>
        </p:txBody>
      </p:sp>
      <p:sp>
        <p:nvSpPr>
          <p:cNvPr id="2" name="">
            <a:extLst xmlns:a="http://schemas.openxmlformats.org/drawingml/2006/main">
              <a:ext uri="{FF2B5EF4-FFF2-40B4-BE49-F238E27FC236}">
                <a16:creationId xmlns:a16="http://schemas.microsoft.com/office/drawing/2014/main" id="{DEEE9DC9-5DEA-4406-9EF1-E395807EABCD}"/>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7E2D0"/>
                </a:solidFill>
                <a:latin typeface="Arial"/>
                <a:ea typeface="Arial"/>
                <a:cs typeface="Arial"/>
              </a:defRPr>
            </a:defPPr>
            <a:lvl1pPr>
              <a:defRPr sz="1200" b="1">
                <a:solidFill>
                  <a:srgbClr val="67E2D0"/>
                </a:solidFill>
                <a:latin typeface="Arial"/>
                <a:ea typeface="Arial"/>
                <a:cs typeface="Arial"/>
              </a:defRPr>
            </a:lvl1pPr>
            <a:lvl2pPr>
              <a:defRPr sz="1200" b="1">
                <a:solidFill>
                  <a:srgbClr val="67E2D0"/>
                </a:solidFill>
                <a:latin typeface="Arial"/>
                <a:ea typeface="Arial"/>
                <a:cs typeface="Arial"/>
              </a:defRPr>
            </a:lvl2pPr>
            <a:lvl3pPr>
              <a:defRPr sz="1200" b="1">
                <a:solidFill>
                  <a:srgbClr val="67E2D0"/>
                </a:solidFill>
                <a:latin typeface="Arial"/>
                <a:ea typeface="Arial"/>
                <a:cs typeface="Arial"/>
              </a:defRPr>
            </a:lvl3pPr>
            <a:lvl4pPr>
              <a:defRPr sz="1200" b="1">
                <a:solidFill>
                  <a:srgbClr val="67E2D0"/>
                </a:solidFill>
                <a:latin typeface="Arial"/>
                <a:ea typeface="Arial"/>
                <a:cs typeface="Arial"/>
              </a:defRPr>
            </a:lvl4pPr>
            <a:lvl5pPr>
              <a:defRPr sz="1200" b="1">
                <a:solidFill>
                  <a:srgbClr val="67E2D0"/>
                </a:solidFill>
                <a:latin typeface="Arial"/>
                <a:ea typeface="Arial"/>
                <a:cs typeface="Arial"/>
              </a:defRPr>
            </a:lvl5pPr>
            <a:lvl6pPr>
              <a:defRPr sz="1200" b="1">
                <a:solidFill>
                  <a:srgbClr val="67E2D0"/>
                </a:solidFill>
                <a:latin typeface="Arial"/>
                <a:ea typeface="Arial"/>
                <a:cs typeface="Arial"/>
              </a:defRPr>
            </a:lvl6pPr>
            <a:lvl7pPr>
              <a:defRPr sz="1200" b="1">
                <a:solidFill>
                  <a:srgbClr val="67E2D0"/>
                </a:solidFill>
                <a:latin typeface="Arial"/>
                <a:ea typeface="Arial"/>
                <a:cs typeface="Arial"/>
              </a:defRPr>
            </a:lvl7pPr>
            <a:lvl8pPr>
              <a:defRPr sz="1200" b="1">
                <a:solidFill>
                  <a:srgbClr val="67E2D0"/>
                </a:solidFill>
                <a:latin typeface="Arial"/>
                <a:ea typeface="Arial"/>
                <a:cs typeface="Arial"/>
              </a:defRPr>
            </a:lvl8pPr>
            <a:lvl9pPr>
              <a:defRPr sz="1200" b="1">
                <a:solidFill>
                  <a:srgbClr val="67E2D0"/>
                </a:solidFill>
                <a:latin typeface="Arial"/>
                <a:ea typeface="Arial"/>
                <a:cs typeface="Arial"/>
              </a:defRPr>
            </a:lvl9pPr>
          </a:lstStyle>
          <a:p xmlns:a="http://schemas.openxmlformats.org/drawingml/2006/main">
            <a:pPr>
              <a:defRPr sz="1200" b="1">
                <a:solidFill>
                  <a:srgbClr val="67E2D0"/>
                </a:solidFill>
                <a:latin typeface="Arial"/>
                <a:ea typeface="Arial"/>
                <a:cs typeface="Arial"/>
              </a:defRPr>
            </a:pPr>
            <a:r>
              <a:rPr sz="1200" b="1">
                <a:solidFill>
                  <a:srgbClr val="67E2D0"/>
                </a:solidFill>
                <a:latin typeface="Arial"/>
                <a:ea typeface="Arial"/>
                <a:cs typeface="Arial"/>
              </a:rPr>
              <a:t>INPUTS AND OUTCOMES</a:t>
            </a:r>
          </a:p>
        </p:txBody>
      </p:sp>
      <p:sp>
        <p:nvSpPr>
          <p:cNvPr id="3" name="">
            <a:extLst xmlns:a="http://schemas.openxmlformats.org/drawingml/2006/main">
              <a:ext uri="{FF2B5EF4-FFF2-40B4-BE49-F238E27FC236}">
                <a16:creationId xmlns:a16="http://schemas.microsoft.com/office/drawing/2014/main" id="{B549DA9B-E975-44AD-BACE-99CAA8B604BB}"/>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5A0AF77-093F-464C-989F-471E92ABB444}"/>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Content hash checks the issued payload. It is not a signature or authenticated medical record.</a:t>
            </a:r>
          </a:p>
        </p:txBody>
      </p:sp>
      <p:sp>
        <p:nvSpPr>
          <p:cNvPr id="5" name="">
            <a:extLst xmlns:a="http://schemas.openxmlformats.org/drawingml/2006/main">
              <a:ext uri="{FF2B5EF4-FFF2-40B4-BE49-F238E27FC236}">
                <a16:creationId xmlns:a16="http://schemas.microsoft.com/office/drawing/2014/main" id="{1E25607F-395B-4744-8003-4284F3D38F4F}"/>
              </a:ext>
            </a:extLst>
          </p:cNvPr>
          <p:cNvSpPr>
            <a:spLocks xmlns:a="http://schemas.openxmlformats.org/drawingml/2006/main" noGrp="1"/>
          </p:cNvSpPr>
          <p:nvPr/>
        </p:nvSpPr>
        <p:spPr>
          <a:xfrm xmlns:a="http://schemas.openxmlformats.org/drawingml/2006/main">
            <a:off x="666750" y="1714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7E2D0"/>
                </a:solidFill>
                <a:latin typeface="Arial"/>
                <a:ea typeface="Arial"/>
                <a:cs typeface="Arial"/>
              </a:defRPr>
            </a:defPPr>
            <a:lvl1pPr>
              <a:defRPr sz="2175" b="1">
                <a:solidFill>
                  <a:srgbClr val="67E2D0"/>
                </a:solidFill>
                <a:latin typeface="Arial"/>
                <a:ea typeface="Arial"/>
                <a:cs typeface="Arial"/>
              </a:defRPr>
            </a:lvl1pPr>
            <a:lvl2pPr>
              <a:defRPr sz="2175" b="1">
                <a:solidFill>
                  <a:srgbClr val="67E2D0"/>
                </a:solidFill>
                <a:latin typeface="Arial"/>
                <a:ea typeface="Arial"/>
                <a:cs typeface="Arial"/>
              </a:defRPr>
            </a:lvl2pPr>
            <a:lvl3pPr>
              <a:defRPr sz="2175" b="1">
                <a:solidFill>
                  <a:srgbClr val="67E2D0"/>
                </a:solidFill>
                <a:latin typeface="Arial"/>
                <a:ea typeface="Arial"/>
                <a:cs typeface="Arial"/>
              </a:defRPr>
            </a:lvl3pPr>
            <a:lvl4pPr>
              <a:defRPr sz="2175" b="1">
                <a:solidFill>
                  <a:srgbClr val="67E2D0"/>
                </a:solidFill>
                <a:latin typeface="Arial"/>
                <a:ea typeface="Arial"/>
                <a:cs typeface="Arial"/>
              </a:defRPr>
            </a:lvl4pPr>
            <a:lvl5pPr>
              <a:defRPr sz="2175" b="1">
                <a:solidFill>
                  <a:srgbClr val="67E2D0"/>
                </a:solidFill>
                <a:latin typeface="Arial"/>
                <a:ea typeface="Arial"/>
                <a:cs typeface="Arial"/>
              </a:defRPr>
            </a:lvl5pPr>
            <a:lvl6pPr>
              <a:defRPr sz="2175" b="1">
                <a:solidFill>
                  <a:srgbClr val="67E2D0"/>
                </a:solidFill>
                <a:latin typeface="Arial"/>
                <a:ea typeface="Arial"/>
                <a:cs typeface="Arial"/>
              </a:defRPr>
            </a:lvl6pPr>
            <a:lvl7pPr>
              <a:defRPr sz="2175" b="1">
                <a:solidFill>
                  <a:srgbClr val="67E2D0"/>
                </a:solidFill>
                <a:latin typeface="Arial"/>
                <a:ea typeface="Arial"/>
                <a:cs typeface="Arial"/>
              </a:defRPr>
            </a:lvl7pPr>
            <a:lvl8pPr>
              <a:defRPr sz="2175" b="1">
                <a:solidFill>
                  <a:srgbClr val="67E2D0"/>
                </a:solidFill>
                <a:latin typeface="Arial"/>
                <a:ea typeface="Arial"/>
                <a:cs typeface="Arial"/>
              </a:defRPr>
            </a:lvl8pPr>
            <a:lvl9pPr>
              <a:defRPr sz="2175" b="1">
                <a:solidFill>
                  <a:srgbClr val="67E2D0"/>
                </a:solidFill>
                <a:latin typeface="Arial"/>
                <a:ea typeface="Arial"/>
                <a:cs typeface="Arial"/>
              </a:defRPr>
            </a:lvl9pPr>
          </a:lstStyle>
          <a:p xmlns:a="http://schemas.openxmlformats.org/drawingml/2006/main">
            <a:pPr>
              <a:defRPr sz="2175" b="1">
                <a:solidFill>
                  <a:srgbClr val="67E2D0"/>
                </a:solidFill>
                <a:latin typeface="Arial"/>
                <a:ea typeface="Arial"/>
                <a:cs typeface="Arial"/>
              </a:defRPr>
            </a:pPr>
            <a:r>
              <a:rPr sz="2175" b="1">
                <a:solidFill>
                  <a:srgbClr val="67E2D0"/>
                </a:solidFill>
                <a:latin typeface="Arial"/>
                <a:ea typeface="Arial"/>
                <a:cs typeface="Arial"/>
              </a:rPr>
              <a:t>Issued at 2025-07-26 11:25:00</a:t>
            </a:r>
          </a:p>
        </p:txBody>
      </p:sp>
      <p:graphicFrame>
        <p:nvGraphicFramePr>
          <p:cNvPr id="6" name="">
            <a:extLst xmlns:a="http://schemas.openxmlformats.org/drawingml/2006/main">
              <a:ext uri="{FF2B5EF4-FFF2-40B4-BE49-F238E27FC236}">
                <a16:creationId xmlns:a16="http://schemas.microsoft.com/office/drawing/2014/main" id="{463F2D12-8989-4A53-AA9C-164E5E14432A}"/>
              </a:ext>
            </a:extLst>
          </p:cNvPr>
          <p:cNvGraphicFramePr/>
          <p:nvPr/>
        </p:nvGraphicFramePr>
        <p:xfrm>
          <a:off xmlns:a="http://schemas.openxmlformats.org/drawingml/2006/main" x="666750" y="2333625"/>
          <a:ext xmlns:a="http://schemas.openxmlformats.org/drawingml/2006/main" cx="7239000" cy="3095625"/>
        </p:xfrm>
        <a:graphic xmlns:a="http://schemas.openxmlformats.org/drawingml/2006/main">
          <a:graphicData uri="http://schemas.openxmlformats.org/drawingml/2006/table">
            <a:tbl>
              <a:tblPr/>
              <a:tblGrid>
                <a:gridCol w="2381250"/>
                <a:gridCol w="2428875"/>
                <a:gridCol w="2428875"/>
              </a:tblGrid>
              <a:tr h="442232">
                <a:tc>
                  <a:txBody>
                    <a:bodyPr lIns="142875" tIns="95250" rIns="123825" bIns="95250"/>
                    <a:lstStyle/>
                    <a:p>
                      <a:r>
                        <a:rPr sz="1575" b="1">
                          <a:solidFill>
                            <a:srgbClr val="F5F7F8"/>
                          </a:solidFill>
                          <a:latin typeface="Arial"/>
                          <a:ea typeface="Arial"/>
                          <a:cs typeface="Arial"/>
                        </a:rPr>
                        <a:t>Target time</a:t>
                      </a:r>
                    </a:p>
                  </a:txBody>
                  <a:tcPr marL="91440" marR="91440" marT="45720" marB="45720" anchor="ctr">
                    <a:lnL w="5715">
                      <a:solidFill>
                        <a:srgbClr val="294052"/>
                      </a:solidFill>
                      <a:prstDash val="solid"/>
                    </a:lnL>
                    <a:lnR w="5715">
                      <a:solidFill>
                        <a:srgbClr val="294052"/>
                      </a:solidFill>
                      <a:prstDash val="solid"/>
                    </a:lnR>
                    <a:lnT w="5715">
                      <a:solidFill>
                        <a:srgbClr val="294052"/>
                      </a:solidFill>
                      <a:prstDash val="solid"/>
                    </a:lnT>
                    <a:lnB w="5715">
                      <a:solidFill>
                        <a:srgbClr val="294052"/>
                      </a:solidFill>
                      <a:prstDash val="solid"/>
                    </a:lnB>
                    <a:solidFill>
                      <a:srgbClr val="163B47"/>
                    </a:solidFill>
                  </a:tcPr>
                </a:tc>
                <a:tc>
                  <a:txBody>
                    <a:bodyPr lIns="142875" tIns="95250" rIns="123825" bIns="95250"/>
                    <a:lstStyle/>
                    <a:p>
                      <a:r>
                        <a:rPr sz="1575" b="1">
                          <a:solidFill>
                            <a:srgbClr val="F5F7F8"/>
                          </a:solidFill>
                          <a:latin typeface="Arial"/>
                          <a:ea typeface="Arial"/>
                          <a:cs typeface="Arial"/>
                        </a:rPr>
                        <a:t>Issued glucose</a:t>
                      </a:r>
                    </a:p>
                  </a:txBody>
                  <a:tcPr marL="91440" marR="91440" marT="45720" marB="45720" anchor="ctr">
                    <a:lnR w="5715">
                      <a:solidFill>
                        <a:srgbClr val="294052"/>
                      </a:solidFill>
                      <a:prstDash val="solid"/>
                    </a:lnR>
                    <a:lnT w="5715">
                      <a:solidFill>
                        <a:srgbClr val="294052"/>
                      </a:solidFill>
                      <a:prstDash val="solid"/>
                    </a:lnT>
                    <a:lnB w="5715">
                      <a:solidFill>
                        <a:srgbClr val="294052"/>
                      </a:solidFill>
                      <a:prstDash val="solid"/>
                    </a:lnB>
                    <a:solidFill>
                      <a:srgbClr val="163B47"/>
                    </a:solidFill>
                  </a:tcPr>
                </a:tc>
                <a:tc>
                  <a:txBody>
                    <a:bodyPr lIns="142875" tIns="95250" rIns="123825" bIns="95250"/>
                    <a:lstStyle/>
                    <a:p>
                      <a:r>
                        <a:rPr sz="1575" b="1">
                          <a:solidFill>
                            <a:srgbClr val="F5F7F8"/>
                          </a:solidFill>
                          <a:latin typeface="Arial"/>
                          <a:ea typeface="Arial"/>
                          <a:cs typeface="Arial"/>
                        </a:rPr>
                        <a:t>Later observed</a:t>
                      </a:r>
                    </a:p>
                  </a:txBody>
                  <a:tcPr marL="91440" marR="91440" marT="45720" marB="45720" anchor="ctr">
                    <a:lnR w="5715">
                      <a:solidFill>
                        <a:srgbClr val="294052"/>
                      </a:solidFill>
                      <a:prstDash val="solid"/>
                    </a:lnR>
                    <a:lnT w="5715">
                      <a:solidFill>
                        <a:srgbClr val="294052"/>
                      </a:solidFill>
                      <a:prstDash val="solid"/>
                    </a:lnT>
                    <a:lnB w="5715">
                      <a:solidFill>
                        <a:srgbClr val="294052"/>
                      </a:solidFill>
                      <a:prstDash val="solid"/>
                    </a:lnB>
                    <a:solidFill>
                      <a:srgbClr val="163B47"/>
                    </a:solidFill>
                  </a:tcPr>
                </a:tc>
              </a:tr>
              <a:tr h="442232">
                <a:tc>
                  <a:txBody>
                    <a:bodyPr lIns="142875" tIns="95250" rIns="123825" bIns="95250"/>
                    <a:lstStyle/>
                    <a:p>
                      <a:r>
                        <a:rPr sz="1650" b="0">
                          <a:solidFill>
                            <a:srgbClr val="F5F7F8"/>
                          </a:solidFill>
                          <a:latin typeface="Arial"/>
                          <a:ea typeface="Arial"/>
                          <a:cs typeface="Arial"/>
                        </a:rPr>
                        <a:t>11:30</a:t>
                      </a:r>
                    </a:p>
                  </a:txBody>
                  <a:tcPr marL="91440" marR="91440" marT="45720" marB="45720" anchor="ctr">
                    <a:lnL w="5715">
                      <a:solidFill>
                        <a:srgbClr val="294052"/>
                      </a:solidFill>
                      <a:prstDash val="solid"/>
                    </a:lnL>
                    <a:lnR w="5715">
                      <a:solidFill>
                        <a:srgbClr val="294052"/>
                      </a:solidFill>
                      <a:prstDash val="solid"/>
                    </a:lnR>
                    <a:lnB w="5715">
                      <a:solidFill>
                        <a:srgbClr val="294052"/>
                      </a:solidFill>
                      <a:prstDash val="solid"/>
                    </a:lnB>
                    <a:solidFill>
                      <a:srgbClr val="101E2C"/>
                    </a:solidFill>
                  </a:tcPr>
                </a:tc>
                <a:tc>
                  <a:txBody>
                    <a:bodyPr lIns="142875" tIns="95250" rIns="123825" bIns="95250"/>
                    <a:lstStyle/>
                    <a:p>
                      <a:r>
                        <a:rPr sz="1650" b="0">
                          <a:solidFill>
                            <a:srgbClr val="F5F7F8"/>
                          </a:solidFill>
                          <a:latin typeface="Arial"/>
                          <a:ea typeface="Arial"/>
                          <a:cs typeface="Arial"/>
                        </a:rPr>
                        <a:t>87.1 mg/dL</a:t>
                      </a:r>
                    </a:p>
                  </a:txBody>
                  <a:tcPr marL="91440" marR="91440" marT="45720" marB="45720" anchor="ctr">
                    <a:lnR w="5715">
                      <a:solidFill>
                        <a:srgbClr val="294052"/>
                      </a:solidFill>
                      <a:prstDash val="solid"/>
                    </a:lnR>
                    <a:lnB w="5715">
                      <a:solidFill>
                        <a:srgbClr val="294052"/>
                      </a:solidFill>
                      <a:prstDash val="solid"/>
                    </a:lnB>
                    <a:solidFill>
                      <a:srgbClr val="101E2C"/>
                    </a:solidFill>
                  </a:tcPr>
                </a:tc>
                <a:tc>
                  <a:txBody>
                    <a:bodyPr lIns="142875" tIns="95250" rIns="123825" bIns="95250"/>
                    <a:lstStyle/>
                    <a:p>
                      <a:r>
                        <a:rPr sz="1650" b="0">
                          <a:solidFill>
                            <a:srgbClr val="F5F7F8"/>
                          </a:solidFill>
                          <a:latin typeface="Arial"/>
                          <a:ea typeface="Arial"/>
                          <a:cs typeface="Arial"/>
                        </a:rPr>
                        <a:t>85.0 mg/dL</a:t>
                      </a:r>
                    </a:p>
                  </a:txBody>
                  <a:tcPr marL="91440" marR="91440" marT="45720" marB="45720" anchor="ctr">
                    <a:lnR w="5715">
                      <a:solidFill>
                        <a:srgbClr val="294052"/>
                      </a:solidFill>
                      <a:prstDash val="solid"/>
                    </a:lnR>
                    <a:lnB w="5715">
                      <a:solidFill>
                        <a:srgbClr val="294052"/>
                      </a:solidFill>
                      <a:prstDash val="solid"/>
                    </a:lnB>
                    <a:solidFill>
                      <a:srgbClr val="101E2C"/>
                    </a:solidFill>
                  </a:tcPr>
                </a:tc>
              </a:tr>
              <a:tr h="442232">
                <a:tc>
                  <a:txBody>
                    <a:bodyPr lIns="142875" tIns="95250" rIns="123825" bIns="95250"/>
                    <a:lstStyle/>
                    <a:p>
                      <a:r>
                        <a:rPr sz="1650" b="0">
                          <a:solidFill>
                            <a:srgbClr val="F5F7F8"/>
                          </a:solidFill>
                          <a:latin typeface="Arial"/>
                          <a:ea typeface="Arial"/>
                          <a:cs typeface="Arial"/>
                        </a:rPr>
                        <a:t>11:35</a:t>
                      </a:r>
                    </a:p>
                  </a:txBody>
                  <a:tcPr marL="91440" marR="91440" marT="45720" marB="45720" anchor="ctr">
                    <a:lnL w="5715">
                      <a:solidFill>
                        <a:srgbClr val="294052"/>
                      </a:solidFill>
                      <a:prstDash val="solid"/>
                    </a:lnL>
                    <a:lnR w="5715">
                      <a:solidFill>
                        <a:srgbClr val="294052"/>
                      </a:solidFill>
                      <a:prstDash val="solid"/>
                    </a:lnR>
                    <a:lnB w="5715">
                      <a:solidFill>
                        <a:srgbClr val="294052"/>
                      </a:solidFill>
                      <a:prstDash val="solid"/>
                    </a:lnB>
                    <a:solidFill>
                      <a:srgbClr val="132433"/>
                    </a:solidFill>
                  </a:tcPr>
                </a:tc>
                <a:tc>
                  <a:txBody>
                    <a:bodyPr lIns="142875" tIns="95250" rIns="123825" bIns="95250"/>
                    <a:lstStyle/>
                    <a:p>
                      <a:r>
                        <a:rPr sz="1650" b="0">
                          <a:solidFill>
                            <a:srgbClr val="F5F7F8"/>
                          </a:solidFill>
                          <a:latin typeface="Arial"/>
                          <a:ea typeface="Arial"/>
                          <a:cs typeface="Arial"/>
                        </a:rPr>
                        <a:t>87.2 mg/dL</a:t>
                      </a:r>
                    </a:p>
                  </a:txBody>
                  <a:tcPr marL="91440" marR="91440" marT="45720" marB="45720" anchor="ctr">
                    <a:lnR w="5715">
                      <a:solidFill>
                        <a:srgbClr val="294052"/>
                      </a:solidFill>
                      <a:prstDash val="solid"/>
                    </a:lnR>
                    <a:lnB w="5715">
                      <a:solidFill>
                        <a:srgbClr val="294052"/>
                      </a:solidFill>
                      <a:prstDash val="solid"/>
                    </a:lnB>
                    <a:solidFill>
                      <a:srgbClr val="132433"/>
                    </a:solidFill>
                  </a:tcPr>
                </a:tc>
                <a:tc>
                  <a:txBody>
                    <a:bodyPr lIns="142875" tIns="95250" rIns="123825" bIns="95250"/>
                    <a:lstStyle/>
                    <a:p>
                      <a:r>
                        <a:rPr sz="1650" b="0">
                          <a:solidFill>
                            <a:srgbClr val="F5F7F8"/>
                          </a:solidFill>
                          <a:latin typeface="Arial"/>
                          <a:ea typeface="Arial"/>
                          <a:cs typeface="Arial"/>
                        </a:rPr>
                        <a:t>81.0 mg/dL</a:t>
                      </a:r>
                    </a:p>
                  </a:txBody>
                  <a:tcPr marL="91440" marR="91440" marT="45720" marB="45720" anchor="ctr">
                    <a:lnR w="5715">
                      <a:solidFill>
                        <a:srgbClr val="294052"/>
                      </a:solidFill>
                      <a:prstDash val="solid"/>
                    </a:lnR>
                    <a:lnB w="5715">
                      <a:solidFill>
                        <a:srgbClr val="294052"/>
                      </a:solidFill>
                      <a:prstDash val="solid"/>
                    </a:lnB>
                    <a:solidFill>
                      <a:srgbClr val="132433"/>
                    </a:solidFill>
                  </a:tcPr>
                </a:tc>
              </a:tr>
              <a:tr h="442232">
                <a:tc>
                  <a:txBody>
                    <a:bodyPr lIns="142875" tIns="95250" rIns="123825" bIns="95250"/>
                    <a:lstStyle/>
                    <a:p>
                      <a:r>
                        <a:rPr sz="1650" b="0">
                          <a:solidFill>
                            <a:srgbClr val="F5F7F8"/>
                          </a:solidFill>
                          <a:latin typeface="Arial"/>
                          <a:ea typeface="Arial"/>
                          <a:cs typeface="Arial"/>
                        </a:rPr>
                        <a:t>11:40</a:t>
                      </a:r>
                    </a:p>
                  </a:txBody>
                  <a:tcPr marL="91440" marR="91440" marT="45720" marB="45720" anchor="ctr">
                    <a:lnL w="5715">
                      <a:solidFill>
                        <a:srgbClr val="294052"/>
                      </a:solidFill>
                      <a:prstDash val="solid"/>
                    </a:lnL>
                    <a:lnR w="5715">
                      <a:solidFill>
                        <a:srgbClr val="294052"/>
                      </a:solidFill>
                      <a:prstDash val="solid"/>
                    </a:lnR>
                    <a:lnB w="5715">
                      <a:solidFill>
                        <a:srgbClr val="294052"/>
                      </a:solidFill>
                      <a:prstDash val="solid"/>
                    </a:lnB>
                    <a:solidFill>
                      <a:srgbClr val="101E2C"/>
                    </a:solidFill>
                  </a:tcPr>
                </a:tc>
                <a:tc>
                  <a:txBody>
                    <a:bodyPr lIns="142875" tIns="95250" rIns="123825" bIns="95250"/>
                    <a:lstStyle/>
                    <a:p>
                      <a:r>
                        <a:rPr sz="1650" b="0">
                          <a:solidFill>
                            <a:srgbClr val="F5F7F8"/>
                          </a:solidFill>
                          <a:latin typeface="Arial"/>
                          <a:ea typeface="Arial"/>
                          <a:cs typeface="Arial"/>
                        </a:rPr>
                        <a:t>88.7 mg/dL</a:t>
                      </a:r>
                    </a:p>
                  </a:txBody>
                  <a:tcPr marL="91440" marR="91440" marT="45720" marB="45720" anchor="ctr">
                    <a:lnR w="5715">
                      <a:solidFill>
                        <a:srgbClr val="294052"/>
                      </a:solidFill>
                      <a:prstDash val="solid"/>
                    </a:lnR>
                    <a:lnB w="5715">
                      <a:solidFill>
                        <a:srgbClr val="294052"/>
                      </a:solidFill>
                      <a:prstDash val="solid"/>
                    </a:lnB>
                    <a:solidFill>
                      <a:srgbClr val="101E2C"/>
                    </a:solidFill>
                  </a:tcPr>
                </a:tc>
                <a:tc>
                  <a:txBody>
                    <a:bodyPr lIns="142875" tIns="95250" rIns="123825" bIns="95250"/>
                    <a:lstStyle/>
                    <a:p>
                      <a:r>
                        <a:rPr sz="1650" b="0">
                          <a:solidFill>
                            <a:srgbClr val="F5F7F8"/>
                          </a:solidFill>
                          <a:latin typeface="Arial"/>
                          <a:ea typeface="Arial"/>
                          <a:cs typeface="Arial"/>
                        </a:rPr>
                        <a:t>80.0 mg/dL</a:t>
                      </a:r>
                    </a:p>
                  </a:txBody>
                  <a:tcPr marL="91440" marR="91440" marT="45720" marB="45720" anchor="ctr">
                    <a:lnR w="5715">
                      <a:solidFill>
                        <a:srgbClr val="294052"/>
                      </a:solidFill>
                      <a:prstDash val="solid"/>
                    </a:lnR>
                    <a:lnB w="5715">
                      <a:solidFill>
                        <a:srgbClr val="294052"/>
                      </a:solidFill>
                      <a:prstDash val="solid"/>
                    </a:lnB>
                    <a:solidFill>
                      <a:srgbClr val="101E2C"/>
                    </a:solidFill>
                  </a:tcPr>
                </a:tc>
              </a:tr>
              <a:tr h="442232">
                <a:tc>
                  <a:txBody>
                    <a:bodyPr lIns="142875" tIns="95250" rIns="123825" bIns="95250"/>
                    <a:lstStyle/>
                    <a:p>
                      <a:r>
                        <a:rPr sz="1650" b="0">
                          <a:solidFill>
                            <a:srgbClr val="F5F7F8"/>
                          </a:solidFill>
                          <a:latin typeface="Arial"/>
                          <a:ea typeface="Arial"/>
                          <a:cs typeface="Arial"/>
                        </a:rPr>
                        <a:t>11:45</a:t>
                      </a:r>
                    </a:p>
                  </a:txBody>
                  <a:tcPr marL="91440" marR="91440" marT="45720" marB="45720" anchor="ctr">
                    <a:lnL w="5715">
                      <a:solidFill>
                        <a:srgbClr val="294052"/>
                      </a:solidFill>
                      <a:prstDash val="solid"/>
                    </a:lnL>
                    <a:lnR w="5715">
                      <a:solidFill>
                        <a:srgbClr val="294052"/>
                      </a:solidFill>
                      <a:prstDash val="solid"/>
                    </a:lnR>
                    <a:lnB w="5715">
                      <a:solidFill>
                        <a:srgbClr val="294052"/>
                      </a:solidFill>
                      <a:prstDash val="solid"/>
                    </a:lnB>
                    <a:solidFill>
                      <a:srgbClr val="132433"/>
                    </a:solidFill>
                  </a:tcPr>
                </a:tc>
                <a:tc>
                  <a:txBody>
                    <a:bodyPr lIns="142875" tIns="95250" rIns="123825" bIns="95250"/>
                    <a:lstStyle/>
                    <a:p>
                      <a:r>
                        <a:rPr sz="1650" b="0">
                          <a:solidFill>
                            <a:srgbClr val="F5F7F8"/>
                          </a:solidFill>
                          <a:latin typeface="Arial"/>
                          <a:ea typeface="Arial"/>
                          <a:cs typeface="Arial"/>
                        </a:rPr>
                        <a:t>89.9 mg/dL</a:t>
                      </a:r>
                    </a:p>
                  </a:txBody>
                  <a:tcPr marL="91440" marR="91440" marT="45720" marB="45720" anchor="ctr">
                    <a:lnR w="5715">
                      <a:solidFill>
                        <a:srgbClr val="294052"/>
                      </a:solidFill>
                      <a:prstDash val="solid"/>
                    </a:lnR>
                    <a:lnB w="5715">
                      <a:solidFill>
                        <a:srgbClr val="294052"/>
                      </a:solidFill>
                      <a:prstDash val="solid"/>
                    </a:lnB>
                    <a:solidFill>
                      <a:srgbClr val="132433"/>
                    </a:solidFill>
                  </a:tcPr>
                </a:tc>
                <a:tc>
                  <a:txBody>
                    <a:bodyPr lIns="142875" tIns="95250" rIns="123825" bIns="95250"/>
                    <a:lstStyle/>
                    <a:p>
                      <a:r>
                        <a:rPr sz="1650" b="0">
                          <a:solidFill>
                            <a:srgbClr val="F5F7F8"/>
                          </a:solidFill>
                          <a:latin typeface="Arial"/>
                          <a:ea typeface="Arial"/>
                          <a:cs typeface="Arial"/>
                        </a:rPr>
                        <a:t>81.0 mg/dL</a:t>
                      </a:r>
                    </a:p>
                  </a:txBody>
                  <a:tcPr marL="91440" marR="91440" marT="45720" marB="45720" anchor="ctr">
                    <a:lnR w="5715">
                      <a:solidFill>
                        <a:srgbClr val="294052"/>
                      </a:solidFill>
                      <a:prstDash val="solid"/>
                    </a:lnR>
                    <a:lnB w="5715">
                      <a:solidFill>
                        <a:srgbClr val="294052"/>
                      </a:solidFill>
                      <a:prstDash val="solid"/>
                    </a:lnB>
                    <a:solidFill>
                      <a:srgbClr val="132433"/>
                    </a:solidFill>
                  </a:tcPr>
                </a:tc>
              </a:tr>
              <a:tr h="442232">
                <a:tc>
                  <a:txBody>
                    <a:bodyPr lIns="142875" tIns="95250" rIns="123825" bIns="95250"/>
                    <a:lstStyle/>
                    <a:p>
                      <a:r>
                        <a:rPr sz="1650" b="0">
                          <a:solidFill>
                            <a:srgbClr val="F5F7F8"/>
                          </a:solidFill>
                          <a:latin typeface="Arial"/>
                          <a:ea typeface="Arial"/>
                          <a:cs typeface="Arial"/>
                        </a:rPr>
                        <a:t>11:50</a:t>
                      </a:r>
                    </a:p>
                  </a:txBody>
                  <a:tcPr marL="91440" marR="91440" marT="45720" marB="45720" anchor="ctr">
                    <a:lnL w="5715">
                      <a:solidFill>
                        <a:srgbClr val="294052"/>
                      </a:solidFill>
                      <a:prstDash val="solid"/>
                    </a:lnL>
                    <a:lnR w="5715">
                      <a:solidFill>
                        <a:srgbClr val="294052"/>
                      </a:solidFill>
                      <a:prstDash val="solid"/>
                    </a:lnR>
                    <a:lnB w="5715">
                      <a:solidFill>
                        <a:srgbClr val="294052"/>
                      </a:solidFill>
                      <a:prstDash val="solid"/>
                    </a:lnB>
                    <a:solidFill>
                      <a:srgbClr val="101E2C"/>
                    </a:solidFill>
                  </a:tcPr>
                </a:tc>
                <a:tc>
                  <a:txBody>
                    <a:bodyPr lIns="142875" tIns="95250" rIns="123825" bIns="95250"/>
                    <a:lstStyle/>
                    <a:p>
                      <a:r>
                        <a:rPr sz="1650" b="0">
                          <a:solidFill>
                            <a:srgbClr val="F5F7F8"/>
                          </a:solidFill>
                          <a:latin typeface="Arial"/>
                          <a:ea typeface="Arial"/>
                          <a:cs typeface="Arial"/>
                        </a:rPr>
                        <a:t>89.7 mg/dL</a:t>
                      </a:r>
                    </a:p>
                  </a:txBody>
                  <a:tcPr marL="91440" marR="91440" marT="45720" marB="45720" anchor="ctr">
                    <a:lnR w="5715">
                      <a:solidFill>
                        <a:srgbClr val="294052"/>
                      </a:solidFill>
                      <a:prstDash val="solid"/>
                    </a:lnR>
                    <a:lnB w="5715">
                      <a:solidFill>
                        <a:srgbClr val="294052"/>
                      </a:solidFill>
                      <a:prstDash val="solid"/>
                    </a:lnB>
                    <a:solidFill>
                      <a:srgbClr val="101E2C"/>
                    </a:solidFill>
                  </a:tcPr>
                </a:tc>
                <a:tc>
                  <a:txBody>
                    <a:bodyPr lIns="142875" tIns="95250" rIns="123825" bIns="95250"/>
                    <a:lstStyle/>
                    <a:p>
                      <a:r>
                        <a:rPr sz="1650" b="0">
                          <a:solidFill>
                            <a:srgbClr val="F5F7F8"/>
                          </a:solidFill>
                          <a:latin typeface="Arial"/>
                          <a:ea typeface="Arial"/>
                          <a:cs typeface="Arial"/>
                        </a:rPr>
                        <a:t>85.0 mg/dL</a:t>
                      </a:r>
                    </a:p>
                  </a:txBody>
                  <a:tcPr marL="91440" marR="91440" marT="45720" marB="45720" anchor="ctr">
                    <a:lnR w="5715">
                      <a:solidFill>
                        <a:srgbClr val="294052"/>
                      </a:solidFill>
                      <a:prstDash val="solid"/>
                    </a:lnR>
                    <a:lnB w="5715">
                      <a:solidFill>
                        <a:srgbClr val="294052"/>
                      </a:solidFill>
                      <a:prstDash val="solid"/>
                    </a:lnB>
                    <a:solidFill>
                      <a:srgbClr val="101E2C"/>
                    </a:solidFill>
                  </a:tcPr>
                </a:tc>
              </a:tr>
              <a:tr h="442232">
                <a:tc>
                  <a:txBody>
                    <a:bodyPr lIns="142875" tIns="95250" rIns="123825" bIns="95250"/>
                    <a:lstStyle/>
                    <a:p>
                      <a:r>
                        <a:rPr sz="1650" b="0">
                          <a:solidFill>
                            <a:srgbClr val="F5F7F8"/>
                          </a:solidFill>
                          <a:latin typeface="Arial"/>
                          <a:ea typeface="Arial"/>
                          <a:cs typeface="Arial"/>
                        </a:rPr>
                        <a:t>11:55</a:t>
                      </a:r>
                    </a:p>
                  </a:txBody>
                  <a:tcPr marL="91440" marR="91440" marT="45720" marB="45720" anchor="ctr">
                    <a:lnL w="5715">
                      <a:solidFill>
                        <a:srgbClr val="294052"/>
                      </a:solidFill>
                      <a:prstDash val="solid"/>
                    </a:lnL>
                    <a:lnR w="5715">
                      <a:solidFill>
                        <a:srgbClr val="294052"/>
                      </a:solidFill>
                      <a:prstDash val="solid"/>
                    </a:lnR>
                    <a:lnB w="5715">
                      <a:solidFill>
                        <a:srgbClr val="294052"/>
                      </a:solidFill>
                      <a:prstDash val="solid"/>
                    </a:lnB>
                    <a:solidFill>
                      <a:srgbClr val="132433"/>
                    </a:solidFill>
                  </a:tcPr>
                </a:tc>
                <a:tc>
                  <a:txBody>
                    <a:bodyPr lIns="142875" tIns="95250" rIns="123825" bIns="95250"/>
                    <a:lstStyle/>
                    <a:p>
                      <a:r>
                        <a:rPr sz="1650" b="0">
                          <a:solidFill>
                            <a:srgbClr val="F5F7F8"/>
                          </a:solidFill>
                          <a:latin typeface="Arial"/>
                          <a:ea typeface="Arial"/>
                          <a:cs typeface="Arial"/>
                        </a:rPr>
                        <a:t>90.7 mg/dL</a:t>
                      </a:r>
                    </a:p>
                  </a:txBody>
                  <a:tcPr marL="91440" marR="91440" marT="45720" marB="45720" anchor="ctr">
                    <a:lnR w="5715">
                      <a:solidFill>
                        <a:srgbClr val="294052"/>
                      </a:solidFill>
                      <a:prstDash val="solid"/>
                    </a:lnR>
                    <a:lnB w="5715">
                      <a:solidFill>
                        <a:srgbClr val="294052"/>
                      </a:solidFill>
                      <a:prstDash val="solid"/>
                    </a:lnB>
                    <a:solidFill>
                      <a:srgbClr val="132433"/>
                    </a:solidFill>
                  </a:tcPr>
                </a:tc>
                <a:tc>
                  <a:txBody>
                    <a:bodyPr lIns="142875" tIns="95250" rIns="123825" bIns="95250"/>
                    <a:lstStyle/>
                    <a:p>
                      <a:r>
                        <a:rPr sz="1650" b="0">
                          <a:solidFill>
                            <a:srgbClr val="F5F7F8"/>
                          </a:solidFill>
                          <a:latin typeface="Arial"/>
                          <a:ea typeface="Arial"/>
                          <a:cs typeface="Arial"/>
                        </a:rPr>
                        <a:t>91.0 mg/dL</a:t>
                      </a:r>
                    </a:p>
                  </a:txBody>
                  <a:tcPr marL="91440" marR="91440" marT="45720" marB="45720" anchor="ctr">
                    <a:lnR w="5715">
                      <a:solidFill>
                        <a:srgbClr val="294052"/>
                      </a:solidFill>
                      <a:prstDash val="solid"/>
                    </a:lnR>
                    <a:lnB w="5715">
                      <a:solidFill>
                        <a:srgbClr val="294052"/>
                      </a:solidFill>
                      <a:prstDash val="solid"/>
                    </a:lnB>
                    <a:solidFill>
                      <a:srgbClr val="132433"/>
                    </a:solidFill>
                  </a:tcPr>
                </a:tc>
              </a:tr>
            </a:tbl>
          </a:graphicData>
        </a:graphic>
      </p:graphicFrame>
      <p:sp>
        <p:nvSpPr>
          <p:cNvPr id="7" name="">
            <a:extLst xmlns:a="http://schemas.openxmlformats.org/drawingml/2006/main">
              <a:ext uri="{FF2B5EF4-FFF2-40B4-BE49-F238E27FC236}">
                <a16:creationId xmlns:a16="http://schemas.microsoft.com/office/drawing/2014/main" id="{596B5059-A65C-47BF-8EB2-B039B102FE35}"/>
              </a:ext>
            </a:extLst>
          </p:cNvPr>
          <p:cNvSpPr>
            <a:spLocks xmlns:a="http://schemas.openxmlformats.org/drawingml/2006/main" noGrp="1"/>
          </p:cNvSpPr>
          <p:nvPr/>
        </p:nvSpPr>
        <p:spPr>
          <a:xfrm xmlns:a="http://schemas.openxmlformats.org/drawingml/2006/main">
            <a:off x="8524875" y="2428875"/>
            <a:ext cx="285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5F7F8"/>
                </a:solidFill>
                <a:latin typeface="Arial"/>
                <a:ea typeface="Arial"/>
                <a:cs typeface="Arial"/>
              </a:defRPr>
            </a:defPPr>
            <a:lvl1pPr>
              <a:defRPr sz="2250" b="1">
                <a:solidFill>
                  <a:srgbClr val="F5F7F8"/>
                </a:solidFill>
                <a:latin typeface="Arial"/>
                <a:ea typeface="Arial"/>
                <a:cs typeface="Arial"/>
              </a:defRPr>
            </a:lvl1pPr>
            <a:lvl2pPr>
              <a:defRPr sz="2250" b="1">
                <a:solidFill>
                  <a:srgbClr val="F5F7F8"/>
                </a:solidFill>
                <a:latin typeface="Arial"/>
                <a:ea typeface="Arial"/>
                <a:cs typeface="Arial"/>
              </a:defRPr>
            </a:lvl2pPr>
            <a:lvl3pPr>
              <a:defRPr sz="2250" b="1">
                <a:solidFill>
                  <a:srgbClr val="F5F7F8"/>
                </a:solidFill>
                <a:latin typeface="Arial"/>
                <a:ea typeface="Arial"/>
                <a:cs typeface="Arial"/>
              </a:defRPr>
            </a:lvl3pPr>
            <a:lvl4pPr>
              <a:defRPr sz="2250" b="1">
                <a:solidFill>
                  <a:srgbClr val="F5F7F8"/>
                </a:solidFill>
                <a:latin typeface="Arial"/>
                <a:ea typeface="Arial"/>
                <a:cs typeface="Arial"/>
              </a:defRPr>
            </a:lvl4pPr>
            <a:lvl5pPr>
              <a:defRPr sz="2250" b="1">
                <a:solidFill>
                  <a:srgbClr val="F5F7F8"/>
                </a:solidFill>
                <a:latin typeface="Arial"/>
                <a:ea typeface="Arial"/>
                <a:cs typeface="Arial"/>
              </a:defRPr>
            </a:lvl5pPr>
            <a:lvl6pPr>
              <a:defRPr sz="2250" b="1">
                <a:solidFill>
                  <a:srgbClr val="F5F7F8"/>
                </a:solidFill>
                <a:latin typeface="Arial"/>
                <a:ea typeface="Arial"/>
                <a:cs typeface="Arial"/>
              </a:defRPr>
            </a:lvl6pPr>
            <a:lvl7pPr>
              <a:defRPr sz="2250" b="1">
                <a:solidFill>
                  <a:srgbClr val="F5F7F8"/>
                </a:solidFill>
                <a:latin typeface="Arial"/>
                <a:ea typeface="Arial"/>
                <a:cs typeface="Arial"/>
              </a:defRPr>
            </a:lvl7pPr>
            <a:lvl8pPr>
              <a:defRPr sz="2250" b="1">
                <a:solidFill>
                  <a:srgbClr val="F5F7F8"/>
                </a:solidFill>
                <a:latin typeface="Arial"/>
                <a:ea typeface="Arial"/>
                <a:cs typeface="Arial"/>
              </a:defRPr>
            </a:lvl8pPr>
            <a:lvl9pPr>
              <a:defRPr sz="2250" b="1">
                <a:solidFill>
                  <a:srgbClr val="F5F7F8"/>
                </a:solidFill>
                <a:latin typeface="Arial"/>
                <a:ea typeface="Arial"/>
                <a:cs typeface="Arial"/>
              </a:defRPr>
            </a:lvl9pPr>
          </a:lstStyle>
          <a:p xmlns:a="http://schemas.openxmlformats.org/drawingml/2006/main">
            <a:pPr>
              <a:defRPr sz="2250" b="1">
                <a:solidFill>
                  <a:srgbClr val="F5F7F8"/>
                </a:solidFill>
                <a:latin typeface="Arial"/>
                <a:ea typeface="Arial"/>
                <a:cs typeface="Arial"/>
              </a:defRPr>
            </a:pPr>
            <a:r>
              <a:rPr sz="2250" b="1">
                <a:solidFill>
                  <a:srgbClr val="F5F7F8"/>
                </a:solidFill>
                <a:latin typeface="Arial"/>
                <a:ea typeface="Arial"/>
                <a:cs typeface="Arial"/>
              </a:rPr>
              <a:t>13 received inputs</a:t>
            </a:r>
          </a:p>
          <a:p xmlns:a="http://schemas.openxmlformats.org/drawingml/2006/main">
            <a:pPr>
              <a:defRPr sz="2250" b="1">
                <a:solidFill>
                  <a:srgbClr val="F5F7F8"/>
                </a:solidFill>
                <a:latin typeface="Arial"/>
                <a:ea typeface="Arial"/>
                <a:cs typeface="Arial"/>
              </a:defRPr>
            </a:pPr>
            <a:r>
              <a:rPr sz="2250" b="1">
                <a:solidFill>
                  <a:srgbClr val="F5F7F8"/>
                </a:solidFill>
                <a:latin typeface="Arial"/>
                <a:ea typeface="Arial"/>
                <a:cs typeface="Arial"/>
              </a:rPr>
              <a:t>6 fixed predictions</a:t>
            </a:r>
          </a:p>
          <a:p xmlns:a="http://schemas.openxmlformats.org/drawingml/2006/main">
            <a:pPr>
              <a:defRPr sz="2250" b="1">
                <a:solidFill>
                  <a:srgbClr val="F5F7F8"/>
                </a:solidFill>
                <a:latin typeface="Arial"/>
                <a:ea typeface="Arial"/>
                <a:cs typeface="Arial"/>
              </a:defRPr>
            </a:pPr>
            <a:r>
              <a:rPr sz="2250" b="1">
                <a:solidFill>
                  <a:srgbClr val="F5F7F8"/>
                </a:solidFill>
                <a:latin typeface="Arial"/>
                <a:ea typeface="Arial"/>
                <a:cs typeface="Arial"/>
              </a:rPr>
              <a:t>Later outcomes</a:t>
            </a:r>
          </a:p>
        </p:txBody>
      </p:sp>
      <p:sp>
        <p:nvSpPr>
          <p:cNvPr id="8" name="">
            <a:extLst xmlns:a="http://schemas.openxmlformats.org/drawingml/2006/main">
              <a:ext uri="{FF2B5EF4-FFF2-40B4-BE49-F238E27FC236}">
                <a16:creationId xmlns:a16="http://schemas.microsoft.com/office/drawing/2014/main" id="{36BF7554-1EBC-4A6A-9882-28482FDAE2D6}"/>
              </a:ext>
            </a:extLst>
          </p:cNvPr>
          <p:cNvSpPr>
            <a:spLocks xmlns:a="http://schemas.openxmlformats.org/drawingml/2006/main" noGrp="1"/>
          </p:cNvSpPr>
          <p:nvPr/>
        </p:nvSpPr>
        <p:spPr>
          <a:xfrm xmlns:a="http://schemas.openxmlformats.org/drawingml/2006/main">
            <a:off x="8524875" y="43815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AABCCF"/>
                </a:solidFill>
                <a:latin typeface="Arial"/>
                <a:ea typeface="Arial"/>
                <a:cs typeface="Arial"/>
              </a:defRPr>
            </a:defPPr>
            <a:lvl1pPr>
              <a:defRPr sz="1950" b="0">
                <a:solidFill>
                  <a:srgbClr val="AABCCF"/>
                </a:solidFill>
                <a:latin typeface="Arial"/>
                <a:ea typeface="Arial"/>
                <a:cs typeface="Arial"/>
              </a:defRPr>
            </a:lvl1pPr>
            <a:lvl2pPr>
              <a:defRPr sz="1950" b="0">
                <a:solidFill>
                  <a:srgbClr val="AABCCF"/>
                </a:solidFill>
                <a:latin typeface="Arial"/>
                <a:ea typeface="Arial"/>
                <a:cs typeface="Arial"/>
              </a:defRPr>
            </a:lvl2pPr>
            <a:lvl3pPr>
              <a:defRPr sz="1950" b="0">
                <a:solidFill>
                  <a:srgbClr val="AABCCF"/>
                </a:solidFill>
                <a:latin typeface="Arial"/>
                <a:ea typeface="Arial"/>
                <a:cs typeface="Arial"/>
              </a:defRPr>
            </a:lvl3pPr>
            <a:lvl4pPr>
              <a:defRPr sz="1950" b="0">
                <a:solidFill>
                  <a:srgbClr val="AABCCF"/>
                </a:solidFill>
                <a:latin typeface="Arial"/>
                <a:ea typeface="Arial"/>
                <a:cs typeface="Arial"/>
              </a:defRPr>
            </a:lvl4pPr>
            <a:lvl5pPr>
              <a:defRPr sz="1950" b="0">
                <a:solidFill>
                  <a:srgbClr val="AABCCF"/>
                </a:solidFill>
                <a:latin typeface="Arial"/>
                <a:ea typeface="Arial"/>
                <a:cs typeface="Arial"/>
              </a:defRPr>
            </a:lvl5pPr>
            <a:lvl6pPr>
              <a:defRPr sz="1950" b="0">
                <a:solidFill>
                  <a:srgbClr val="AABCCF"/>
                </a:solidFill>
                <a:latin typeface="Arial"/>
                <a:ea typeface="Arial"/>
                <a:cs typeface="Arial"/>
              </a:defRPr>
            </a:lvl6pPr>
            <a:lvl7pPr>
              <a:defRPr sz="1950" b="0">
                <a:solidFill>
                  <a:srgbClr val="AABCCF"/>
                </a:solidFill>
                <a:latin typeface="Arial"/>
                <a:ea typeface="Arial"/>
                <a:cs typeface="Arial"/>
              </a:defRPr>
            </a:lvl7pPr>
            <a:lvl8pPr>
              <a:defRPr sz="1950" b="0">
                <a:solidFill>
                  <a:srgbClr val="AABCCF"/>
                </a:solidFill>
                <a:latin typeface="Arial"/>
                <a:ea typeface="Arial"/>
                <a:cs typeface="Arial"/>
              </a:defRPr>
            </a:lvl8pPr>
            <a:lvl9pPr>
              <a:defRPr sz="1950" b="0">
                <a:solidFill>
                  <a:srgbClr val="AABCCF"/>
                </a:solidFill>
                <a:latin typeface="Arial"/>
                <a:ea typeface="Arial"/>
                <a:cs typeface="Arial"/>
              </a:defRPr>
            </a:lvl9pPr>
          </a:lstStyle>
          <a:p xmlns:a="http://schemas.openxmlformats.org/drawingml/2006/main">
            <a:pPr>
              <a:defRPr sz="1950" b="0">
                <a:solidFill>
                  <a:srgbClr val="AABCCF"/>
                </a:solidFill>
                <a:latin typeface="Arial"/>
                <a:ea typeface="Arial"/>
                <a:cs typeface="Arial"/>
              </a:defRPr>
            </a:pPr>
            <a:r>
              <a:rPr sz="1950" b="0">
                <a:solidFill>
                  <a:srgbClr val="AABCCF"/>
                </a:solidFill>
                <a:latin typeface="Arial"/>
                <a:ea typeface="Arial"/>
                <a:cs typeface="Arial"/>
              </a:rPr>
              <a:t>Download JSON</a:t>
            </a:r>
          </a:p>
          <a:p xmlns:a="http://schemas.openxmlformats.org/drawingml/2006/main">
            <a:pPr>
              <a:defRPr sz="1950" b="0">
                <a:solidFill>
                  <a:srgbClr val="AABCCF"/>
                </a:solidFill>
                <a:latin typeface="Arial"/>
                <a:ea typeface="Arial"/>
                <a:cs typeface="Arial"/>
              </a:defRPr>
            </a:pPr>
            <a:r>
              <a:rPr sz="1950" b="0">
                <a:solidFill>
                  <a:srgbClr val="AABCCF"/>
                </a:solidFill>
                <a:latin typeface="Arial"/>
                <a:ea typeface="Arial"/>
                <a:cs typeface="Arial"/>
              </a:rPr>
              <a:t>from the dashboard</a:t>
            </a:r>
          </a:p>
        </p:txBody>
      </p:sp>
    </p:spTree>
    <p:extLst>
      <p:ext uri="{BB962C8B-B14F-4D97-AF65-F5344CB8AC3E}">
        <p14:creationId xmlns:p14="http://schemas.microsoft.com/office/powerpoint/2010/main" val="996016596"/>
      </p:ext>
    </p:extLst>
  </p:cSld>
</p:sld>
</file>

<file path=ppt/slides/slide1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234F9EC-9BD3-44FD-A257-A1ADBD600C91}"/>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5F7F8"/>
                </a:solidFill>
                <a:latin typeface="Arial"/>
                <a:ea typeface="Arial"/>
                <a:cs typeface="Arial"/>
              </a:defRPr>
            </a:defPPr>
            <a:lvl1pPr>
              <a:defRPr sz="3450" b="1">
                <a:solidFill>
                  <a:srgbClr val="F5F7F8"/>
                </a:solidFill>
                <a:latin typeface="Arial"/>
                <a:ea typeface="Arial"/>
                <a:cs typeface="Arial"/>
              </a:defRPr>
            </a:lvl1pPr>
            <a:lvl2pPr>
              <a:defRPr sz="3450" b="1">
                <a:solidFill>
                  <a:srgbClr val="F5F7F8"/>
                </a:solidFill>
                <a:latin typeface="Arial"/>
                <a:ea typeface="Arial"/>
                <a:cs typeface="Arial"/>
              </a:defRPr>
            </a:lvl2pPr>
            <a:lvl3pPr>
              <a:defRPr sz="3450" b="1">
                <a:solidFill>
                  <a:srgbClr val="F5F7F8"/>
                </a:solidFill>
                <a:latin typeface="Arial"/>
                <a:ea typeface="Arial"/>
                <a:cs typeface="Arial"/>
              </a:defRPr>
            </a:lvl3pPr>
            <a:lvl4pPr>
              <a:defRPr sz="3450" b="1">
                <a:solidFill>
                  <a:srgbClr val="F5F7F8"/>
                </a:solidFill>
                <a:latin typeface="Arial"/>
                <a:ea typeface="Arial"/>
                <a:cs typeface="Arial"/>
              </a:defRPr>
            </a:lvl4pPr>
            <a:lvl5pPr>
              <a:defRPr sz="3450" b="1">
                <a:solidFill>
                  <a:srgbClr val="F5F7F8"/>
                </a:solidFill>
                <a:latin typeface="Arial"/>
                <a:ea typeface="Arial"/>
                <a:cs typeface="Arial"/>
              </a:defRPr>
            </a:lvl5pPr>
            <a:lvl6pPr>
              <a:defRPr sz="3450" b="1">
                <a:solidFill>
                  <a:srgbClr val="F5F7F8"/>
                </a:solidFill>
                <a:latin typeface="Arial"/>
                <a:ea typeface="Arial"/>
                <a:cs typeface="Arial"/>
              </a:defRPr>
            </a:lvl6pPr>
            <a:lvl7pPr>
              <a:defRPr sz="3450" b="1">
                <a:solidFill>
                  <a:srgbClr val="F5F7F8"/>
                </a:solidFill>
                <a:latin typeface="Arial"/>
                <a:ea typeface="Arial"/>
                <a:cs typeface="Arial"/>
              </a:defRPr>
            </a:lvl7pPr>
            <a:lvl8pPr>
              <a:defRPr sz="3450" b="1">
                <a:solidFill>
                  <a:srgbClr val="F5F7F8"/>
                </a:solidFill>
                <a:latin typeface="Arial"/>
                <a:ea typeface="Arial"/>
                <a:cs typeface="Arial"/>
              </a:defRPr>
            </a:lvl8pPr>
            <a:lvl9pPr>
              <a:defRPr sz="3450" b="1">
                <a:solidFill>
                  <a:srgbClr val="F5F7F8"/>
                </a:solidFill>
                <a:latin typeface="Arial"/>
                <a:ea typeface="Arial"/>
                <a:cs typeface="Arial"/>
              </a:defRPr>
            </a:lvl9pPr>
          </a:lstStyle>
          <a:p xmlns:a="http://schemas.openxmlformats.org/drawingml/2006/main">
            <a:pPr>
              <a:defRPr sz="3450" b="1">
                <a:solidFill>
                  <a:srgbClr val="F5F7F8"/>
                </a:solidFill>
                <a:latin typeface="Arial"/>
                <a:ea typeface="Arial"/>
                <a:cs typeface="Arial"/>
              </a:defRPr>
            </a:pPr>
            <a:r>
              <a:rPr sz="3450" b="1">
                <a:solidFill>
                  <a:srgbClr val="F5F7F8"/>
                </a:solidFill>
                <a:latin typeface="Arial"/>
                <a:ea typeface="Arial"/>
                <a:cs typeface="Arial"/>
              </a:rPr>
              <a:t>What we must establish next</a:t>
            </a:r>
          </a:p>
        </p:txBody>
      </p:sp>
      <p:sp>
        <p:nvSpPr>
          <p:cNvPr id="2" name="">
            <a:extLst xmlns:a="http://schemas.openxmlformats.org/drawingml/2006/main">
              <a:ext uri="{FF2B5EF4-FFF2-40B4-BE49-F238E27FC236}">
                <a16:creationId xmlns:a16="http://schemas.microsoft.com/office/drawing/2014/main" id="{981E2D64-3699-4A89-9A76-BD7DC0831ABE}"/>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7E2D0"/>
                </a:solidFill>
                <a:latin typeface="Arial"/>
                <a:ea typeface="Arial"/>
                <a:cs typeface="Arial"/>
              </a:defRPr>
            </a:defPPr>
            <a:lvl1pPr>
              <a:defRPr sz="1200" b="1">
                <a:solidFill>
                  <a:srgbClr val="67E2D0"/>
                </a:solidFill>
                <a:latin typeface="Arial"/>
                <a:ea typeface="Arial"/>
                <a:cs typeface="Arial"/>
              </a:defRPr>
            </a:lvl1pPr>
            <a:lvl2pPr>
              <a:defRPr sz="1200" b="1">
                <a:solidFill>
                  <a:srgbClr val="67E2D0"/>
                </a:solidFill>
                <a:latin typeface="Arial"/>
                <a:ea typeface="Arial"/>
                <a:cs typeface="Arial"/>
              </a:defRPr>
            </a:lvl2pPr>
            <a:lvl3pPr>
              <a:defRPr sz="1200" b="1">
                <a:solidFill>
                  <a:srgbClr val="67E2D0"/>
                </a:solidFill>
                <a:latin typeface="Arial"/>
                <a:ea typeface="Arial"/>
                <a:cs typeface="Arial"/>
              </a:defRPr>
            </a:lvl3pPr>
            <a:lvl4pPr>
              <a:defRPr sz="1200" b="1">
                <a:solidFill>
                  <a:srgbClr val="67E2D0"/>
                </a:solidFill>
                <a:latin typeface="Arial"/>
                <a:ea typeface="Arial"/>
                <a:cs typeface="Arial"/>
              </a:defRPr>
            </a:lvl4pPr>
            <a:lvl5pPr>
              <a:defRPr sz="1200" b="1">
                <a:solidFill>
                  <a:srgbClr val="67E2D0"/>
                </a:solidFill>
                <a:latin typeface="Arial"/>
                <a:ea typeface="Arial"/>
                <a:cs typeface="Arial"/>
              </a:defRPr>
            </a:lvl5pPr>
            <a:lvl6pPr>
              <a:defRPr sz="1200" b="1">
                <a:solidFill>
                  <a:srgbClr val="67E2D0"/>
                </a:solidFill>
                <a:latin typeface="Arial"/>
                <a:ea typeface="Arial"/>
                <a:cs typeface="Arial"/>
              </a:defRPr>
            </a:lvl6pPr>
            <a:lvl7pPr>
              <a:defRPr sz="1200" b="1">
                <a:solidFill>
                  <a:srgbClr val="67E2D0"/>
                </a:solidFill>
                <a:latin typeface="Arial"/>
                <a:ea typeface="Arial"/>
                <a:cs typeface="Arial"/>
              </a:defRPr>
            </a:lvl7pPr>
            <a:lvl8pPr>
              <a:defRPr sz="1200" b="1">
                <a:solidFill>
                  <a:srgbClr val="67E2D0"/>
                </a:solidFill>
                <a:latin typeface="Arial"/>
                <a:ea typeface="Arial"/>
                <a:cs typeface="Arial"/>
              </a:defRPr>
            </a:lvl8pPr>
            <a:lvl9pPr>
              <a:defRPr sz="1200" b="1">
                <a:solidFill>
                  <a:srgbClr val="67E2D0"/>
                </a:solidFill>
                <a:latin typeface="Arial"/>
                <a:ea typeface="Arial"/>
                <a:cs typeface="Arial"/>
              </a:defRPr>
            </a:lvl9pPr>
          </a:lstStyle>
          <a:p xmlns:a="http://schemas.openxmlformats.org/drawingml/2006/main">
            <a:pPr>
              <a:defRPr sz="1200" b="1">
                <a:solidFill>
                  <a:srgbClr val="67E2D0"/>
                </a:solidFill>
                <a:latin typeface="Arial"/>
                <a:ea typeface="Arial"/>
                <a:cs typeface="Arial"/>
              </a:defRPr>
            </a:pPr>
            <a:r>
              <a:rPr sz="1200" b="1">
                <a:solidFill>
                  <a:srgbClr val="67E2D0"/>
                </a:solidFill>
                <a:latin typeface="Arial"/>
                <a:ea typeface="Arial"/>
                <a:cs typeface="Arial"/>
              </a:rPr>
              <a:t>ROADMAP</a:t>
            </a:r>
          </a:p>
        </p:txBody>
      </p:sp>
      <p:sp>
        <p:nvSpPr>
          <p:cNvPr id="3" name="">
            <a:extLst xmlns:a="http://schemas.openxmlformats.org/drawingml/2006/main">
              <a:ext uri="{FF2B5EF4-FFF2-40B4-BE49-F238E27FC236}">
                <a16:creationId xmlns:a16="http://schemas.microsoft.com/office/drawing/2014/main" id="{8971C67A-2740-41FC-97E7-0F96DD584B90}"/>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6380BF8E-5F23-42AF-87A8-F376527D9734}"/>
              </a:ext>
            </a:extLst>
          </p:cNvPr>
          <p:cNvSpPr>
            <a:spLocks xmlns:a="http://schemas.openxmlformats.org/drawingml/2006/main" noGrp="1"/>
          </p:cNvSpPr>
          <p:nvPr/>
        </p:nvSpPr>
        <p:spPr>
          <a:xfrm xmlns:a="http://schemas.openxmlformats.org/drawingml/2006/main">
            <a:off x="666750" y="19050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7E2D0"/>
                </a:solidFill>
                <a:latin typeface="Arial"/>
                <a:ea typeface="Arial"/>
                <a:cs typeface="Arial"/>
              </a:defRPr>
            </a:defPPr>
            <a:lvl1pPr>
              <a:defRPr sz="2175" b="1">
                <a:solidFill>
                  <a:srgbClr val="67E2D0"/>
                </a:solidFill>
                <a:latin typeface="Arial"/>
                <a:ea typeface="Arial"/>
                <a:cs typeface="Arial"/>
              </a:defRPr>
            </a:lvl1pPr>
            <a:lvl2pPr>
              <a:defRPr sz="2175" b="1">
                <a:solidFill>
                  <a:srgbClr val="67E2D0"/>
                </a:solidFill>
                <a:latin typeface="Arial"/>
                <a:ea typeface="Arial"/>
                <a:cs typeface="Arial"/>
              </a:defRPr>
            </a:lvl2pPr>
            <a:lvl3pPr>
              <a:defRPr sz="2175" b="1">
                <a:solidFill>
                  <a:srgbClr val="67E2D0"/>
                </a:solidFill>
                <a:latin typeface="Arial"/>
                <a:ea typeface="Arial"/>
                <a:cs typeface="Arial"/>
              </a:defRPr>
            </a:lvl3pPr>
            <a:lvl4pPr>
              <a:defRPr sz="2175" b="1">
                <a:solidFill>
                  <a:srgbClr val="67E2D0"/>
                </a:solidFill>
                <a:latin typeface="Arial"/>
                <a:ea typeface="Arial"/>
                <a:cs typeface="Arial"/>
              </a:defRPr>
            </a:lvl4pPr>
            <a:lvl5pPr>
              <a:defRPr sz="2175" b="1">
                <a:solidFill>
                  <a:srgbClr val="67E2D0"/>
                </a:solidFill>
                <a:latin typeface="Arial"/>
                <a:ea typeface="Arial"/>
                <a:cs typeface="Arial"/>
              </a:defRPr>
            </a:lvl5pPr>
            <a:lvl6pPr>
              <a:defRPr sz="2175" b="1">
                <a:solidFill>
                  <a:srgbClr val="67E2D0"/>
                </a:solidFill>
                <a:latin typeface="Arial"/>
                <a:ea typeface="Arial"/>
                <a:cs typeface="Arial"/>
              </a:defRPr>
            </a:lvl6pPr>
            <a:lvl7pPr>
              <a:defRPr sz="2175" b="1">
                <a:solidFill>
                  <a:srgbClr val="67E2D0"/>
                </a:solidFill>
                <a:latin typeface="Arial"/>
                <a:ea typeface="Arial"/>
                <a:cs typeface="Arial"/>
              </a:defRPr>
            </a:lvl7pPr>
            <a:lvl8pPr>
              <a:defRPr sz="2175" b="1">
                <a:solidFill>
                  <a:srgbClr val="67E2D0"/>
                </a:solidFill>
                <a:latin typeface="Arial"/>
                <a:ea typeface="Arial"/>
                <a:cs typeface="Arial"/>
              </a:defRPr>
            </a:lvl8pPr>
            <a:lvl9pPr>
              <a:defRPr sz="2175" b="1">
                <a:solidFill>
                  <a:srgbClr val="67E2D0"/>
                </a:solidFill>
                <a:latin typeface="Arial"/>
                <a:ea typeface="Arial"/>
                <a:cs typeface="Arial"/>
              </a:defRPr>
            </a:lvl9pPr>
          </a:lstStyle>
          <a:p xmlns:a="http://schemas.openxmlformats.org/drawingml/2006/main">
            <a:pPr>
              <a:defRPr sz="2175" b="1">
                <a:solidFill>
                  <a:srgbClr val="67E2D0"/>
                </a:solidFill>
                <a:latin typeface="Arial"/>
                <a:ea typeface="Arial"/>
                <a:cs typeface="Arial"/>
              </a:defRPr>
            </a:pPr>
            <a:r>
              <a:rPr sz="2175" b="1">
                <a:solidFill>
                  <a:srgbClr val="67E2D0"/>
                </a:solidFill>
                <a:latin typeface="Arial"/>
                <a:ea typeface="Arial"/>
                <a:cs typeface="Arial"/>
              </a:rPr>
              <a:t>Replicate on native CGM observations</a:t>
            </a:r>
          </a:p>
        </p:txBody>
      </p:sp>
      <p:sp>
        <p:nvSpPr>
          <p:cNvPr id="5" name="">
            <a:extLst xmlns:a="http://schemas.openxmlformats.org/drawingml/2006/main">
              <a:ext uri="{FF2B5EF4-FFF2-40B4-BE49-F238E27FC236}">
                <a16:creationId xmlns:a16="http://schemas.microsoft.com/office/drawing/2014/main" id="{F91E9921-B8B2-4DBE-836C-9866E46C58ED}"/>
              </a:ext>
            </a:extLst>
          </p:cNvPr>
          <p:cNvSpPr>
            <a:spLocks xmlns:a="http://schemas.openxmlformats.org/drawingml/2006/main" noGrp="1"/>
          </p:cNvSpPr>
          <p:nvPr/>
        </p:nvSpPr>
        <p:spPr>
          <a:xfrm xmlns:a="http://schemas.openxmlformats.org/drawingml/2006/main">
            <a:off x="666750" y="244792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5F7F8"/>
                </a:solidFill>
                <a:latin typeface="Arial"/>
                <a:ea typeface="Arial"/>
                <a:cs typeface="Arial"/>
              </a:defRPr>
            </a:defPPr>
            <a:lvl1pPr>
              <a:defRPr sz="1950" b="0">
                <a:solidFill>
                  <a:srgbClr val="F5F7F8"/>
                </a:solidFill>
                <a:latin typeface="Arial"/>
                <a:ea typeface="Arial"/>
                <a:cs typeface="Arial"/>
              </a:defRPr>
            </a:lvl1pPr>
            <a:lvl2pPr>
              <a:defRPr sz="1950" b="0">
                <a:solidFill>
                  <a:srgbClr val="F5F7F8"/>
                </a:solidFill>
                <a:latin typeface="Arial"/>
                <a:ea typeface="Arial"/>
                <a:cs typeface="Arial"/>
              </a:defRPr>
            </a:lvl2pPr>
            <a:lvl3pPr>
              <a:defRPr sz="1950" b="0">
                <a:solidFill>
                  <a:srgbClr val="F5F7F8"/>
                </a:solidFill>
                <a:latin typeface="Arial"/>
                <a:ea typeface="Arial"/>
                <a:cs typeface="Arial"/>
              </a:defRPr>
            </a:lvl3pPr>
            <a:lvl4pPr>
              <a:defRPr sz="1950" b="0">
                <a:solidFill>
                  <a:srgbClr val="F5F7F8"/>
                </a:solidFill>
                <a:latin typeface="Arial"/>
                <a:ea typeface="Arial"/>
                <a:cs typeface="Arial"/>
              </a:defRPr>
            </a:lvl4pPr>
            <a:lvl5pPr>
              <a:defRPr sz="1950" b="0">
                <a:solidFill>
                  <a:srgbClr val="F5F7F8"/>
                </a:solidFill>
                <a:latin typeface="Arial"/>
                <a:ea typeface="Arial"/>
                <a:cs typeface="Arial"/>
              </a:defRPr>
            </a:lvl5pPr>
            <a:lvl6pPr>
              <a:defRPr sz="1950" b="0">
                <a:solidFill>
                  <a:srgbClr val="F5F7F8"/>
                </a:solidFill>
                <a:latin typeface="Arial"/>
                <a:ea typeface="Arial"/>
                <a:cs typeface="Arial"/>
              </a:defRPr>
            </a:lvl6pPr>
            <a:lvl7pPr>
              <a:defRPr sz="1950" b="0">
                <a:solidFill>
                  <a:srgbClr val="F5F7F8"/>
                </a:solidFill>
                <a:latin typeface="Arial"/>
                <a:ea typeface="Arial"/>
                <a:cs typeface="Arial"/>
              </a:defRPr>
            </a:lvl7pPr>
            <a:lvl8pPr>
              <a:defRPr sz="1950" b="0">
                <a:solidFill>
                  <a:srgbClr val="F5F7F8"/>
                </a:solidFill>
                <a:latin typeface="Arial"/>
                <a:ea typeface="Arial"/>
                <a:cs typeface="Arial"/>
              </a:defRPr>
            </a:lvl8pPr>
            <a:lvl9pPr>
              <a:defRPr sz="1950" b="0">
                <a:solidFill>
                  <a:srgbClr val="F5F7F8"/>
                </a:solidFill>
                <a:latin typeface="Arial"/>
                <a:ea typeface="Arial"/>
                <a:cs typeface="Arial"/>
              </a:defRPr>
            </a:lvl9pPr>
          </a:lstStyle>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Use original device timestamps and a larger</a:t>
            </a:r>
          </a:p>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independent Type 2 cohort.</a:t>
            </a:r>
          </a:p>
        </p:txBody>
      </p:sp>
      <p:sp>
        <p:nvSpPr>
          <p:cNvPr id="6" name="">
            <a:extLst xmlns:a="http://schemas.openxmlformats.org/drawingml/2006/main">
              <a:ext uri="{FF2B5EF4-FFF2-40B4-BE49-F238E27FC236}">
                <a16:creationId xmlns:a16="http://schemas.microsoft.com/office/drawing/2014/main" id="{1E083208-E7F2-4B69-96DB-BE61CEF93DE0}"/>
              </a:ext>
            </a:extLst>
          </p:cNvPr>
          <p:cNvSpPr>
            <a:spLocks xmlns:a="http://schemas.openxmlformats.org/drawingml/2006/main" noGrp="1"/>
          </p:cNvSpPr>
          <p:nvPr/>
        </p:nvSpPr>
        <p:spPr>
          <a:xfrm xmlns:a="http://schemas.openxmlformats.org/drawingml/2006/main">
            <a:off x="666750" y="34671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7E2D0"/>
                </a:solidFill>
                <a:latin typeface="Arial"/>
                <a:ea typeface="Arial"/>
                <a:cs typeface="Arial"/>
              </a:defRPr>
            </a:defPPr>
            <a:lvl1pPr>
              <a:defRPr sz="2175" b="1">
                <a:solidFill>
                  <a:srgbClr val="67E2D0"/>
                </a:solidFill>
                <a:latin typeface="Arial"/>
                <a:ea typeface="Arial"/>
                <a:cs typeface="Arial"/>
              </a:defRPr>
            </a:lvl1pPr>
            <a:lvl2pPr>
              <a:defRPr sz="2175" b="1">
                <a:solidFill>
                  <a:srgbClr val="67E2D0"/>
                </a:solidFill>
                <a:latin typeface="Arial"/>
                <a:ea typeface="Arial"/>
                <a:cs typeface="Arial"/>
              </a:defRPr>
            </a:lvl2pPr>
            <a:lvl3pPr>
              <a:defRPr sz="2175" b="1">
                <a:solidFill>
                  <a:srgbClr val="67E2D0"/>
                </a:solidFill>
                <a:latin typeface="Arial"/>
                <a:ea typeface="Arial"/>
                <a:cs typeface="Arial"/>
              </a:defRPr>
            </a:lvl3pPr>
            <a:lvl4pPr>
              <a:defRPr sz="2175" b="1">
                <a:solidFill>
                  <a:srgbClr val="67E2D0"/>
                </a:solidFill>
                <a:latin typeface="Arial"/>
                <a:ea typeface="Arial"/>
                <a:cs typeface="Arial"/>
              </a:defRPr>
            </a:lvl4pPr>
            <a:lvl5pPr>
              <a:defRPr sz="2175" b="1">
                <a:solidFill>
                  <a:srgbClr val="67E2D0"/>
                </a:solidFill>
                <a:latin typeface="Arial"/>
                <a:ea typeface="Arial"/>
                <a:cs typeface="Arial"/>
              </a:defRPr>
            </a:lvl5pPr>
            <a:lvl6pPr>
              <a:defRPr sz="2175" b="1">
                <a:solidFill>
                  <a:srgbClr val="67E2D0"/>
                </a:solidFill>
                <a:latin typeface="Arial"/>
                <a:ea typeface="Arial"/>
                <a:cs typeface="Arial"/>
              </a:defRPr>
            </a:lvl6pPr>
            <a:lvl7pPr>
              <a:defRPr sz="2175" b="1">
                <a:solidFill>
                  <a:srgbClr val="67E2D0"/>
                </a:solidFill>
                <a:latin typeface="Arial"/>
                <a:ea typeface="Arial"/>
                <a:cs typeface="Arial"/>
              </a:defRPr>
            </a:lvl7pPr>
            <a:lvl8pPr>
              <a:defRPr sz="2175" b="1">
                <a:solidFill>
                  <a:srgbClr val="67E2D0"/>
                </a:solidFill>
                <a:latin typeface="Arial"/>
                <a:ea typeface="Arial"/>
                <a:cs typeface="Arial"/>
              </a:defRPr>
            </a:lvl8pPr>
            <a:lvl9pPr>
              <a:defRPr sz="2175" b="1">
                <a:solidFill>
                  <a:srgbClr val="67E2D0"/>
                </a:solidFill>
                <a:latin typeface="Arial"/>
                <a:ea typeface="Arial"/>
                <a:cs typeface="Arial"/>
              </a:defRPr>
            </a:lvl9pPr>
          </a:lstStyle>
          <a:p xmlns:a="http://schemas.openxmlformats.org/drawingml/2006/main">
            <a:pPr>
              <a:defRPr sz="2175" b="1">
                <a:solidFill>
                  <a:srgbClr val="67E2D0"/>
                </a:solidFill>
                <a:latin typeface="Arial"/>
                <a:ea typeface="Arial"/>
                <a:cs typeface="Arial"/>
              </a:defRPr>
            </a:pPr>
            <a:r>
              <a:rPr sz="2175" b="1">
                <a:solidFill>
                  <a:srgbClr val="67E2D0"/>
                </a:solidFill>
                <a:latin typeface="Arial"/>
                <a:ea typeface="Arial"/>
                <a:cs typeface="Arial"/>
              </a:rPr>
              <a:t>Broaden the delivery stress tests</a:t>
            </a:r>
          </a:p>
        </p:txBody>
      </p:sp>
      <p:sp>
        <p:nvSpPr>
          <p:cNvPr id="7" name="">
            <a:extLst xmlns:a="http://schemas.openxmlformats.org/drawingml/2006/main">
              <a:ext uri="{FF2B5EF4-FFF2-40B4-BE49-F238E27FC236}">
                <a16:creationId xmlns:a16="http://schemas.microsoft.com/office/drawing/2014/main" id="{5E445DB0-573F-4BB9-9A56-C45828DC5814}"/>
              </a:ext>
            </a:extLst>
          </p:cNvPr>
          <p:cNvSpPr>
            <a:spLocks xmlns:a="http://schemas.openxmlformats.org/drawingml/2006/main" noGrp="1"/>
          </p:cNvSpPr>
          <p:nvPr/>
        </p:nvSpPr>
        <p:spPr>
          <a:xfrm xmlns:a="http://schemas.openxmlformats.org/drawingml/2006/main">
            <a:off x="666750" y="401002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5F7F8"/>
                </a:solidFill>
                <a:latin typeface="Arial"/>
                <a:ea typeface="Arial"/>
                <a:cs typeface="Arial"/>
              </a:defRPr>
            </a:defPPr>
            <a:lvl1pPr>
              <a:defRPr sz="1950" b="0">
                <a:solidFill>
                  <a:srgbClr val="F5F7F8"/>
                </a:solidFill>
                <a:latin typeface="Arial"/>
                <a:ea typeface="Arial"/>
                <a:cs typeface="Arial"/>
              </a:defRPr>
            </a:lvl1pPr>
            <a:lvl2pPr>
              <a:defRPr sz="1950" b="0">
                <a:solidFill>
                  <a:srgbClr val="F5F7F8"/>
                </a:solidFill>
                <a:latin typeface="Arial"/>
                <a:ea typeface="Arial"/>
                <a:cs typeface="Arial"/>
              </a:defRPr>
            </a:lvl2pPr>
            <a:lvl3pPr>
              <a:defRPr sz="1950" b="0">
                <a:solidFill>
                  <a:srgbClr val="F5F7F8"/>
                </a:solidFill>
                <a:latin typeface="Arial"/>
                <a:ea typeface="Arial"/>
                <a:cs typeface="Arial"/>
              </a:defRPr>
            </a:lvl3pPr>
            <a:lvl4pPr>
              <a:defRPr sz="1950" b="0">
                <a:solidFill>
                  <a:srgbClr val="F5F7F8"/>
                </a:solidFill>
                <a:latin typeface="Arial"/>
                <a:ea typeface="Arial"/>
                <a:cs typeface="Arial"/>
              </a:defRPr>
            </a:lvl4pPr>
            <a:lvl5pPr>
              <a:defRPr sz="1950" b="0">
                <a:solidFill>
                  <a:srgbClr val="F5F7F8"/>
                </a:solidFill>
                <a:latin typeface="Arial"/>
                <a:ea typeface="Arial"/>
                <a:cs typeface="Arial"/>
              </a:defRPr>
            </a:lvl5pPr>
            <a:lvl6pPr>
              <a:defRPr sz="1950" b="0">
                <a:solidFill>
                  <a:srgbClr val="F5F7F8"/>
                </a:solidFill>
                <a:latin typeface="Arial"/>
                <a:ea typeface="Arial"/>
                <a:cs typeface="Arial"/>
              </a:defRPr>
            </a:lvl6pPr>
            <a:lvl7pPr>
              <a:defRPr sz="1950" b="0">
                <a:solidFill>
                  <a:srgbClr val="F5F7F8"/>
                </a:solidFill>
                <a:latin typeface="Arial"/>
                <a:ea typeface="Arial"/>
                <a:cs typeface="Arial"/>
              </a:defRPr>
            </a:lvl7pPr>
            <a:lvl8pPr>
              <a:defRPr sz="1950" b="0">
                <a:solidFill>
                  <a:srgbClr val="F5F7F8"/>
                </a:solidFill>
                <a:latin typeface="Arial"/>
                <a:ea typeface="Arial"/>
                <a:cs typeface="Arial"/>
              </a:defRPr>
            </a:lvl8pPr>
            <a:lvl9pPr>
              <a:defRPr sz="1950" b="0">
                <a:solidFill>
                  <a:srgbClr val="F5F7F8"/>
                </a:solidFill>
                <a:latin typeface="Arial"/>
                <a:ea typeface="Arial"/>
                <a:cs typeface="Arial"/>
              </a:defRPr>
            </a:lvl9pPr>
          </a:lstStyle>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Test different delays, fault schedules and</a:t>
            </a:r>
          </a:p>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real device transport behavior.</a:t>
            </a:r>
          </a:p>
        </p:txBody>
      </p:sp>
      <p:sp>
        <p:nvSpPr>
          <p:cNvPr id="8" name="">
            <a:extLst xmlns:a="http://schemas.openxmlformats.org/drawingml/2006/main">
              <a:ext uri="{FF2B5EF4-FFF2-40B4-BE49-F238E27FC236}">
                <a16:creationId xmlns:a16="http://schemas.microsoft.com/office/drawing/2014/main" id="{76E1982A-CA53-4369-8469-4A5A4E67D8CC}"/>
              </a:ext>
            </a:extLst>
          </p:cNvPr>
          <p:cNvSpPr>
            <a:spLocks xmlns:a="http://schemas.openxmlformats.org/drawingml/2006/main" noGrp="1"/>
          </p:cNvSpPr>
          <p:nvPr/>
        </p:nvSpPr>
        <p:spPr>
          <a:xfrm xmlns:a="http://schemas.openxmlformats.org/drawingml/2006/main">
            <a:off x="666750" y="50482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7E2D0"/>
                </a:solidFill>
                <a:latin typeface="Arial"/>
                <a:ea typeface="Arial"/>
                <a:cs typeface="Arial"/>
              </a:defRPr>
            </a:defPPr>
            <a:lvl1pPr>
              <a:defRPr sz="2175" b="1">
                <a:solidFill>
                  <a:srgbClr val="67E2D0"/>
                </a:solidFill>
                <a:latin typeface="Arial"/>
                <a:ea typeface="Arial"/>
                <a:cs typeface="Arial"/>
              </a:defRPr>
            </a:lvl1pPr>
            <a:lvl2pPr>
              <a:defRPr sz="2175" b="1">
                <a:solidFill>
                  <a:srgbClr val="67E2D0"/>
                </a:solidFill>
                <a:latin typeface="Arial"/>
                <a:ea typeface="Arial"/>
                <a:cs typeface="Arial"/>
              </a:defRPr>
            </a:lvl2pPr>
            <a:lvl3pPr>
              <a:defRPr sz="2175" b="1">
                <a:solidFill>
                  <a:srgbClr val="67E2D0"/>
                </a:solidFill>
                <a:latin typeface="Arial"/>
                <a:ea typeface="Arial"/>
                <a:cs typeface="Arial"/>
              </a:defRPr>
            </a:lvl3pPr>
            <a:lvl4pPr>
              <a:defRPr sz="2175" b="1">
                <a:solidFill>
                  <a:srgbClr val="67E2D0"/>
                </a:solidFill>
                <a:latin typeface="Arial"/>
                <a:ea typeface="Arial"/>
                <a:cs typeface="Arial"/>
              </a:defRPr>
            </a:lvl4pPr>
            <a:lvl5pPr>
              <a:defRPr sz="2175" b="1">
                <a:solidFill>
                  <a:srgbClr val="67E2D0"/>
                </a:solidFill>
                <a:latin typeface="Arial"/>
                <a:ea typeface="Arial"/>
                <a:cs typeface="Arial"/>
              </a:defRPr>
            </a:lvl5pPr>
            <a:lvl6pPr>
              <a:defRPr sz="2175" b="1">
                <a:solidFill>
                  <a:srgbClr val="67E2D0"/>
                </a:solidFill>
                <a:latin typeface="Arial"/>
                <a:ea typeface="Arial"/>
                <a:cs typeface="Arial"/>
              </a:defRPr>
            </a:lvl6pPr>
            <a:lvl7pPr>
              <a:defRPr sz="2175" b="1">
                <a:solidFill>
                  <a:srgbClr val="67E2D0"/>
                </a:solidFill>
                <a:latin typeface="Arial"/>
                <a:ea typeface="Arial"/>
                <a:cs typeface="Arial"/>
              </a:defRPr>
            </a:lvl7pPr>
            <a:lvl8pPr>
              <a:defRPr sz="2175" b="1">
                <a:solidFill>
                  <a:srgbClr val="67E2D0"/>
                </a:solidFill>
                <a:latin typeface="Arial"/>
                <a:ea typeface="Arial"/>
                <a:cs typeface="Arial"/>
              </a:defRPr>
            </a:lvl8pPr>
            <a:lvl9pPr>
              <a:defRPr sz="2175" b="1">
                <a:solidFill>
                  <a:srgbClr val="67E2D0"/>
                </a:solidFill>
                <a:latin typeface="Arial"/>
                <a:ea typeface="Arial"/>
                <a:cs typeface="Arial"/>
              </a:defRPr>
            </a:lvl9pPr>
          </a:lstStyle>
          <a:p xmlns:a="http://schemas.openxmlformats.org/drawingml/2006/main">
            <a:pPr>
              <a:defRPr sz="2175" b="1">
                <a:solidFill>
                  <a:srgbClr val="67E2D0"/>
                </a:solidFill>
                <a:latin typeface="Arial"/>
                <a:ea typeface="Arial"/>
                <a:cs typeface="Arial"/>
              </a:defRPr>
            </a:pPr>
            <a:r>
              <a:rPr sz="2175" b="1">
                <a:solidFill>
                  <a:srgbClr val="67E2D0"/>
                </a:solidFill>
                <a:latin typeface="Arial"/>
                <a:ea typeface="Arial"/>
                <a:cs typeface="Arial"/>
              </a:rPr>
              <a:t>Evaluate a real care workflow</a:t>
            </a:r>
          </a:p>
        </p:txBody>
      </p:sp>
      <p:sp>
        <p:nvSpPr>
          <p:cNvPr id="9" name="">
            <a:extLst xmlns:a="http://schemas.openxmlformats.org/drawingml/2006/main">
              <a:ext uri="{FF2B5EF4-FFF2-40B4-BE49-F238E27FC236}">
                <a16:creationId xmlns:a16="http://schemas.microsoft.com/office/drawing/2014/main" id="{634795D3-B648-439E-B8D7-011A89B42196}"/>
              </a:ext>
            </a:extLst>
          </p:cNvPr>
          <p:cNvSpPr>
            <a:spLocks xmlns:a="http://schemas.openxmlformats.org/drawingml/2006/main" noGrp="1"/>
          </p:cNvSpPr>
          <p:nvPr/>
        </p:nvSpPr>
        <p:spPr>
          <a:xfrm xmlns:a="http://schemas.openxmlformats.org/drawingml/2006/main">
            <a:off x="666750" y="55911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5F7F8"/>
                </a:solidFill>
                <a:latin typeface="Arial"/>
                <a:ea typeface="Arial"/>
                <a:cs typeface="Arial"/>
              </a:defRPr>
            </a:defPPr>
            <a:lvl1pPr>
              <a:defRPr sz="1950" b="0">
                <a:solidFill>
                  <a:srgbClr val="F5F7F8"/>
                </a:solidFill>
                <a:latin typeface="Arial"/>
                <a:ea typeface="Arial"/>
                <a:cs typeface="Arial"/>
              </a:defRPr>
            </a:lvl1pPr>
            <a:lvl2pPr>
              <a:defRPr sz="1950" b="0">
                <a:solidFill>
                  <a:srgbClr val="F5F7F8"/>
                </a:solidFill>
                <a:latin typeface="Arial"/>
                <a:ea typeface="Arial"/>
                <a:cs typeface="Arial"/>
              </a:defRPr>
            </a:lvl2pPr>
            <a:lvl3pPr>
              <a:defRPr sz="1950" b="0">
                <a:solidFill>
                  <a:srgbClr val="F5F7F8"/>
                </a:solidFill>
                <a:latin typeface="Arial"/>
                <a:ea typeface="Arial"/>
                <a:cs typeface="Arial"/>
              </a:defRPr>
            </a:lvl3pPr>
            <a:lvl4pPr>
              <a:defRPr sz="1950" b="0">
                <a:solidFill>
                  <a:srgbClr val="F5F7F8"/>
                </a:solidFill>
                <a:latin typeface="Arial"/>
                <a:ea typeface="Arial"/>
                <a:cs typeface="Arial"/>
              </a:defRPr>
            </a:lvl4pPr>
            <a:lvl5pPr>
              <a:defRPr sz="1950" b="0">
                <a:solidFill>
                  <a:srgbClr val="F5F7F8"/>
                </a:solidFill>
                <a:latin typeface="Arial"/>
                <a:ea typeface="Arial"/>
                <a:cs typeface="Arial"/>
              </a:defRPr>
            </a:lvl5pPr>
            <a:lvl6pPr>
              <a:defRPr sz="1950" b="0">
                <a:solidFill>
                  <a:srgbClr val="F5F7F8"/>
                </a:solidFill>
                <a:latin typeface="Arial"/>
                <a:ea typeface="Arial"/>
                <a:cs typeface="Arial"/>
              </a:defRPr>
            </a:lvl6pPr>
            <a:lvl7pPr>
              <a:defRPr sz="1950" b="0">
                <a:solidFill>
                  <a:srgbClr val="F5F7F8"/>
                </a:solidFill>
                <a:latin typeface="Arial"/>
                <a:ea typeface="Arial"/>
                <a:cs typeface="Arial"/>
              </a:defRPr>
            </a:lvl7pPr>
            <a:lvl8pPr>
              <a:defRPr sz="1950" b="0">
                <a:solidFill>
                  <a:srgbClr val="F5F7F8"/>
                </a:solidFill>
                <a:latin typeface="Arial"/>
                <a:ea typeface="Arial"/>
                <a:cs typeface="Arial"/>
              </a:defRPr>
            </a:lvl8pPr>
            <a:lvl9pPr>
              <a:defRPr sz="1950" b="0">
                <a:solidFill>
                  <a:srgbClr val="F5F7F8"/>
                </a:solidFill>
                <a:latin typeface="Arial"/>
                <a:ea typeface="Arial"/>
                <a:cs typeface="Arial"/>
              </a:defRPr>
            </a:lvl9pPr>
          </a:lstStyle>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Study usability and acceptable warning burden</a:t>
            </a:r>
          </a:p>
          <a:p xmlns:a="http://schemas.openxmlformats.org/drawingml/2006/main">
            <a:pPr>
              <a:defRPr sz="1950" b="0">
                <a:solidFill>
                  <a:srgbClr val="F5F7F8"/>
                </a:solidFill>
                <a:latin typeface="Arial"/>
                <a:ea typeface="Arial"/>
                <a:cs typeface="Arial"/>
              </a:defRPr>
            </a:pPr>
            <a:r>
              <a:rPr sz="1950" b="0">
                <a:solidFill>
                  <a:srgbClr val="F5F7F8"/>
                </a:solidFill>
                <a:latin typeface="Arial"/>
                <a:ea typeface="Arial"/>
                <a:cs typeface="Arial"/>
              </a:rPr>
              <a:t>before clinical-benefit claims.</a:t>
            </a:r>
          </a:p>
        </p:txBody>
      </p:sp>
    </p:spTree>
    <p:extLst>
      <p:ext uri="{BB962C8B-B14F-4D97-AF65-F5344CB8AC3E}">
        <p14:creationId xmlns:p14="http://schemas.microsoft.com/office/powerpoint/2010/main" val="596661437"/>
      </p:ext>
    </p:extLst>
  </p:cSld>
</p:sld>
</file>

<file path=ppt/slides/slide1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2AC066-8414-477F-87F9-E22B5F0F7619}"/>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5F7F8"/>
                </a:solidFill>
                <a:latin typeface="Arial"/>
                <a:ea typeface="Arial"/>
                <a:cs typeface="Arial"/>
              </a:defRPr>
            </a:defPPr>
            <a:lvl1pPr>
              <a:defRPr sz="3450" b="1">
                <a:solidFill>
                  <a:srgbClr val="F5F7F8"/>
                </a:solidFill>
                <a:latin typeface="Arial"/>
                <a:ea typeface="Arial"/>
                <a:cs typeface="Arial"/>
              </a:defRPr>
            </a:lvl1pPr>
            <a:lvl2pPr>
              <a:defRPr sz="3450" b="1">
                <a:solidFill>
                  <a:srgbClr val="F5F7F8"/>
                </a:solidFill>
                <a:latin typeface="Arial"/>
                <a:ea typeface="Arial"/>
                <a:cs typeface="Arial"/>
              </a:defRPr>
            </a:lvl2pPr>
            <a:lvl3pPr>
              <a:defRPr sz="3450" b="1">
                <a:solidFill>
                  <a:srgbClr val="F5F7F8"/>
                </a:solidFill>
                <a:latin typeface="Arial"/>
                <a:ea typeface="Arial"/>
                <a:cs typeface="Arial"/>
              </a:defRPr>
            </a:lvl3pPr>
            <a:lvl4pPr>
              <a:defRPr sz="3450" b="1">
                <a:solidFill>
                  <a:srgbClr val="F5F7F8"/>
                </a:solidFill>
                <a:latin typeface="Arial"/>
                <a:ea typeface="Arial"/>
                <a:cs typeface="Arial"/>
              </a:defRPr>
            </a:lvl4pPr>
            <a:lvl5pPr>
              <a:defRPr sz="3450" b="1">
                <a:solidFill>
                  <a:srgbClr val="F5F7F8"/>
                </a:solidFill>
                <a:latin typeface="Arial"/>
                <a:ea typeface="Arial"/>
                <a:cs typeface="Arial"/>
              </a:defRPr>
            </a:lvl5pPr>
            <a:lvl6pPr>
              <a:defRPr sz="3450" b="1">
                <a:solidFill>
                  <a:srgbClr val="F5F7F8"/>
                </a:solidFill>
                <a:latin typeface="Arial"/>
                <a:ea typeface="Arial"/>
                <a:cs typeface="Arial"/>
              </a:defRPr>
            </a:lvl6pPr>
            <a:lvl7pPr>
              <a:defRPr sz="3450" b="1">
                <a:solidFill>
                  <a:srgbClr val="F5F7F8"/>
                </a:solidFill>
                <a:latin typeface="Arial"/>
                <a:ea typeface="Arial"/>
                <a:cs typeface="Arial"/>
              </a:defRPr>
            </a:lvl7pPr>
            <a:lvl8pPr>
              <a:defRPr sz="3450" b="1">
                <a:solidFill>
                  <a:srgbClr val="F5F7F8"/>
                </a:solidFill>
                <a:latin typeface="Arial"/>
                <a:ea typeface="Arial"/>
                <a:cs typeface="Arial"/>
              </a:defRPr>
            </a:lvl8pPr>
            <a:lvl9pPr>
              <a:defRPr sz="3450" b="1">
                <a:solidFill>
                  <a:srgbClr val="F5F7F8"/>
                </a:solidFill>
                <a:latin typeface="Arial"/>
                <a:ea typeface="Arial"/>
                <a:cs typeface="Arial"/>
              </a:defRPr>
            </a:lvl9pPr>
          </a:lstStyle>
          <a:p xmlns:a="http://schemas.openxmlformats.org/drawingml/2006/main">
            <a:pPr>
              <a:defRPr sz="3450" b="1">
                <a:solidFill>
                  <a:srgbClr val="F5F7F8"/>
                </a:solidFill>
                <a:latin typeface="Arial"/>
                <a:ea typeface="Arial"/>
                <a:cs typeface="Arial"/>
              </a:defRPr>
            </a:pPr>
            <a:r>
              <a:rPr sz="3450" b="1">
                <a:solidFill>
                  <a:srgbClr val="F5F7F8"/>
                </a:solidFill>
                <a:latin typeface="Arial"/>
                <a:ea typeface="Arial"/>
                <a:cs typeface="Arial"/>
              </a:rPr>
              <a:t>Team TwinPulse</a:t>
            </a:r>
          </a:p>
        </p:txBody>
      </p:sp>
      <p:sp>
        <p:nvSpPr>
          <p:cNvPr id="2" name="">
            <a:extLst xmlns:a="http://schemas.openxmlformats.org/drawingml/2006/main">
              <a:ext uri="{FF2B5EF4-FFF2-40B4-BE49-F238E27FC236}">
                <a16:creationId xmlns:a16="http://schemas.microsoft.com/office/drawing/2014/main" id="{F7C65C93-317A-4535-833D-9BF396889DEF}"/>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67E2D0"/>
                </a:solidFill>
                <a:latin typeface="Arial"/>
                <a:ea typeface="Arial"/>
                <a:cs typeface="Arial"/>
              </a:defRPr>
            </a:defPPr>
            <a:lvl1pPr>
              <a:defRPr sz="1200" b="1">
                <a:solidFill>
                  <a:srgbClr val="67E2D0"/>
                </a:solidFill>
                <a:latin typeface="Arial"/>
                <a:ea typeface="Arial"/>
                <a:cs typeface="Arial"/>
              </a:defRPr>
            </a:lvl1pPr>
            <a:lvl2pPr>
              <a:defRPr sz="1200" b="1">
                <a:solidFill>
                  <a:srgbClr val="67E2D0"/>
                </a:solidFill>
                <a:latin typeface="Arial"/>
                <a:ea typeface="Arial"/>
                <a:cs typeface="Arial"/>
              </a:defRPr>
            </a:lvl2pPr>
            <a:lvl3pPr>
              <a:defRPr sz="1200" b="1">
                <a:solidFill>
                  <a:srgbClr val="67E2D0"/>
                </a:solidFill>
                <a:latin typeface="Arial"/>
                <a:ea typeface="Arial"/>
                <a:cs typeface="Arial"/>
              </a:defRPr>
            </a:lvl3pPr>
            <a:lvl4pPr>
              <a:defRPr sz="1200" b="1">
                <a:solidFill>
                  <a:srgbClr val="67E2D0"/>
                </a:solidFill>
                <a:latin typeface="Arial"/>
                <a:ea typeface="Arial"/>
                <a:cs typeface="Arial"/>
              </a:defRPr>
            </a:lvl4pPr>
            <a:lvl5pPr>
              <a:defRPr sz="1200" b="1">
                <a:solidFill>
                  <a:srgbClr val="67E2D0"/>
                </a:solidFill>
                <a:latin typeface="Arial"/>
                <a:ea typeface="Arial"/>
                <a:cs typeface="Arial"/>
              </a:defRPr>
            </a:lvl5pPr>
            <a:lvl6pPr>
              <a:defRPr sz="1200" b="1">
                <a:solidFill>
                  <a:srgbClr val="67E2D0"/>
                </a:solidFill>
                <a:latin typeface="Arial"/>
                <a:ea typeface="Arial"/>
                <a:cs typeface="Arial"/>
              </a:defRPr>
            </a:lvl6pPr>
            <a:lvl7pPr>
              <a:defRPr sz="1200" b="1">
                <a:solidFill>
                  <a:srgbClr val="67E2D0"/>
                </a:solidFill>
                <a:latin typeface="Arial"/>
                <a:ea typeface="Arial"/>
                <a:cs typeface="Arial"/>
              </a:defRPr>
            </a:lvl7pPr>
            <a:lvl8pPr>
              <a:defRPr sz="1200" b="1">
                <a:solidFill>
                  <a:srgbClr val="67E2D0"/>
                </a:solidFill>
                <a:latin typeface="Arial"/>
                <a:ea typeface="Arial"/>
                <a:cs typeface="Arial"/>
              </a:defRPr>
            </a:lvl8pPr>
            <a:lvl9pPr>
              <a:defRPr sz="1200" b="1">
                <a:solidFill>
                  <a:srgbClr val="67E2D0"/>
                </a:solidFill>
                <a:latin typeface="Arial"/>
                <a:ea typeface="Arial"/>
                <a:cs typeface="Arial"/>
              </a:defRPr>
            </a:lvl9pPr>
          </a:lstStyle>
          <a:p xmlns:a="http://schemas.openxmlformats.org/drawingml/2006/main">
            <a:pPr>
              <a:defRPr sz="1200" b="1">
                <a:solidFill>
                  <a:srgbClr val="67E2D0"/>
                </a:solidFill>
                <a:latin typeface="Arial"/>
                <a:ea typeface="Arial"/>
                <a:cs typeface="Arial"/>
              </a:defRPr>
            </a:pPr>
            <a:r>
              <a:rPr sz="1200" b="1">
                <a:solidFill>
                  <a:srgbClr val="67E2D0"/>
                </a:solidFill>
                <a:latin typeface="Arial"/>
                <a:ea typeface="Arial"/>
                <a:cs typeface="Arial"/>
              </a:rPr>
              <a:t>GLUCOTWIN</a:t>
            </a:r>
          </a:p>
        </p:txBody>
      </p:sp>
      <p:sp>
        <p:nvSpPr>
          <p:cNvPr id="3" name="">
            <a:extLst xmlns:a="http://schemas.openxmlformats.org/drawingml/2006/main">
              <a:ext uri="{FF2B5EF4-FFF2-40B4-BE49-F238E27FC236}">
                <a16:creationId xmlns:a16="http://schemas.microsoft.com/office/drawing/2014/main" id="{19076E8E-D37B-45E4-8F3D-57D328FD762E}"/>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ABCCF"/>
                </a:solidFill>
                <a:latin typeface="Arial"/>
                <a:ea typeface="Arial"/>
                <a:cs typeface="Arial"/>
              </a:defRPr>
            </a:defPPr>
            <a:lvl1pPr>
              <a:defRPr sz="1275" b="0">
                <a:solidFill>
                  <a:srgbClr val="AABCCF"/>
                </a:solidFill>
                <a:latin typeface="Arial"/>
                <a:ea typeface="Arial"/>
                <a:cs typeface="Arial"/>
              </a:defRPr>
            </a:lvl1pPr>
            <a:lvl2pPr>
              <a:defRPr sz="1275" b="0">
                <a:solidFill>
                  <a:srgbClr val="AABCCF"/>
                </a:solidFill>
                <a:latin typeface="Arial"/>
                <a:ea typeface="Arial"/>
                <a:cs typeface="Arial"/>
              </a:defRPr>
            </a:lvl2pPr>
            <a:lvl3pPr>
              <a:defRPr sz="1275" b="0">
                <a:solidFill>
                  <a:srgbClr val="AABCCF"/>
                </a:solidFill>
                <a:latin typeface="Arial"/>
                <a:ea typeface="Arial"/>
                <a:cs typeface="Arial"/>
              </a:defRPr>
            </a:lvl3pPr>
            <a:lvl4pPr>
              <a:defRPr sz="1275" b="0">
                <a:solidFill>
                  <a:srgbClr val="AABCCF"/>
                </a:solidFill>
                <a:latin typeface="Arial"/>
                <a:ea typeface="Arial"/>
                <a:cs typeface="Arial"/>
              </a:defRPr>
            </a:lvl4pPr>
            <a:lvl5pPr>
              <a:defRPr sz="1275" b="0">
                <a:solidFill>
                  <a:srgbClr val="AABCCF"/>
                </a:solidFill>
                <a:latin typeface="Arial"/>
                <a:ea typeface="Arial"/>
                <a:cs typeface="Arial"/>
              </a:defRPr>
            </a:lvl5pPr>
            <a:lvl6pPr>
              <a:defRPr sz="1275" b="0">
                <a:solidFill>
                  <a:srgbClr val="AABCCF"/>
                </a:solidFill>
                <a:latin typeface="Arial"/>
                <a:ea typeface="Arial"/>
                <a:cs typeface="Arial"/>
              </a:defRPr>
            </a:lvl6pPr>
            <a:lvl7pPr>
              <a:defRPr sz="1275" b="0">
                <a:solidFill>
                  <a:srgbClr val="AABCCF"/>
                </a:solidFill>
                <a:latin typeface="Arial"/>
                <a:ea typeface="Arial"/>
                <a:cs typeface="Arial"/>
              </a:defRPr>
            </a:lvl7pPr>
            <a:lvl8pPr>
              <a:defRPr sz="1275" b="0">
                <a:solidFill>
                  <a:srgbClr val="AABCCF"/>
                </a:solidFill>
                <a:latin typeface="Arial"/>
                <a:ea typeface="Arial"/>
                <a:cs typeface="Arial"/>
              </a:defRPr>
            </a:lvl8pPr>
            <a:lvl9pPr>
              <a:defRPr sz="1275" b="0">
                <a:solidFill>
                  <a:srgbClr val="AABCCF"/>
                </a:solidFill>
                <a:latin typeface="Arial"/>
                <a:ea typeface="Arial"/>
                <a:cs typeface="Arial"/>
              </a:defRPr>
            </a:lvl9pPr>
          </a:lstStyle>
          <a:p xmlns:a="http://schemas.openxmlformats.org/drawingml/2006/main">
            <a:pPr>
              <a:defRPr sz="1275" b="0">
                <a:solidFill>
                  <a:srgbClr val="AABCCF"/>
                </a:solidFill>
                <a:latin typeface="Arial"/>
                <a:ea typeface="Arial"/>
                <a:cs typeface="Arial"/>
              </a:defRPr>
            </a:pPr>
            <a:r>
              <a:rPr sz="1275" b="0">
                <a:solidFill>
                  <a:srgbClr val="AABCCF"/>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2BA1F299-9560-4EC9-BDA0-F0DDE25994E2}"/>
              </a:ext>
            </a:extLst>
          </p:cNvPr>
          <p:cNvSpPr>
            <a:spLocks xmlns:a="http://schemas.openxmlformats.org/drawingml/2006/main" noGrp="1"/>
          </p:cNvSpPr>
          <p:nvPr/>
        </p:nvSpPr>
        <p:spPr>
          <a:xfrm xmlns:a="http://schemas.openxmlformats.org/drawingml/2006/main">
            <a:off x="666750" y="209550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67E2D0"/>
                </a:solidFill>
                <a:latin typeface="Arial"/>
                <a:ea typeface="Arial"/>
                <a:cs typeface="Arial"/>
              </a:defRPr>
            </a:defPPr>
            <a:lvl1pPr>
              <a:defRPr sz="3150" b="1">
                <a:solidFill>
                  <a:srgbClr val="67E2D0"/>
                </a:solidFill>
                <a:latin typeface="Arial"/>
                <a:ea typeface="Arial"/>
                <a:cs typeface="Arial"/>
              </a:defRPr>
            </a:lvl1pPr>
            <a:lvl2pPr>
              <a:defRPr sz="3150" b="1">
                <a:solidFill>
                  <a:srgbClr val="67E2D0"/>
                </a:solidFill>
                <a:latin typeface="Arial"/>
                <a:ea typeface="Arial"/>
                <a:cs typeface="Arial"/>
              </a:defRPr>
            </a:lvl2pPr>
            <a:lvl3pPr>
              <a:defRPr sz="3150" b="1">
                <a:solidFill>
                  <a:srgbClr val="67E2D0"/>
                </a:solidFill>
                <a:latin typeface="Arial"/>
                <a:ea typeface="Arial"/>
                <a:cs typeface="Arial"/>
              </a:defRPr>
            </a:lvl3pPr>
            <a:lvl4pPr>
              <a:defRPr sz="3150" b="1">
                <a:solidFill>
                  <a:srgbClr val="67E2D0"/>
                </a:solidFill>
                <a:latin typeface="Arial"/>
                <a:ea typeface="Arial"/>
                <a:cs typeface="Arial"/>
              </a:defRPr>
            </a:lvl4pPr>
            <a:lvl5pPr>
              <a:defRPr sz="3150" b="1">
                <a:solidFill>
                  <a:srgbClr val="67E2D0"/>
                </a:solidFill>
                <a:latin typeface="Arial"/>
                <a:ea typeface="Arial"/>
                <a:cs typeface="Arial"/>
              </a:defRPr>
            </a:lvl5pPr>
            <a:lvl6pPr>
              <a:defRPr sz="3150" b="1">
                <a:solidFill>
                  <a:srgbClr val="67E2D0"/>
                </a:solidFill>
                <a:latin typeface="Arial"/>
                <a:ea typeface="Arial"/>
                <a:cs typeface="Arial"/>
              </a:defRPr>
            </a:lvl6pPr>
            <a:lvl7pPr>
              <a:defRPr sz="3150" b="1">
                <a:solidFill>
                  <a:srgbClr val="67E2D0"/>
                </a:solidFill>
                <a:latin typeface="Arial"/>
                <a:ea typeface="Arial"/>
                <a:cs typeface="Arial"/>
              </a:defRPr>
            </a:lvl7pPr>
            <a:lvl8pPr>
              <a:defRPr sz="3150" b="1">
                <a:solidFill>
                  <a:srgbClr val="67E2D0"/>
                </a:solidFill>
                <a:latin typeface="Arial"/>
                <a:ea typeface="Arial"/>
                <a:cs typeface="Arial"/>
              </a:defRPr>
            </a:lvl8pPr>
            <a:lvl9pPr>
              <a:defRPr sz="3150" b="1">
                <a:solidFill>
                  <a:srgbClr val="67E2D0"/>
                </a:solidFill>
                <a:latin typeface="Arial"/>
                <a:ea typeface="Arial"/>
                <a:cs typeface="Arial"/>
              </a:defRPr>
            </a:lvl9pPr>
          </a:lstStyle>
          <a:p xmlns:a="http://schemas.openxmlformats.org/drawingml/2006/main">
            <a:pPr>
              <a:defRPr sz="3150" b="1">
                <a:solidFill>
                  <a:srgbClr val="67E2D0"/>
                </a:solidFill>
                <a:latin typeface="Arial"/>
                <a:ea typeface="Arial"/>
                <a:cs typeface="Arial"/>
              </a:defRPr>
            </a:pPr>
            <a:r>
              <a:rPr sz="3150" b="1">
                <a:solidFill>
                  <a:srgbClr val="67E2D0"/>
                </a:solidFill>
                <a:latin typeface="Arial"/>
                <a:ea typeface="Arial"/>
                <a:cs typeface="Arial"/>
              </a:rPr>
              <a:t>Rimzim Kumari</a:t>
            </a:r>
          </a:p>
        </p:txBody>
      </p:sp>
      <p:sp>
        <p:nvSpPr>
          <p:cNvPr id="5" name="">
            <a:extLst xmlns:a="http://schemas.openxmlformats.org/drawingml/2006/main">
              <a:ext uri="{FF2B5EF4-FFF2-40B4-BE49-F238E27FC236}">
                <a16:creationId xmlns:a16="http://schemas.microsoft.com/office/drawing/2014/main" id="{947A798A-B528-417C-8ADC-FA0A58513FAF}"/>
              </a:ext>
            </a:extLst>
          </p:cNvPr>
          <p:cNvSpPr>
            <a:spLocks xmlns:a="http://schemas.openxmlformats.org/drawingml/2006/main" noGrp="1"/>
          </p:cNvSpPr>
          <p:nvPr/>
        </p:nvSpPr>
        <p:spPr>
          <a:xfrm xmlns:a="http://schemas.openxmlformats.org/drawingml/2006/main">
            <a:off x="666750" y="285750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7F8"/>
                </a:solidFill>
                <a:latin typeface="Arial"/>
                <a:ea typeface="Arial"/>
                <a:cs typeface="Arial"/>
              </a:defRPr>
            </a:defPPr>
            <a:lvl1pPr>
              <a:defRPr sz="2100" b="0">
                <a:solidFill>
                  <a:srgbClr val="F5F7F8"/>
                </a:solidFill>
                <a:latin typeface="Arial"/>
                <a:ea typeface="Arial"/>
                <a:cs typeface="Arial"/>
              </a:defRPr>
            </a:lvl1pPr>
            <a:lvl2pPr>
              <a:defRPr sz="2100" b="0">
                <a:solidFill>
                  <a:srgbClr val="F5F7F8"/>
                </a:solidFill>
                <a:latin typeface="Arial"/>
                <a:ea typeface="Arial"/>
                <a:cs typeface="Arial"/>
              </a:defRPr>
            </a:lvl2pPr>
            <a:lvl3pPr>
              <a:defRPr sz="2100" b="0">
                <a:solidFill>
                  <a:srgbClr val="F5F7F8"/>
                </a:solidFill>
                <a:latin typeface="Arial"/>
                <a:ea typeface="Arial"/>
                <a:cs typeface="Arial"/>
              </a:defRPr>
            </a:lvl3pPr>
            <a:lvl4pPr>
              <a:defRPr sz="2100" b="0">
                <a:solidFill>
                  <a:srgbClr val="F5F7F8"/>
                </a:solidFill>
                <a:latin typeface="Arial"/>
                <a:ea typeface="Arial"/>
                <a:cs typeface="Arial"/>
              </a:defRPr>
            </a:lvl4pPr>
            <a:lvl5pPr>
              <a:defRPr sz="2100" b="0">
                <a:solidFill>
                  <a:srgbClr val="F5F7F8"/>
                </a:solidFill>
                <a:latin typeface="Arial"/>
                <a:ea typeface="Arial"/>
                <a:cs typeface="Arial"/>
              </a:defRPr>
            </a:lvl5pPr>
            <a:lvl6pPr>
              <a:defRPr sz="2100" b="0">
                <a:solidFill>
                  <a:srgbClr val="F5F7F8"/>
                </a:solidFill>
                <a:latin typeface="Arial"/>
                <a:ea typeface="Arial"/>
                <a:cs typeface="Arial"/>
              </a:defRPr>
            </a:lvl6pPr>
            <a:lvl7pPr>
              <a:defRPr sz="2100" b="0">
                <a:solidFill>
                  <a:srgbClr val="F5F7F8"/>
                </a:solidFill>
                <a:latin typeface="Arial"/>
                <a:ea typeface="Arial"/>
                <a:cs typeface="Arial"/>
              </a:defRPr>
            </a:lvl7pPr>
            <a:lvl8pPr>
              <a:defRPr sz="2100" b="0">
                <a:solidFill>
                  <a:srgbClr val="F5F7F8"/>
                </a:solidFill>
                <a:latin typeface="Arial"/>
                <a:ea typeface="Arial"/>
                <a:cs typeface="Arial"/>
              </a:defRPr>
            </a:lvl8pPr>
            <a:lvl9pPr>
              <a:defRPr sz="2100" b="0">
                <a:solidFill>
                  <a:srgbClr val="F5F7F8"/>
                </a:solidFill>
                <a:latin typeface="Arial"/>
                <a:ea typeface="Arial"/>
                <a:cs typeface="Arial"/>
              </a:defRPr>
            </a:lvl9pPr>
          </a:lstStyle>
          <a:p xmlns:a="http://schemas.openxmlformats.org/drawingml/2006/main">
            <a:pPr>
              <a:defRPr sz="2100" b="0">
                <a:solidFill>
                  <a:srgbClr val="F5F7F8"/>
                </a:solidFill>
                <a:latin typeface="Arial"/>
                <a:ea typeface="Arial"/>
                <a:cs typeface="Arial"/>
              </a:defRPr>
            </a:pPr>
            <a:r>
              <a:rPr sz="2100" b="0">
                <a:solidFill>
                  <a:srgbClr val="F5F7F8"/>
                </a:solidFill>
                <a:latin typeface="Arial"/>
                <a:ea typeface="Arial"/>
                <a:cs typeface="Arial"/>
              </a:rPr>
              <a:t>Team Leader</a:t>
            </a:r>
          </a:p>
          <a:p xmlns:a="http://schemas.openxmlformats.org/drawingml/2006/main">
            <a:pPr>
              <a:defRPr sz="2100" b="0">
                <a:solidFill>
                  <a:srgbClr val="F5F7F8"/>
                </a:solidFill>
                <a:latin typeface="Arial"/>
                <a:ea typeface="Arial"/>
                <a:cs typeface="Arial"/>
              </a:defRPr>
            </a:pPr>
            <a:r>
              <a:rPr sz="2100" b="0">
                <a:solidFill>
                  <a:srgbClr val="F5F7F8"/>
                </a:solidFill>
                <a:latin typeface="Arial"/>
                <a:ea typeface="Arial"/>
                <a:cs typeface="Arial"/>
              </a:rPr>
              <a:t>CSE, VIT Bhopal</a:t>
            </a:r>
          </a:p>
        </p:txBody>
      </p:sp>
      <p:sp>
        <p:nvSpPr>
          <p:cNvPr id="6" name="">
            <a:extLst xmlns:a="http://schemas.openxmlformats.org/drawingml/2006/main">
              <a:ext uri="{FF2B5EF4-FFF2-40B4-BE49-F238E27FC236}">
                <a16:creationId xmlns:a16="http://schemas.microsoft.com/office/drawing/2014/main" id="{871E71F2-FD2B-4B05-A652-96201E8ADDB3}"/>
              </a:ext>
            </a:extLst>
          </p:cNvPr>
          <p:cNvSpPr>
            <a:spLocks xmlns:a="http://schemas.openxmlformats.org/drawingml/2006/main" noGrp="1"/>
          </p:cNvSpPr>
          <p:nvPr/>
        </p:nvSpPr>
        <p:spPr>
          <a:xfrm xmlns:a="http://schemas.openxmlformats.org/drawingml/2006/main">
            <a:off x="6667500" y="2095500"/>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67E2D0"/>
                </a:solidFill>
                <a:latin typeface="Arial"/>
                <a:ea typeface="Arial"/>
                <a:cs typeface="Arial"/>
              </a:defRPr>
            </a:defPPr>
            <a:lvl1pPr>
              <a:defRPr sz="3150" b="1">
                <a:solidFill>
                  <a:srgbClr val="67E2D0"/>
                </a:solidFill>
                <a:latin typeface="Arial"/>
                <a:ea typeface="Arial"/>
                <a:cs typeface="Arial"/>
              </a:defRPr>
            </a:lvl1pPr>
            <a:lvl2pPr>
              <a:defRPr sz="3150" b="1">
                <a:solidFill>
                  <a:srgbClr val="67E2D0"/>
                </a:solidFill>
                <a:latin typeface="Arial"/>
                <a:ea typeface="Arial"/>
                <a:cs typeface="Arial"/>
              </a:defRPr>
            </a:lvl2pPr>
            <a:lvl3pPr>
              <a:defRPr sz="3150" b="1">
                <a:solidFill>
                  <a:srgbClr val="67E2D0"/>
                </a:solidFill>
                <a:latin typeface="Arial"/>
                <a:ea typeface="Arial"/>
                <a:cs typeface="Arial"/>
              </a:defRPr>
            </a:lvl3pPr>
            <a:lvl4pPr>
              <a:defRPr sz="3150" b="1">
                <a:solidFill>
                  <a:srgbClr val="67E2D0"/>
                </a:solidFill>
                <a:latin typeface="Arial"/>
                <a:ea typeface="Arial"/>
                <a:cs typeface="Arial"/>
              </a:defRPr>
            </a:lvl4pPr>
            <a:lvl5pPr>
              <a:defRPr sz="3150" b="1">
                <a:solidFill>
                  <a:srgbClr val="67E2D0"/>
                </a:solidFill>
                <a:latin typeface="Arial"/>
                <a:ea typeface="Arial"/>
                <a:cs typeface="Arial"/>
              </a:defRPr>
            </a:lvl5pPr>
            <a:lvl6pPr>
              <a:defRPr sz="3150" b="1">
                <a:solidFill>
                  <a:srgbClr val="67E2D0"/>
                </a:solidFill>
                <a:latin typeface="Arial"/>
                <a:ea typeface="Arial"/>
                <a:cs typeface="Arial"/>
              </a:defRPr>
            </a:lvl6pPr>
            <a:lvl7pPr>
              <a:defRPr sz="3150" b="1">
                <a:solidFill>
                  <a:srgbClr val="67E2D0"/>
                </a:solidFill>
                <a:latin typeface="Arial"/>
                <a:ea typeface="Arial"/>
                <a:cs typeface="Arial"/>
              </a:defRPr>
            </a:lvl7pPr>
            <a:lvl8pPr>
              <a:defRPr sz="3150" b="1">
                <a:solidFill>
                  <a:srgbClr val="67E2D0"/>
                </a:solidFill>
                <a:latin typeface="Arial"/>
                <a:ea typeface="Arial"/>
                <a:cs typeface="Arial"/>
              </a:defRPr>
            </a:lvl8pPr>
            <a:lvl9pPr>
              <a:defRPr sz="3150" b="1">
                <a:solidFill>
                  <a:srgbClr val="67E2D0"/>
                </a:solidFill>
                <a:latin typeface="Arial"/>
                <a:ea typeface="Arial"/>
                <a:cs typeface="Arial"/>
              </a:defRPr>
            </a:lvl9pPr>
          </a:lstStyle>
          <a:p xmlns:a="http://schemas.openxmlformats.org/drawingml/2006/main">
            <a:pPr>
              <a:defRPr sz="3150" b="1">
                <a:solidFill>
                  <a:srgbClr val="67E2D0"/>
                </a:solidFill>
                <a:latin typeface="Arial"/>
                <a:ea typeface="Arial"/>
                <a:cs typeface="Arial"/>
              </a:defRPr>
            </a:pPr>
            <a:r>
              <a:rPr sz="3150" b="1">
                <a:solidFill>
                  <a:srgbClr val="67E2D0"/>
                </a:solidFill>
                <a:latin typeface="Arial"/>
                <a:ea typeface="Arial"/>
                <a:cs typeface="Arial"/>
              </a:rPr>
              <a:t>Aksh Agrawal</a:t>
            </a:r>
          </a:p>
        </p:txBody>
      </p:sp>
      <p:sp>
        <p:nvSpPr>
          <p:cNvPr id="7" name="">
            <a:extLst xmlns:a="http://schemas.openxmlformats.org/drawingml/2006/main">
              <a:ext uri="{FF2B5EF4-FFF2-40B4-BE49-F238E27FC236}">
                <a16:creationId xmlns:a16="http://schemas.microsoft.com/office/drawing/2014/main" id="{9F6676B3-50FE-406D-BF28-15DB3D63CC51}"/>
              </a:ext>
            </a:extLst>
          </p:cNvPr>
          <p:cNvSpPr>
            <a:spLocks xmlns:a="http://schemas.openxmlformats.org/drawingml/2006/main" noGrp="1"/>
          </p:cNvSpPr>
          <p:nvPr/>
        </p:nvSpPr>
        <p:spPr>
          <a:xfrm xmlns:a="http://schemas.openxmlformats.org/drawingml/2006/main">
            <a:off x="6667500" y="2857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7F8"/>
                </a:solidFill>
                <a:latin typeface="Arial"/>
                <a:ea typeface="Arial"/>
                <a:cs typeface="Arial"/>
              </a:defRPr>
            </a:defPPr>
            <a:lvl1pPr>
              <a:defRPr sz="2100" b="0">
                <a:solidFill>
                  <a:srgbClr val="F5F7F8"/>
                </a:solidFill>
                <a:latin typeface="Arial"/>
                <a:ea typeface="Arial"/>
                <a:cs typeface="Arial"/>
              </a:defRPr>
            </a:lvl1pPr>
            <a:lvl2pPr>
              <a:defRPr sz="2100" b="0">
                <a:solidFill>
                  <a:srgbClr val="F5F7F8"/>
                </a:solidFill>
                <a:latin typeface="Arial"/>
                <a:ea typeface="Arial"/>
                <a:cs typeface="Arial"/>
              </a:defRPr>
            </a:lvl2pPr>
            <a:lvl3pPr>
              <a:defRPr sz="2100" b="0">
                <a:solidFill>
                  <a:srgbClr val="F5F7F8"/>
                </a:solidFill>
                <a:latin typeface="Arial"/>
                <a:ea typeface="Arial"/>
                <a:cs typeface="Arial"/>
              </a:defRPr>
            </a:lvl3pPr>
            <a:lvl4pPr>
              <a:defRPr sz="2100" b="0">
                <a:solidFill>
                  <a:srgbClr val="F5F7F8"/>
                </a:solidFill>
                <a:latin typeface="Arial"/>
                <a:ea typeface="Arial"/>
                <a:cs typeface="Arial"/>
              </a:defRPr>
            </a:lvl4pPr>
            <a:lvl5pPr>
              <a:defRPr sz="2100" b="0">
                <a:solidFill>
                  <a:srgbClr val="F5F7F8"/>
                </a:solidFill>
                <a:latin typeface="Arial"/>
                <a:ea typeface="Arial"/>
                <a:cs typeface="Arial"/>
              </a:defRPr>
            </a:lvl5pPr>
            <a:lvl6pPr>
              <a:defRPr sz="2100" b="0">
                <a:solidFill>
                  <a:srgbClr val="F5F7F8"/>
                </a:solidFill>
                <a:latin typeface="Arial"/>
                <a:ea typeface="Arial"/>
                <a:cs typeface="Arial"/>
              </a:defRPr>
            </a:lvl6pPr>
            <a:lvl7pPr>
              <a:defRPr sz="2100" b="0">
                <a:solidFill>
                  <a:srgbClr val="F5F7F8"/>
                </a:solidFill>
                <a:latin typeface="Arial"/>
                <a:ea typeface="Arial"/>
                <a:cs typeface="Arial"/>
              </a:defRPr>
            </a:lvl7pPr>
            <a:lvl8pPr>
              <a:defRPr sz="2100" b="0">
                <a:solidFill>
                  <a:srgbClr val="F5F7F8"/>
                </a:solidFill>
                <a:latin typeface="Arial"/>
                <a:ea typeface="Arial"/>
                <a:cs typeface="Arial"/>
              </a:defRPr>
            </a:lvl8pPr>
            <a:lvl9pPr>
              <a:defRPr sz="2100" b="0">
                <a:solidFill>
                  <a:srgbClr val="F5F7F8"/>
                </a:solidFill>
                <a:latin typeface="Arial"/>
                <a:ea typeface="Arial"/>
                <a:cs typeface="Arial"/>
              </a:defRPr>
            </a:lvl9pPr>
          </a:lstStyle>
          <a:p xmlns:a="http://schemas.openxmlformats.org/drawingml/2006/main">
            <a:pPr>
              <a:defRPr sz="2100" b="0">
                <a:solidFill>
                  <a:srgbClr val="F5F7F8"/>
                </a:solidFill>
                <a:latin typeface="Arial"/>
                <a:ea typeface="Arial"/>
                <a:cs typeface="Arial"/>
              </a:defRPr>
            </a:pPr>
            <a:r>
              <a:rPr sz="2100" b="0">
                <a:solidFill>
                  <a:srgbClr val="F5F7F8"/>
                </a:solidFill>
                <a:latin typeface="Arial"/>
                <a:ea typeface="Arial"/>
                <a:cs typeface="Arial"/>
              </a:rPr>
              <a:t>Team Member</a:t>
            </a:r>
          </a:p>
          <a:p xmlns:a="http://schemas.openxmlformats.org/drawingml/2006/main">
            <a:pPr>
              <a:defRPr sz="2100" b="0">
                <a:solidFill>
                  <a:srgbClr val="F5F7F8"/>
                </a:solidFill>
                <a:latin typeface="Arial"/>
                <a:ea typeface="Arial"/>
                <a:cs typeface="Arial"/>
              </a:defRPr>
            </a:pPr>
            <a:r>
              <a:rPr sz="2100" b="0">
                <a:solidFill>
                  <a:srgbClr val="F5F7F8"/>
                </a:solidFill>
                <a:latin typeface="Arial"/>
                <a:ea typeface="Arial"/>
                <a:cs typeface="Arial"/>
              </a:rPr>
              <a:t>ECE, VIT Vellore</a:t>
            </a:r>
          </a:p>
        </p:txBody>
      </p:sp>
      <p:sp>
        <p:nvSpPr>
          <p:cNvPr id="8" name="">
            <a:extLst xmlns:a="http://schemas.openxmlformats.org/drawingml/2006/main">
              <a:ext uri="{FF2B5EF4-FFF2-40B4-BE49-F238E27FC236}">
                <a16:creationId xmlns:a16="http://schemas.microsoft.com/office/drawing/2014/main" id="{33B06E3F-7960-4232-AA3C-3FB4DE933320}"/>
              </a:ext>
            </a:extLst>
          </p:cNvPr>
          <p:cNvSpPr>
            <a:spLocks xmlns:a="http://schemas.openxmlformats.org/drawingml/2006/main" noGrp="1"/>
          </p:cNvSpPr>
          <p:nvPr/>
        </p:nvSpPr>
        <p:spPr>
          <a:xfrm xmlns:a="http://schemas.openxmlformats.org/drawingml/2006/main">
            <a:off x="666750" y="4762500"/>
            <a:ext cx="1076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5F7F8"/>
                </a:solidFill>
                <a:latin typeface="Arial"/>
                <a:ea typeface="Arial"/>
                <a:cs typeface="Arial"/>
              </a:defRPr>
            </a:defPPr>
            <a:lvl1pPr>
              <a:defRPr sz="2850" b="1">
                <a:solidFill>
                  <a:srgbClr val="F5F7F8"/>
                </a:solidFill>
                <a:latin typeface="Arial"/>
                <a:ea typeface="Arial"/>
                <a:cs typeface="Arial"/>
              </a:defRPr>
            </a:lvl1pPr>
            <a:lvl2pPr>
              <a:defRPr sz="2850" b="1">
                <a:solidFill>
                  <a:srgbClr val="F5F7F8"/>
                </a:solidFill>
                <a:latin typeface="Arial"/>
                <a:ea typeface="Arial"/>
                <a:cs typeface="Arial"/>
              </a:defRPr>
            </a:lvl2pPr>
            <a:lvl3pPr>
              <a:defRPr sz="2850" b="1">
                <a:solidFill>
                  <a:srgbClr val="F5F7F8"/>
                </a:solidFill>
                <a:latin typeface="Arial"/>
                <a:ea typeface="Arial"/>
                <a:cs typeface="Arial"/>
              </a:defRPr>
            </a:lvl3pPr>
            <a:lvl4pPr>
              <a:defRPr sz="2850" b="1">
                <a:solidFill>
                  <a:srgbClr val="F5F7F8"/>
                </a:solidFill>
                <a:latin typeface="Arial"/>
                <a:ea typeface="Arial"/>
                <a:cs typeface="Arial"/>
              </a:defRPr>
            </a:lvl4pPr>
            <a:lvl5pPr>
              <a:defRPr sz="2850" b="1">
                <a:solidFill>
                  <a:srgbClr val="F5F7F8"/>
                </a:solidFill>
                <a:latin typeface="Arial"/>
                <a:ea typeface="Arial"/>
                <a:cs typeface="Arial"/>
              </a:defRPr>
            </a:lvl5pPr>
            <a:lvl6pPr>
              <a:defRPr sz="2850" b="1">
                <a:solidFill>
                  <a:srgbClr val="F5F7F8"/>
                </a:solidFill>
                <a:latin typeface="Arial"/>
                <a:ea typeface="Arial"/>
                <a:cs typeface="Arial"/>
              </a:defRPr>
            </a:lvl6pPr>
            <a:lvl7pPr>
              <a:defRPr sz="2850" b="1">
                <a:solidFill>
                  <a:srgbClr val="F5F7F8"/>
                </a:solidFill>
                <a:latin typeface="Arial"/>
                <a:ea typeface="Arial"/>
                <a:cs typeface="Arial"/>
              </a:defRPr>
            </a:lvl7pPr>
            <a:lvl8pPr>
              <a:defRPr sz="2850" b="1">
                <a:solidFill>
                  <a:srgbClr val="F5F7F8"/>
                </a:solidFill>
                <a:latin typeface="Arial"/>
                <a:ea typeface="Arial"/>
                <a:cs typeface="Arial"/>
              </a:defRPr>
            </a:lvl8pPr>
            <a:lvl9pPr>
              <a:defRPr sz="2850" b="1">
                <a:solidFill>
                  <a:srgbClr val="F5F7F8"/>
                </a:solidFill>
                <a:latin typeface="Arial"/>
                <a:ea typeface="Arial"/>
                <a:cs typeface="Arial"/>
              </a:defRPr>
            </a:lvl9pPr>
          </a:lstStyle>
          <a:p xmlns:a="http://schemas.openxmlformats.org/drawingml/2006/main">
            <a:pPr>
              <a:defRPr sz="2850" b="1">
                <a:solidFill>
                  <a:srgbClr val="F5F7F8"/>
                </a:solidFill>
                <a:latin typeface="Arial"/>
                <a:ea typeface="Arial"/>
                <a:cs typeface="Arial"/>
              </a:defRPr>
            </a:pPr>
            <a:r>
              <a:rPr sz="2850" b="1">
                <a:solidFill>
                  <a:srgbClr val="F5F7F8"/>
                </a:solidFill>
                <a:latin typeface="Arial"/>
                <a:ea typeface="Arial"/>
                <a:cs typeface="Arial"/>
              </a:rPr>
              <a:t>11.1% lower average forecast error.</a:t>
            </a:r>
          </a:p>
          <a:p xmlns:a="http://schemas.openxmlformats.org/drawingml/2006/main">
            <a:pPr>
              <a:defRPr sz="2850" b="1">
                <a:solidFill>
                  <a:srgbClr val="F5F7F8"/>
                </a:solidFill>
                <a:latin typeface="Arial"/>
                <a:ea typeface="Arial"/>
                <a:cs typeface="Arial"/>
              </a:defRPr>
            </a:pPr>
            <a:r>
              <a:rPr sz="2850" b="1">
                <a:solidFill>
                  <a:srgbClr val="F5F7F8"/>
                </a:solidFill>
                <a:latin typeface="Arial"/>
                <a:ea typeface="Arial"/>
                <a:cs typeface="Arial"/>
              </a:rPr>
              <a:t>Next: independent replication.</a:t>
            </a:r>
          </a:p>
        </p:txBody>
      </p:sp>
    </p:spTree>
    <p:extLst>
      <p:ext uri="{BB962C8B-B14F-4D97-AF65-F5344CB8AC3E}">
        <p14:creationId xmlns:p14="http://schemas.microsoft.com/office/powerpoint/2010/main" val="848433"/>
      </p:ext>
    </p:extLst>
  </p:cSld>
</p:sld>
</file>

<file path=ppt/slides/slide19.xml><?xml version="1.0" encoding="utf-8"?>
<p:sld xmlns:p="http://schemas.openxmlformats.org/presentationml/2006/main">
  <p:cSld>
    <p:bg>
      <p:bgPr>
        <a:solidFill xmlns:a="http://schemas.openxmlformats.org/drawingml/2006/main">
          <a:srgbClr val="F2F3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59A766-82A6-4E4A-B7B4-C20F7DBBDAA2}"/>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E3B"/>
                </a:solidFill>
                <a:latin typeface="Arial"/>
                <a:ea typeface="Arial"/>
                <a:cs typeface="Arial"/>
              </a:defRPr>
            </a:defPPr>
            <a:lvl1pPr>
              <a:defRPr sz="3450" b="1">
                <a:solidFill>
                  <a:srgbClr val="132E3B"/>
                </a:solidFill>
                <a:latin typeface="Arial"/>
                <a:ea typeface="Arial"/>
                <a:cs typeface="Arial"/>
              </a:defRPr>
            </a:lvl1pPr>
            <a:lvl2pPr>
              <a:defRPr sz="3450" b="1">
                <a:solidFill>
                  <a:srgbClr val="132E3B"/>
                </a:solidFill>
                <a:latin typeface="Arial"/>
                <a:ea typeface="Arial"/>
                <a:cs typeface="Arial"/>
              </a:defRPr>
            </a:lvl2pPr>
            <a:lvl3pPr>
              <a:defRPr sz="3450" b="1">
                <a:solidFill>
                  <a:srgbClr val="132E3B"/>
                </a:solidFill>
                <a:latin typeface="Arial"/>
                <a:ea typeface="Arial"/>
                <a:cs typeface="Arial"/>
              </a:defRPr>
            </a:lvl3pPr>
            <a:lvl4pPr>
              <a:defRPr sz="3450" b="1">
                <a:solidFill>
                  <a:srgbClr val="132E3B"/>
                </a:solidFill>
                <a:latin typeface="Arial"/>
                <a:ea typeface="Arial"/>
                <a:cs typeface="Arial"/>
              </a:defRPr>
            </a:lvl4pPr>
            <a:lvl5pPr>
              <a:defRPr sz="3450" b="1">
                <a:solidFill>
                  <a:srgbClr val="132E3B"/>
                </a:solidFill>
                <a:latin typeface="Arial"/>
                <a:ea typeface="Arial"/>
                <a:cs typeface="Arial"/>
              </a:defRPr>
            </a:lvl5pPr>
            <a:lvl6pPr>
              <a:defRPr sz="3450" b="1">
                <a:solidFill>
                  <a:srgbClr val="132E3B"/>
                </a:solidFill>
                <a:latin typeface="Arial"/>
                <a:ea typeface="Arial"/>
                <a:cs typeface="Arial"/>
              </a:defRPr>
            </a:lvl6pPr>
            <a:lvl7pPr>
              <a:defRPr sz="3450" b="1">
                <a:solidFill>
                  <a:srgbClr val="132E3B"/>
                </a:solidFill>
                <a:latin typeface="Arial"/>
                <a:ea typeface="Arial"/>
                <a:cs typeface="Arial"/>
              </a:defRPr>
            </a:lvl7pPr>
            <a:lvl8pPr>
              <a:defRPr sz="3450" b="1">
                <a:solidFill>
                  <a:srgbClr val="132E3B"/>
                </a:solidFill>
                <a:latin typeface="Arial"/>
                <a:ea typeface="Arial"/>
                <a:cs typeface="Arial"/>
              </a:defRPr>
            </a:lvl8pPr>
            <a:lvl9pPr>
              <a:defRPr sz="3450" b="1">
                <a:solidFill>
                  <a:srgbClr val="132E3B"/>
                </a:solidFill>
                <a:latin typeface="Arial"/>
                <a:ea typeface="Arial"/>
                <a:cs typeface="Arial"/>
              </a:defRPr>
            </a:lvl9pPr>
          </a:lstStyle>
          <a:p xmlns:a="http://schemas.openxmlformats.org/drawingml/2006/main">
            <a:pPr>
              <a:defRPr sz="3450" b="1">
                <a:solidFill>
                  <a:srgbClr val="132E3B"/>
                </a:solidFill>
                <a:latin typeface="Arial"/>
                <a:ea typeface="Arial"/>
                <a:cs typeface="Arial"/>
              </a:defRPr>
            </a:pPr>
            <a:r>
              <a:rPr sz="3450" b="1">
                <a:solidFill>
                  <a:srgbClr val="132E3B"/>
                </a:solidFill>
                <a:latin typeface="Arial"/>
                <a:ea typeface="Arial"/>
                <a:cs typeface="Arial"/>
              </a:rPr>
              <a:t>Full forecast comparison</a:t>
            </a:r>
          </a:p>
        </p:txBody>
      </p:sp>
      <p:sp>
        <p:nvSpPr>
          <p:cNvPr id="2" name="">
            <a:extLst xmlns:a="http://schemas.openxmlformats.org/drawingml/2006/main">
              <a:ext uri="{FF2B5EF4-FFF2-40B4-BE49-F238E27FC236}">
                <a16:creationId xmlns:a16="http://schemas.microsoft.com/office/drawing/2014/main" id="{967DCD17-DECF-48AE-A9A1-17C7240D6A2A}"/>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087E80"/>
                </a:solidFill>
                <a:latin typeface="Arial"/>
                <a:ea typeface="Arial"/>
                <a:cs typeface="Arial"/>
              </a:defRPr>
            </a:defPPr>
            <a:lvl1pPr>
              <a:defRPr sz="1200" b="1">
                <a:solidFill>
                  <a:srgbClr val="087E80"/>
                </a:solidFill>
                <a:latin typeface="Arial"/>
                <a:ea typeface="Arial"/>
                <a:cs typeface="Arial"/>
              </a:defRPr>
            </a:lvl1pPr>
            <a:lvl2pPr>
              <a:defRPr sz="1200" b="1">
                <a:solidFill>
                  <a:srgbClr val="087E80"/>
                </a:solidFill>
                <a:latin typeface="Arial"/>
                <a:ea typeface="Arial"/>
                <a:cs typeface="Arial"/>
              </a:defRPr>
            </a:lvl2pPr>
            <a:lvl3pPr>
              <a:defRPr sz="1200" b="1">
                <a:solidFill>
                  <a:srgbClr val="087E80"/>
                </a:solidFill>
                <a:latin typeface="Arial"/>
                <a:ea typeface="Arial"/>
                <a:cs typeface="Arial"/>
              </a:defRPr>
            </a:lvl3pPr>
            <a:lvl4pPr>
              <a:defRPr sz="1200" b="1">
                <a:solidFill>
                  <a:srgbClr val="087E80"/>
                </a:solidFill>
                <a:latin typeface="Arial"/>
                <a:ea typeface="Arial"/>
                <a:cs typeface="Arial"/>
              </a:defRPr>
            </a:lvl4pPr>
            <a:lvl5pPr>
              <a:defRPr sz="1200" b="1">
                <a:solidFill>
                  <a:srgbClr val="087E80"/>
                </a:solidFill>
                <a:latin typeface="Arial"/>
                <a:ea typeface="Arial"/>
                <a:cs typeface="Arial"/>
              </a:defRPr>
            </a:lvl5pPr>
            <a:lvl6pPr>
              <a:defRPr sz="1200" b="1">
                <a:solidFill>
                  <a:srgbClr val="087E80"/>
                </a:solidFill>
                <a:latin typeface="Arial"/>
                <a:ea typeface="Arial"/>
                <a:cs typeface="Arial"/>
              </a:defRPr>
            </a:lvl6pPr>
            <a:lvl7pPr>
              <a:defRPr sz="1200" b="1">
                <a:solidFill>
                  <a:srgbClr val="087E80"/>
                </a:solidFill>
                <a:latin typeface="Arial"/>
                <a:ea typeface="Arial"/>
                <a:cs typeface="Arial"/>
              </a:defRPr>
            </a:lvl7pPr>
            <a:lvl8pPr>
              <a:defRPr sz="1200" b="1">
                <a:solidFill>
                  <a:srgbClr val="087E80"/>
                </a:solidFill>
                <a:latin typeface="Arial"/>
                <a:ea typeface="Arial"/>
                <a:cs typeface="Arial"/>
              </a:defRPr>
            </a:lvl8pPr>
            <a:lvl9pPr>
              <a:defRPr sz="1200" b="1">
                <a:solidFill>
                  <a:srgbClr val="087E80"/>
                </a:solidFill>
                <a:latin typeface="Arial"/>
                <a:ea typeface="Arial"/>
                <a:cs typeface="Arial"/>
              </a:defRPr>
            </a:lvl9pPr>
          </a:lstStyle>
          <a:p xmlns:a="http://schemas.openxmlformats.org/drawingml/2006/main">
            <a:pPr>
              <a:defRPr sz="1200" b="1">
                <a:solidFill>
                  <a:srgbClr val="087E80"/>
                </a:solidFill>
                <a:latin typeface="Arial"/>
                <a:ea typeface="Arial"/>
                <a:cs typeface="Arial"/>
              </a:defRPr>
            </a:pPr>
            <a:r>
              <a:rPr sz="1200" b="1">
                <a:solidFill>
                  <a:srgbClr val="087E80"/>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02C1164C-105C-412B-A6C0-E4CC9E85710C}"/>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80E30D15-6206-4050-A848-A9D8BB3BD336}"/>
              </a:ext>
            </a:extLst>
          </p:cNvPr>
          <p:cNvSpPr>
            <a:spLocks xmlns:a="http://schemas.openxmlformats.org/drawingml/2006/main" noGrp="1"/>
          </p:cNvSpPr>
          <p:nvPr/>
        </p:nvSpPr>
        <p:spPr>
          <a:xfrm xmlns:a="http://schemas.openxmlformats.org/drawingml/2006/main">
            <a:off x="628650" y="62293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30-minute patient-mean MAE, mg/dL. Test: 8 scoreable participants, including 3 with Type 2.</a:t>
            </a:r>
          </a:p>
        </p:txBody>
      </p:sp>
      <p:graphicFrame>
        <p:nvGraphicFramePr>
          <p:cNvPr id="5" name="">
            <a:extLst xmlns:a="http://schemas.openxmlformats.org/drawingml/2006/main">
              <a:ext uri="{FF2B5EF4-FFF2-40B4-BE49-F238E27FC236}">
                <a16:creationId xmlns:a16="http://schemas.microsoft.com/office/drawing/2014/main" id="{E99E61C1-29FF-409C-B906-0E09B980E001}"/>
              </a:ext>
            </a:extLst>
          </p:cNvPr>
          <p:cNvGraphicFramePr/>
          <p:nvPr/>
        </p:nvGraphicFramePr>
        <p:xfrm>
          <a:off xmlns:a="http://schemas.openxmlformats.org/drawingml/2006/main" x="647700" y="1809750"/>
          <a:ext xmlns:a="http://schemas.openxmlformats.org/drawingml/2006/main" cx="10858500" cy="3810000"/>
        </p:xfrm>
        <a:graphic xmlns:a="http://schemas.openxmlformats.org/drawingml/2006/main">
          <a:graphicData uri="http://schemas.openxmlformats.org/drawingml/2006/table">
            <a:tbl>
              <a:tblPr/>
              <a:tblGrid>
                <a:gridCol w="5429250"/>
                <a:gridCol w="1809750"/>
                <a:gridCol w="1809750"/>
                <a:gridCol w="1809750"/>
              </a:tblGrid>
              <a:tr h="544286">
                <a:tc>
                  <a:txBody>
                    <a:bodyPr lIns="142875" tIns="95250" rIns="123825" bIns="95250"/>
                    <a:lstStyle/>
                    <a:p>
                      <a:r>
                        <a:rPr sz="1575" b="1">
                          <a:solidFill>
                            <a:srgbClr val="F5F7F8"/>
                          </a:solidFill>
                          <a:latin typeface="Arial"/>
                          <a:ea typeface="Arial"/>
                          <a:cs typeface="Arial"/>
                        </a:rPr>
                        <a:t>Model</a:t>
                      </a:r>
                    </a:p>
                  </a:txBody>
                  <a:tcPr marL="91440" marR="91440" marT="45720" marB="45720" anchor="ctr">
                    <a:lnL w="5715">
                      <a:solidFill>
                        <a:srgbClr val="CFD8D8"/>
                      </a:solidFill>
                      <a:prstDash val="solid"/>
                    </a:lnL>
                    <a:lnR w="5715">
                      <a:solidFill>
                        <a:srgbClr val="CFD8D8"/>
                      </a:solidFill>
                      <a:prstDash val="solid"/>
                    </a:lnR>
                    <a:lnT w="5715">
                      <a:solidFill>
                        <a:srgbClr val="CFD8D8"/>
                      </a:solidFill>
                      <a:prstDash val="solid"/>
                    </a:lnT>
                    <a:lnB w="5715">
                      <a:solidFill>
                        <a:srgbClr val="CFD8D8"/>
                      </a:solidFill>
                      <a:prstDash val="solid"/>
                    </a:lnB>
                    <a:solidFill>
                      <a:srgbClr val="132E3B"/>
                    </a:solidFill>
                  </a:tcPr>
                </a:tc>
                <a:tc>
                  <a:txBody>
                    <a:bodyPr lIns="142875" tIns="95250" rIns="123825" bIns="95250"/>
                    <a:lstStyle/>
                    <a:p>
                      <a:r>
                        <a:rPr sz="1575" b="1">
                          <a:solidFill>
                            <a:srgbClr val="F5F7F8"/>
                          </a:solidFill>
                          <a:latin typeface="Arial"/>
                          <a:ea typeface="Arial"/>
                          <a:cs typeface="Arial"/>
                        </a:rPr>
                        <a:t>Validation</a:t>
                      </a:r>
                    </a:p>
                  </a:txBody>
                  <a:tcPr marL="91440" marR="91440" marT="45720" marB="45720" anchor="ctr">
                    <a:lnR w="5715">
                      <a:solidFill>
                        <a:srgbClr val="CFD8D8"/>
                      </a:solidFill>
                      <a:prstDash val="solid"/>
                    </a:lnR>
                    <a:lnT w="5715">
                      <a:solidFill>
                        <a:srgbClr val="CFD8D8"/>
                      </a:solidFill>
                      <a:prstDash val="solid"/>
                    </a:lnT>
                    <a:lnB w="5715">
                      <a:solidFill>
                        <a:srgbClr val="CFD8D8"/>
                      </a:solidFill>
                      <a:prstDash val="solid"/>
                    </a:lnB>
                    <a:solidFill>
                      <a:srgbClr val="132E3B"/>
                    </a:solidFill>
                  </a:tcPr>
                </a:tc>
                <a:tc>
                  <a:txBody>
                    <a:bodyPr lIns="142875" tIns="95250" rIns="123825" bIns="95250"/>
                    <a:lstStyle/>
                    <a:p>
                      <a:r>
                        <a:rPr sz="1575" b="1">
                          <a:solidFill>
                            <a:srgbClr val="F5F7F8"/>
                          </a:solidFill>
                          <a:latin typeface="Arial"/>
                          <a:ea typeface="Arial"/>
                          <a:cs typeface="Arial"/>
                        </a:rPr>
                        <a:t>Test</a:t>
                      </a:r>
                    </a:p>
                  </a:txBody>
                  <a:tcPr marL="91440" marR="91440" marT="45720" marB="45720" anchor="ctr">
                    <a:lnR w="5715">
                      <a:solidFill>
                        <a:srgbClr val="CFD8D8"/>
                      </a:solidFill>
                      <a:prstDash val="solid"/>
                    </a:lnR>
                    <a:lnT w="5715">
                      <a:solidFill>
                        <a:srgbClr val="CFD8D8"/>
                      </a:solidFill>
                      <a:prstDash val="solid"/>
                    </a:lnT>
                    <a:lnB w="5715">
                      <a:solidFill>
                        <a:srgbClr val="CFD8D8"/>
                      </a:solidFill>
                      <a:prstDash val="solid"/>
                    </a:lnB>
                    <a:solidFill>
                      <a:srgbClr val="132E3B"/>
                    </a:solidFill>
                  </a:tcPr>
                </a:tc>
                <a:tc>
                  <a:txBody>
                    <a:bodyPr lIns="142875" tIns="95250" rIns="123825" bIns="95250"/>
                    <a:lstStyle/>
                    <a:p>
                      <a:r>
                        <a:rPr sz="1575" b="1">
                          <a:solidFill>
                            <a:srgbClr val="F5F7F8"/>
                          </a:solidFill>
                          <a:latin typeface="Arial"/>
                          <a:ea typeface="Arial"/>
                          <a:cs typeface="Arial"/>
                        </a:rPr>
                        <a:t>Type 2 test</a:t>
                      </a:r>
                    </a:p>
                  </a:txBody>
                  <a:tcPr marL="91440" marR="91440" marT="45720" marB="45720" anchor="ctr">
                    <a:lnR w="5715">
                      <a:solidFill>
                        <a:srgbClr val="CFD8D8"/>
                      </a:solidFill>
                      <a:prstDash val="solid"/>
                    </a:lnR>
                    <a:lnT w="5715">
                      <a:solidFill>
                        <a:srgbClr val="CFD8D8"/>
                      </a:solidFill>
                      <a:prstDash val="solid"/>
                    </a:lnT>
                    <a:lnB w="5715">
                      <a:solidFill>
                        <a:srgbClr val="CFD8D8"/>
                      </a:solidFill>
                      <a:prstDash val="solid"/>
                    </a:lnB>
                    <a:solidFill>
                      <a:srgbClr val="132E3B"/>
                    </a:solidFill>
                  </a:tcPr>
                </a:tc>
              </a:tr>
              <a:tr h="544286">
                <a:tc>
                  <a:txBody>
                    <a:bodyPr lIns="142875" tIns="95250" rIns="123825" bIns="95250"/>
                    <a:lstStyle/>
                    <a:p>
                      <a:r>
                        <a:rPr sz="1650" b="0">
                          <a:solidFill>
                            <a:srgbClr val="132E3B"/>
                          </a:solidFill>
                          <a:latin typeface="Arial"/>
                          <a:ea typeface="Arial"/>
                          <a:cs typeface="Arial"/>
                        </a:rPr>
                        <a:t>Unchanged glucose</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11.37</a:t>
                      </a:r>
                    </a:p>
                  </a:txBody>
                  <a:tcPr marL="91440" marR="91440" marT="45720" marB="45720" anchor="ctr">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14.21</a:t>
                      </a:r>
                    </a:p>
                  </a:txBody>
                  <a:tcPr marL="91440" marR="91440" marT="45720" marB="45720" anchor="ctr">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16.43</a:t>
                      </a:r>
                    </a:p>
                  </a:txBody>
                  <a:tcPr marL="91440" marR="91440" marT="45720" marB="45720" anchor="ctr">
                    <a:lnR w="5715">
                      <a:solidFill>
                        <a:srgbClr val="CFD8D8"/>
                      </a:solidFill>
                      <a:prstDash val="solid"/>
                    </a:lnR>
                    <a:lnB w="5715">
                      <a:solidFill>
                        <a:srgbClr val="CFD8D8"/>
                      </a:solidFill>
                      <a:prstDash val="solid"/>
                    </a:lnB>
                    <a:solidFill>
                      <a:srgbClr val="FFFFFF"/>
                    </a:solidFill>
                  </a:tcPr>
                </a:tc>
              </a:tr>
              <a:tr h="544286">
                <a:tc>
                  <a:txBody>
                    <a:bodyPr lIns="142875" tIns="95250" rIns="123825" bIns="95250"/>
                    <a:lstStyle/>
                    <a:p>
                      <a:r>
                        <a:rPr sz="1650" b="0">
                          <a:solidFill>
                            <a:srgbClr val="132E3B"/>
                          </a:solidFill>
                          <a:latin typeface="Arial"/>
                          <a:ea typeface="Arial"/>
                          <a:cs typeface="Arial"/>
                        </a:rPr>
                        <a:t>Recent trend</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16.72</a:t>
                      </a:r>
                    </a:p>
                  </a:txBody>
                  <a:tcPr marL="91440" marR="91440" marT="45720" marB="45720" anchor="ctr">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19.80</a:t>
                      </a:r>
                    </a:p>
                  </a:txBody>
                  <a:tcPr marL="91440" marR="91440" marT="45720" marB="45720" anchor="ctr">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20.30</a:t>
                      </a:r>
                    </a:p>
                  </a:txBody>
                  <a:tcPr marL="91440" marR="91440" marT="45720" marB="45720" anchor="ctr">
                    <a:lnR w="5715">
                      <a:solidFill>
                        <a:srgbClr val="CFD8D8"/>
                      </a:solidFill>
                      <a:prstDash val="solid"/>
                    </a:lnR>
                    <a:lnB w="5715">
                      <a:solidFill>
                        <a:srgbClr val="CFD8D8"/>
                      </a:solidFill>
                      <a:prstDash val="solid"/>
                    </a:lnB>
                    <a:solidFill>
                      <a:srgbClr val="E8EEEB"/>
                    </a:solidFill>
                  </a:tcPr>
                </a:tc>
              </a:tr>
              <a:tr h="544286">
                <a:tc>
                  <a:txBody>
                    <a:bodyPr lIns="142875" tIns="95250" rIns="123825" bIns="95250"/>
                    <a:lstStyle/>
                    <a:p>
                      <a:r>
                        <a:rPr sz="1650" b="0">
                          <a:solidFill>
                            <a:srgbClr val="132E3B"/>
                          </a:solidFill>
                          <a:latin typeface="Arial"/>
                          <a:ea typeface="Arial"/>
                          <a:cs typeface="Arial"/>
                        </a:rPr>
                        <a:t>Linear CGM</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10.79</a:t>
                      </a:r>
                    </a:p>
                  </a:txBody>
                  <a:tcPr marL="91440" marR="91440" marT="45720" marB="45720" anchor="ctr">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13.19</a:t>
                      </a:r>
                    </a:p>
                  </a:txBody>
                  <a:tcPr marL="91440" marR="91440" marT="45720" marB="45720" anchor="ctr">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14.51</a:t>
                      </a:r>
                    </a:p>
                  </a:txBody>
                  <a:tcPr marL="91440" marR="91440" marT="45720" marB="45720" anchor="ctr">
                    <a:lnR w="5715">
                      <a:solidFill>
                        <a:srgbClr val="CFD8D8"/>
                      </a:solidFill>
                      <a:prstDash val="solid"/>
                    </a:lnR>
                    <a:lnB w="5715">
                      <a:solidFill>
                        <a:srgbClr val="CFD8D8"/>
                      </a:solidFill>
                      <a:prstDash val="solid"/>
                    </a:lnB>
                    <a:solidFill>
                      <a:srgbClr val="FFFFFF"/>
                    </a:solidFill>
                  </a:tcPr>
                </a:tc>
              </a:tr>
              <a:tr h="544286">
                <a:tc>
                  <a:txBody>
                    <a:bodyPr lIns="142875" tIns="95250" rIns="123825" bIns="95250"/>
                    <a:lstStyle/>
                    <a:p>
                      <a:r>
                        <a:rPr sz="1650" b="0">
                          <a:solidFill>
                            <a:srgbClr val="132E3B"/>
                          </a:solidFill>
                          <a:latin typeface="Arial"/>
                          <a:ea typeface="Arial"/>
                          <a:cs typeface="Arial"/>
                        </a:rPr>
                        <a:t>Boosted CGM (selected)</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10.55</a:t>
                      </a:r>
                    </a:p>
                  </a:txBody>
                  <a:tcPr marL="91440" marR="91440" marT="45720" marB="45720" anchor="ctr">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12.64</a:t>
                      </a:r>
                    </a:p>
                  </a:txBody>
                  <a:tcPr marL="91440" marR="91440" marT="45720" marB="45720" anchor="ctr">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14.12</a:t>
                      </a:r>
                    </a:p>
                  </a:txBody>
                  <a:tcPr marL="91440" marR="91440" marT="45720" marB="45720" anchor="ctr">
                    <a:lnR w="5715">
                      <a:solidFill>
                        <a:srgbClr val="CFD8D8"/>
                      </a:solidFill>
                      <a:prstDash val="solid"/>
                    </a:lnR>
                    <a:lnB w="5715">
                      <a:solidFill>
                        <a:srgbClr val="CFD8D8"/>
                      </a:solidFill>
                      <a:prstDash val="solid"/>
                    </a:lnB>
                    <a:solidFill>
                      <a:srgbClr val="E8EEEB"/>
                    </a:solidFill>
                  </a:tcPr>
                </a:tc>
              </a:tr>
              <a:tr h="544286">
                <a:tc>
                  <a:txBody>
                    <a:bodyPr lIns="142875" tIns="95250" rIns="123825" bIns="95250"/>
                    <a:lstStyle/>
                    <a:p>
                      <a:r>
                        <a:rPr sz="1650" b="0">
                          <a:solidFill>
                            <a:srgbClr val="132E3B"/>
                          </a:solidFill>
                          <a:latin typeface="Arial"/>
                          <a:ea typeface="Arial"/>
                          <a:cs typeface="Arial"/>
                        </a:rPr>
                        <a:t>Clinical + CGM</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10.65</a:t>
                      </a:r>
                    </a:p>
                  </a:txBody>
                  <a:tcPr marL="91440" marR="91440" marT="45720" marB="45720" anchor="ctr">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12.53</a:t>
                      </a:r>
                    </a:p>
                  </a:txBody>
                  <a:tcPr marL="91440" marR="91440" marT="45720" marB="45720" anchor="ctr">
                    <a:lnR w="5715">
                      <a:solidFill>
                        <a:srgbClr val="CFD8D8"/>
                      </a:solidFill>
                      <a:prstDash val="solid"/>
                    </a:lnR>
                    <a:lnB w="5715">
                      <a:solidFill>
                        <a:srgbClr val="CFD8D8"/>
                      </a:solidFill>
                      <a:prstDash val="solid"/>
                    </a:lnB>
                    <a:solidFill>
                      <a:srgbClr val="FFFFFF"/>
                    </a:solidFill>
                  </a:tcPr>
                </a:tc>
                <a:tc>
                  <a:txBody>
                    <a:bodyPr lIns="142875" tIns="95250" rIns="123825" bIns="95250"/>
                    <a:lstStyle/>
                    <a:p>
                      <a:r>
                        <a:rPr sz="1650" b="0">
                          <a:solidFill>
                            <a:srgbClr val="132E3B"/>
                          </a:solidFill>
                          <a:latin typeface="Arial"/>
                          <a:ea typeface="Arial"/>
                          <a:cs typeface="Arial"/>
                        </a:rPr>
                        <a:t>14.03</a:t>
                      </a:r>
                    </a:p>
                  </a:txBody>
                  <a:tcPr marL="91440" marR="91440" marT="45720" marB="45720" anchor="ctr">
                    <a:lnR w="5715">
                      <a:solidFill>
                        <a:srgbClr val="CFD8D8"/>
                      </a:solidFill>
                      <a:prstDash val="solid"/>
                    </a:lnR>
                    <a:lnB w="5715">
                      <a:solidFill>
                        <a:srgbClr val="CFD8D8"/>
                      </a:solidFill>
                      <a:prstDash val="solid"/>
                    </a:lnB>
                    <a:solidFill>
                      <a:srgbClr val="FFFFFF"/>
                    </a:solidFill>
                  </a:tcPr>
                </a:tc>
              </a:tr>
              <a:tr h="544286">
                <a:tc>
                  <a:txBody>
                    <a:bodyPr lIns="142875" tIns="95250" rIns="123825" bIns="95250"/>
                    <a:lstStyle/>
                    <a:p>
                      <a:r>
                        <a:rPr sz="1650" b="0">
                          <a:solidFill>
                            <a:srgbClr val="132E3B"/>
                          </a:solidFill>
                          <a:latin typeface="Arial"/>
                          <a:ea typeface="Arial"/>
                          <a:cs typeface="Arial"/>
                        </a:rPr>
                        <a:t>Clinical + CGM + activity</a:t>
                      </a:r>
                    </a:p>
                  </a:txBody>
                  <a:tcPr marL="91440" marR="91440" marT="45720" marB="45720" anchor="ctr">
                    <a:lnL w="5715">
                      <a:solidFill>
                        <a:srgbClr val="CFD8D8"/>
                      </a:solidFill>
                      <a:prstDash val="solid"/>
                    </a:lnL>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10.62</a:t>
                      </a:r>
                    </a:p>
                  </a:txBody>
                  <a:tcPr marL="91440" marR="91440" marT="45720" marB="45720" anchor="ctr">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12.47</a:t>
                      </a:r>
                    </a:p>
                  </a:txBody>
                  <a:tcPr marL="91440" marR="91440" marT="45720" marB="45720" anchor="ctr">
                    <a:lnR w="5715">
                      <a:solidFill>
                        <a:srgbClr val="CFD8D8"/>
                      </a:solidFill>
                      <a:prstDash val="solid"/>
                    </a:lnR>
                    <a:lnB w="5715">
                      <a:solidFill>
                        <a:srgbClr val="CFD8D8"/>
                      </a:solidFill>
                      <a:prstDash val="solid"/>
                    </a:lnB>
                    <a:solidFill>
                      <a:srgbClr val="E8EEEB"/>
                    </a:solidFill>
                  </a:tcPr>
                </a:tc>
                <a:tc>
                  <a:txBody>
                    <a:bodyPr lIns="142875" tIns="95250" rIns="123825" bIns="95250"/>
                    <a:lstStyle/>
                    <a:p>
                      <a:r>
                        <a:rPr sz="1650" b="0">
                          <a:solidFill>
                            <a:srgbClr val="132E3B"/>
                          </a:solidFill>
                          <a:latin typeface="Arial"/>
                          <a:ea typeface="Arial"/>
                          <a:cs typeface="Arial"/>
                        </a:rPr>
                        <a:t>14.04</a:t>
                      </a:r>
                    </a:p>
                  </a:txBody>
                  <a:tcPr marL="91440" marR="91440" marT="45720" marB="45720" anchor="ctr">
                    <a:lnR w="5715">
                      <a:solidFill>
                        <a:srgbClr val="CFD8D8"/>
                      </a:solidFill>
                      <a:prstDash val="solid"/>
                    </a:lnR>
                    <a:lnB w="5715">
                      <a:solidFill>
                        <a:srgbClr val="CFD8D8"/>
                      </a:solidFill>
                      <a:prstDash val="solid"/>
                    </a:lnB>
                    <a:solidFill>
                      <a:srgbClr val="E8EEEB"/>
                    </a:solidFill>
                  </a:tcPr>
                </a:tc>
              </a:tr>
            </a:tbl>
          </a:graphicData>
        </a:graphic>
      </p:graphicFrame>
    </p:spTree>
    <p:extLst>
      <p:ext uri="{BB962C8B-B14F-4D97-AF65-F5344CB8AC3E}">
        <p14:creationId xmlns:p14="http://schemas.microsoft.com/office/powerpoint/2010/main" val="1425797614"/>
      </p:ext>
    </p:extLst>
  </p:cSld>
</p:sld>
</file>

<file path=ppt/slides/slide20.xml><?xml version="1.0" encoding="utf-8"?>
<p:sld xmlns:p="http://schemas.openxmlformats.org/presentationml/2006/main">
  <p:cSld>
    <p:bg>
      <p:bgPr>
        <a:solidFill xmlns:a="http://schemas.openxmlformats.org/drawingml/2006/main">
          <a:srgbClr val="F2F3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55BC0B-3ADD-41CD-B38D-2E33742994C8}"/>
              </a:ext>
            </a:extLst>
          </p:cNvPr>
          <p:cNvSpPr>
            <a:spLocks xmlns:a="http://schemas.openxmlformats.org/drawingml/2006/main" noGrp="1"/>
          </p:cNvSpPr>
          <p:nvPr/>
        </p:nvSpPr>
        <p:spPr>
          <a:xfrm xmlns:a="http://schemas.openxmlformats.org/drawingml/2006/main">
            <a:off x="609600" y="6667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E3B"/>
                </a:solidFill>
                <a:latin typeface="Arial"/>
                <a:ea typeface="Arial"/>
                <a:cs typeface="Arial"/>
              </a:defRPr>
            </a:defPPr>
            <a:lvl1pPr>
              <a:defRPr sz="3450" b="1">
                <a:solidFill>
                  <a:srgbClr val="132E3B"/>
                </a:solidFill>
                <a:latin typeface="Arial"/>
                <a:ea typeface="Arial"/>
                <a:cs typeface="Arial"/>
              </a:defRPr>
            </a:lvl1pPr>
            <a:lvl2pPr>
              <a:defRPr sz="3450" b="1">
                <a:solidFill>
                  <a:srgbClr val="132E3B"/>
                </a:solidFill>
                <a:latin typeface="Arial"/>
                <a:ea typeface="Arial"/>
                <a:cs typeface="Arial"/>
              </a:defRPr>
            </a:lvl2pPr>
            <a:lvl3pPr>
              <a:defRPr sz="3450" b="1">
                <a:solidFill>
                  <a:srgbClr val="132E3B"/>
                </a:solidFill>
                <a:latin typeface="Arial"/>
                <a:ea typeface="Arial"/>
                <a:cs typeface="Arial"/>
              </a:defRPr>
            </a:lvl3pPr>
            <a:lvl4pPr>
              <a:defRPr sz="3450" b="1">
                <a:solidFill>
                  <a:srgbClr val="132E3B"/>
                </a:solidFill>
                <a:latin typeface="Arial"/>
                <a:ea typeface="Arial"/>
                <a:cs typeface="Arial"/>
              </a:defRPr>
            </a:lvl4pPr>
            <a:lvl5pPr>
              <a:defRPr sz="3450" b="1">
                <a:solidFill>
                  <a:srgbClr val="132E3B"/>
                </a:solidFill>
                <a:latin typeface="Arial"/>
                <a:ea typeface="Arial"/>
                <a:cs typeface="Arial"/>
              </a:defRPr>
            </a:lvl5pPr>
            <a:lvl6pPr>
              <a:defRPr sz="3450" b="1">
                <a:solidFill>
                  <a:srgbClr val="132E3B"/>
                </a:solidFill>
                <a:latin typeface="Arial"/>
                <a:ea typeface="Arial"/>
                <a:cs typeface="Arial"/>
              </a:defRPr>
            </a:lvl6pPr>
            <a:lvl7pPr>
              <a:defRPr sz="3450" b="1">
                <a:solidFill>
                  <a:srgbClr val="132E3B"/>
                </a:solidFill>
                <a:latin typeface="Arial"/>
                <a:ea typeface="Arial"/>
                <a:cs typeface="Arial"/>
              </a:defRPr>
            </a:lvl7pPr>
            <a:lvl8pPr>
              <a:defRPr sz="3450" b="1">
                <a:solidFill>
                  <a:srgbClr val="132E3B"/>
                </a:solidFill>
                <a:latin typeface="Arial"/>
                <a:ea typeface="Arial"/>
                <a:cs typeface="Arial"/>
              </a:defRPr>
            </a:lvl8pPr>
            <a:lvl9pPr>
              <a:defRPr sz="3450" b="1">
                <a:solidFill>
                  <a:srgbClr val="132E3B"/>
                </a:solidFill>
                <a:latin typeface="Arial"/>
                <a:ea typeface="Arial"/>
                <a:cs typeface="Arial"/>
              </a:defRPr>
            </a:lvl9pPr>
          </a:lstStyle>
          <a:p xmlns:a="http://schemas.openxmlformats.org/drawingml/2006/main">
            <a:pPr>
              <a:defRPr sz="3450" b="1">
                <a:solidFill>
                  <a:srgbClr val="132E3B"/>
                </a:solidFill>
                <a:latin typeface="Arial"/>
                <a:ea typeface="Arial"/>
                <a:cs typeface="Arial"/>
              </a:defRPr>
            </a:pPr>
            <a:r>
              <a:rPr sz="3450" b="1">
                <a:solidFill>
                  <a:srgbClr val="132E3B"/>
                </a:solidFill>
                <a:latin typeface="Arial"/>
                <a:ea typeface="Arial"/>
                <a:cs typeface="Arial"/>
              </a:rPr>
              <a:t>Sources and reproducibility</a:t>
            </a:r>
          </a:p>
        </p:txBody>
      </p:sp>
      <p:sp>
        <p:nvSpPr>
          <p:cNvPr id="2" name="">
            <a:extLst xmlns:a="http://schemas.openxmlformats.org/drawingml/2006/main">
              <a:ext uri="{FF2B5EF4-FFF2-40B4-BE49-F238E27FC236}">
                <a16:creationId xmlns:a16="http://schemas.microsoft.com/office/drawing/2014/main" id="{F2E87C6C-1635-4D3D-9DE7-83A6AF7BE8ED}"/>
              </a:ext>
            </a:extLst>
          </p:cNvPr>
          <p:cNvSpPr>
            <a:spLocks xmlns:a="http://schemas.openxmlformats.org/drawingml/2006/main" noGrp="1"/>
          </p:cNvSpPr>
          <p:nvPr/>
        </p:nvSpPr>
        <p:spPr>
          <a:xfrm xmlns:a="http://schemas.openxmlformats.org/drawingml/2006/main">
            <a:off x="628650" y="2857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1">
                <a:solidFill>
                  <a:srgbClr val="087E80"/>
                </a:solidFill>
                <a:latin typeface="Arial"/>
                <a:ea typeface="Arial"/>
                <a:cs typeface="Arial"/>
              </a:defRPr>
            </a:defPPr>
            <a:lvl1pPr>
              <a:defRPr sz="1200" b="1">
                <a:solidFill>
                  <a:srgbClr val="087E80"/>
                </a:solidFill>
                <a:latin typeface="Arial"/>
                <a:ea typeface="Arial"/>
                <a:cs typeface="Arial"/>
              </a:defRPr>
            </a:lvl1pPr>
            <a:lvl2pPr>
              <a:defRPr sz="1200" b="1">
                <a:solidFill>
                  <a:srgbClr val="087E80"/>
                </a:solidFill>
                <a:latin typeface="Arial"/>
                <a:ea typeface="Arial"/>
                <a:cs typeface="Arial"/>
              </a:defRPr>
            </a:lvl2pPr>
            <a:lvl3pPr>
              <a:defRPr sz="1200" b="1">
                <a:solidFill>
                  <a:srgbClr val="087E80"/>
                </a:solidFill>
                <a:latin typeface="Arial"/>
                <a:ea typeface="Arial"/>
                <a:cs typeface="Arial"/>
              </a:defRPr>
            </a:lvl3pPr>
            <a:lvl4pPr>
              <a:defRPr sz="1200" b="1">
                <a:solidFill>
                  <a:srgbClr val="087E80"/>
                </a:solidFill>
                <a:latin typeface="Arial"/>
                <a:ea typeface="Arial"/>
                <a:cs typeface="Arial"/>
              </a:defRPr>
            </a:lvl4pPr>
            <a:lvl5pPr>
              <a:defRPr sz="1200" b="1">
                <a:solidFill>
                  <a:srgbClr val="087E80"/>
                </a:solidFill>
                <a:latin typeface="Arial"/>
                <a:ea typeface="Arial"/>
                <a:cs typeface="Arial"/>
              </a:defRPr>
            </a:lvl5pPr>
            <a:lvl6pPr>
              <a:defRPr sz="1200" b="1">
                <a:solidFill>
                  <a:srgbClr val="087E80"/>
                </a:solidFill>
                <a:latin typeface="Arial"/>
                <a:ea typeface="Arial"/>
                <a:cs typeface="Arial"/>
              </a:defRPr>
            </a:lvl6pPr>
            <a:lvl7pPr>
              <a:defRPr sz="1200" b="1">
                <a:solidFill>
                  <a:srgbClr val="087E80"/>
                </a:solidFill>
                <a:latin typeface="Arial"/>
                <a:ea typeface="Arial"/>
                <a:cs typeface="Arial"/>
              </a:defRPr>
            </a:lvl7pPr>
            <a:lvl8pPr>
              <a:defRPr sz="1200" b="1">
                <a:solidFill>
                  <a:srgbClr val="087E80"/>
                </a:solidFill>
                <a:latin typeface="Arial"/>
                <a:ea typeface="Arial"/>
                <a:cs typeface="Arial"/>
              </a:defRPr>
            </a:lvl8pPr>
            <a:lvl9pPr>
              <a:defRPr sz="1200" b="1">
                <a:solidFill>
                  <a:srgbClr val="087E80"/>
                </a:solidFill>
                <a:latin typeface="Arial"/>
                <a:ea typeface="Arial"/>
                <a:cs typeface="Arial"/>
              </a:defRPr>
            </a:lvl9pPr>
          </a:lstStyle>
          <a:p xmlns:a="http://schemas.openxmlformats.org/drawingml/2006/main">
            <a:pPr>
              <a:defRPr sz="1200" b="1">
                <a:solidFill>
                  <a:srgbClr val="087E80"/>
                </a:solidFill>
                <a:latin typeface="Arial"/>
                <a:ea typeface="Arial"/>
                <a:cs typeface="Arial"/>
              </a:defRPr>
            </a:pPr>
            <a:r>
              <a:rPr sz="1200" b="1">
                <a:solidFill>
                  <a:srgbClr val="087E80"/>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458855AA-FCC8-4C42-B716-A14F1F48E836}"/>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B7B"/>
                </a:solidFill>
                <a:latin typeface="Arial"/>
                <a:ea typeface="Arial"/>
                <a:cs typeface="Arial"/>
              </a:defRPr>
            </a:defPPr>
            <a:lvl1pPr>
              <a:defRPr sz="1275" b="0">
                <a:solidFill>
                  <a:srgbClr val="586B7B"/>
                </a:solidFill>
                <a:latin typeface="Arial"/>
                <a:ea typeface="Arial"/>
                <a:cs typeface="Arial"/>
              </a:defRPr>
            </a:lvl1pPr>
            <a:lvl2pPr>
              <a:defRPr sz="1275" b="0">
                <a:solidFill>
                  <a:srgbClr val="586B7B"/>
                </a:solidFill>
                <a:latin typeface="Arial"/>
                <a:ea typeface="Arial"/>
                <a:cs typeface="Arial"/>
              </a:defRPr>
            </a:lvl2pPr>
            <a:lvl3pPr>
              <a:defRPr sz="1275" b="0">
                <a:solidFill>
                  <a:srgbClr val="586B7B"/>
                </a:solidFill>
                <a:latin typeface="Arial"/>
                <a:ea typeface="Arial"/>
                <a:cs typeface="Arial"/>
              </a:defRPr>
            </a:lvl3pPr>
            <a:lvl4pPr>
              <a:defRPr sz="1275" b="0">
                <a:solidFill>
                  <a:srgbClr val="586B7B"/>
                </a:solidFill>
                <a:latin typeface="Arial"/>
                <a:ea typeface="Arial"/>
                <a:cs typeface="Arial"/>
              </a:defRPr>
            </a:lvl4pPr>
            <a:lvl5pPr>
              <a:defRPr sz="1275" b="0">
                <a:solidFill>
                  <a:srgbClr val="586B7B"/>
                </a:solidFill>
                <a:latin typeface="Arial"/>
                <a:ea typeface="Arial"/>
                <a:cs typeface="Arial"/>
              </a:defRPr>
            </a:lvl5pPr>
            <a:lvl6pPr>
              <a:defRPr sz="1275" b="0">
                <a:solidFill>
                  <a:srgbClr val="586B7B"/>
                </a:solidFill>
                <a:latin typeface="Arial"/>
                <a:ea typeface="Arial"/>
                <a:cs typeface="Arial"/>
              </a:defRPr>
            </a:lvl6pPr>
            <a:lvl7pPr>
              <a:defRPr sz="1275" b="0">
                <a:solidFill>
                  <a:srgbClr val="586B7B"/>
                </a:solidFill>
                <a:latin typeface="Arial"/>
                <a:ea typeface="Arial"/>
                <a:cs typeface="Arial"/>
              </a:defRPr>
            </a:lvl7pPr>
            <a:lvl8pPr>
              <a:defRPr sz="1275" b="0">
                <a:solidFill>
                  <a:srgbClr val="586B7B"/>
                </a:solidFill>
                <a:latin typeface="Arial"/>
                <a:ea typeface="Arial"/>
                <a:cs typeface="Arial"/>
              </a:defRPr>
            </a:lvl8pPr>
            <a:lvl9pPr>
              <a:defRPr sz="1275" b="0">
                <a:solidFill>
                  <a:srgbClr val="586B7B"/>
                </a:solidFill>
                <a:latin typeface="Arial"/>
                <a:ea typeface="Arial"/>
                <a:cs typeface="Arial"/>
              </a:defRPr>
            </a:lvl9pPr>
          </a:lstStyle>
          <a:p xmlns:a="http://schemas.openxmlformats.org/drawingml/2006/main">
            <a:pPr>
              <a:defRPr sz="1275" b="0">
                <a:solidFill>
                  <a:srgbClr val="586B7B"/>
                </a:solidFill>
                <a:latin typeface="Arial"/>
                <a:ea typeface="Arial"/>
                <a:cs typeface="Arial"/>
              </a:defRPr>
            </a:pPr>
            <a:r>
              <a:rPr sz="1275" b="0">
                <a:solidFill>
                  <a:srgbClr val="586B7B"/>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5A38C17B-88B2-4990-966A-AC45838EA940}"/>
              </a:ext>
            </a:extLst>
          </p:cNvPr>
          <p:cNvSpPr>
            <a:spLocks xmlns:a="http://schemas.openxmlformats.org/drawingml/2006/main" noGrp="1"/>
          </p:cNvSpPr>
          <p:nvPr/>
        </p:nvSpPr>
        <p:spPr>
          <a:xfrm xmlns:a="http://schemas.openxmlformats.org/drawingml/2006/main">
            <a:off x="666750" y="185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80"/>
                </a:solidFill>
                <a:latin typeface="Arial"/>
                <a:ea typeface="Arial"/>
                <a:cs typeface="Arial"/>
              </a:defRPr>
            </a:defPPr>
            <a:lvl1pPr>
              <a:defRPr sz="2325" b="1">
                <a:solidFill>
                  <a:srgbClr val="087E80"/>
                </a:solidFill>
                <a:latin typeface="Arial"/>
                <a:ea typeface="Arial"/>
                <a:cs typeface="Arial"/>
              </a:defRPr>
            </a:lvl1pPr>
            <a:lvl2pPr>
              <a:defRPr sz="2325" b="1">
                <a:solidFill>
                  <a:srgbClr val="087E80"/>
                </a:solidFill>
                <a:latin typeface="Arial"/>
                <a:ea typeface="Arial"/>
                <a:cs typeface="Arial"/>
              </a:defRPr>
            </a:lvl2pPr>
            <a:lvl3pPr>
              <a:defRPr sz="2325" b="1">
                <a:solidFill>
                  <a:srgbClr val="087E80"/>
                </a:solidFill>
                <a:latin typeface="Arial"/>
                <a:ea typeface="Arial"/>
                <a:cs typeface="Arial"/>
              </a:defRPr>
            </a:lvl3pPr>
            <a:lvl4pPr>
              <a:defRPr sz="2325" b="1">
                <a:solidFill>
                  <a:srgbClr val="087E80"/>
                </a:solidFill>
                <a:latin typeface="Arial"/>
                <a:ea typeface="Arial"/>
                <a:cs typeface="Arial"/>
              </a:defRPr>
            </a:lvl4pPr>
            <a:lvl5pPr>
              <a:defRPr sz="2325" b="1">
                <a:solidFill>
                  <a:srgbClr val="087E80"/>
                </a:solidFill>
                <a:latin typeface="Arial"/>
                <a:ea typeface="Arial"/>
                <a:cs typeface="Arial"/>
              </a:defRPr>
            </a:lvl5pPr>
            <a:lvl6pPr>
              <a:defRPr sz="2325" b="1">
                <a:solidFill>
                  <a:srgbClr val="087E80"/>
                </a:solidFill>
                <a:latin typeface="Arial"/>
                <a:ea typeface="Arial"/>
                <a:cs typeface="Arial"/>
              </a:defRPr>
            </a:lvl6pPr>
            <a:lvl7pPr>
              <a:defRPr sz="2325" b="1">
                <a:solidFill>
                  <a:srgbClr val="087E80"/>
                </a:solidFill>
                <a:latin typeface="Arial"/>
                <a:ea typeface="Arial"/>
                <a:cs typeface="Arial"/>
              </a:defRPr>
            </a:lvl7pPr>
            <a:lvl8pPr>
              <a:defRPr sz="2325" b="1">
                <a:solidFill>
                  <a:srgbClr val="087E80"/>
                </a:solidFill>
                <a:latin typeface="Arial"/>
                <a:ea typeface="Arial"/>
                <a:cs typeface="Arial"/>
              </a:defRPr>
            </a:lvl8pPr>
            <a:lvl9pPr>
              <a:defRPr sz="2325" b="1">
                <a:solidFill>
                  <a:srgbClr val="087E80"/>
                </a:solidFill>
                <a:latin typeface="Arial"/>
                <a:ea typeface="Arial"/>
                <a:cs typeface="Arial"/>
              </a:defRPr>
            </a:lvl9pPr>
          </a:lstStyle>
          <a:p xmlns:a="http://schemas.openxmlformats.org/drawingml/2006/main">
            <a:pPr>
              <a:defRPr sz="2325" b="1">
                <a:solidFill>
                  <a:srgbClr val="087E80"/>
                </a:solidFill>
                <a:latin typeface="Arial"/>
                <a:ea typeface="Arial"/>
                <a:cs typeface="Arial"/>
              </a:defRPr>
            </a:pPr>
            <a:r>
              <a:rPr sz="2325" b="1">
                <a:solidFill>
                  <a:srgbClr val="087E80"/>
                </a:solidFill>
                <a:latin typeface="Arial"/>
                <a:ea typeface="Arial"/>
                <a:cs typeface="Arial"/>
              </a:rPr>
              <a:t>CGMacros v1.0.0</a:t>
            </a:r>
          </a:p>
        </p:txBody>
      </p:sp>
      <p:sp>
        <p:nvSpPr>
          <p:cNvPr id="5" name="">
            <a:extLst xmlns:a="http://schemas.openxmlformats.org/drawingml/2006/main">
              <a:ext uri="{FF2B5EF4-FFF2-40B4-BE49-F238E27FC236}">
                <a16:creationId xmlns:a16="http://schemas.microsoft.com/office/drawing/2014/main" id="{A99D6402-5A00-4BA6-8DE4-07773606CDB2}"/>
              </a:ext>
            </a:extLst>
          </p:cNvPr>
          <p:cNvSpPr>
            <a:spLocks xmlns:a="http://schemas.openxmlformats.org/drawingml/2006/main" noGrp="1"/>
          </p:cNvSpPr>
          <p:nvPr/>
        </p:nvSpPr>
        <p:spPr>
          <a:xfrm xmlns:a="http://schemas.openxmlformats.org/drawingml/2006/main">
            <a:off x="666750" y="23336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32E3B"/>
                </a:solidFill>
                <a:latin typeface="Arial"/>
                <a:ea typeface="Arial"/>
                <a:cs typeface="Arial"/>
              </a:defRPr>
            </a:defPPr>
            <a:lvl1pPr>
              <a:defRPr sz="1875" b="0">
                <a:solidFill>
                  <a:srgbClr val="132E3B"/>
                </a:solidFill>
                <a:latin typeface="Arial"/>
                <a:ea typeface="Arial"/>
                <a:cs typeface="Arial"/>
              </a:defRPr>
            </a:lvl1pPr>
            <a:lvl2pPr>
              <a:defRPr sz="1875" b="0">
                <a:solidFill>
                  <a:srgbClr val="132E3B"/>
                </a:solidFill>
                <a:latin typeface="Arial"/>
                <a:ea typeface="Arial"/>
                <a:cs typeface="Arial"/>
              </a:defRPr>
            </a:lvl2pPr>
            <a:lvl3pPr>
              <a:defRPr sz="1875" b="0">
                <a:solidFill>
                  <a:srgbClr val="132E3B"/>
                </a:solidFill>
                <a:latin typeface="Arial"/>
                <a:ea typeface="Arial"/>
                <a:cs typeface="Arial"/>
              </a:defRPr>
            </a:lvl3pPr>
            <a:lvl4pPr>
              <a:defRPr sz="1875" b="0">
                <a:solidFill>
                  <a:srgbClr val="132E3B"/>
                </a:solidFill>
                <a:latin typeface="Arial"/>
                <a:ea typeface="Arial"/>
                <a:cs typeface="Arial"/>
              </a:defRPr>
            </a:lvl4pPr>
            <a:lvl5pPr>
              <a:defRPr sz="1875" b="0">
                <a:solidFill>
                  <a:srgbClr val="132E3B"/>
                </a:solidFill>
                <a:latin typeface="Arial"/>
                <a:ea typeface="Arial"/>
                <a:cs typeface="Arial"/>
              </a:defRPr>
            </a:lvl5pPr>
            <a:lvl6pPr>
              <a:defRPr sz="1875" b="0">
                <a:solidFill>
                  <a:srgbClr val="132E3B"/>
                </a:solidFill>
                <a:latin typeface="Arial"/>
                <a:ea typeface="Arial"/>
                <a:cs typeface="Arial"/>
              </a:defRPr>
            </a:lvl6pPr>
            <a:lvl7pPr>
              <a:defRPr sz="1875" b="0">
                <a:solidFill>
                  <a:srgbClr val="132E3B"/>
                </a:solidFill>
                <a:latin typeface="Arial"/>
                <a:ea typeface="Arial"/>
                <a:cs typeface="Arial"/>
              </a:defRPr>
            </a:lvl7pPr>
            <a:lvl8pPr>
              <a:defRPr sz="1875" b="0">
                <a:solidFill>
                  <a:srgbClr val="132E3B"/>
                </a:solidFill>
                <a:latin typeface="Arial"/>
                <a:ea typeface="Arial"/>
                <a:cs typeface="Arial"/>
              </a:defRPr>
            </a:lvl8pPr>
            <a:lvl9pPr>
              <a:defRPr sz="1875" b="0">
                <a:solidFill>
                  <a:srgbClr val="132E3B"/>
                </a:solidFill>
                <a:latin typeface="Arial"/>
                <a:ea typeface="Arial"/>
                <a:cs typeface="Arial"/>
              </a:defRPr>
            </a:lvl9pPr>
          </a:lstStyle>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physionet.org/content/cgmacros/1.0.0/</a:t>
            </a:r>
          </a:p>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Dataset license: CC BY-NC-SA 4.0</a:t>
            </a:r>
          </a:p>
        </p:txBody>
      </p:sp>
      <p:sp>
        <p:nvSpPr>
          <p:cNvPr id="6" name="">
            <a:extLst xmlns:a="http://schemas.openxmlformats.org/drawingml/2006/main">
              <a:ext uri="{FF2B5EF4-FFF2-40B4-BE49-F238E27FC236}">
                <a16:creationId xmlns:a16="http://schemas.microsoft.com/office/drawing/2014/main" id="{0D276032-26C4-4913-A216-36F5F4852FBB}"/>
              </a:ext>
            </a:extLst>
          </p:cNvPr>
          <p:cNvSpPr>
            <a:spLocks xmlns:a="http://schemas.openxmlformats.org/drawingml/2006/main" noGrp="1"/>
          </p:cNvSpPr>
          <p:nvPr/>
        </p:nvSpPr>
        <p:spPr>
          <a:xfrm xmlns:a="http://schemas.openxmlformats.org/drawingml/2006/main">
            <a:off x="666750" y="34004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80"/>
                </a:solidFill>
                <a:latin typeface="Arial"/>
                <a:ea typeface="Arial"/>
                <a:cs typeface="Arial"/>
              </a:defRPr>
            </a:defPPr>
            <a:lvl1pPr>
              <a:defRPr sz="2325" b="1">
                <a:solidFill>
                  <a:srgbClr val="087E80"/>
                </a:solidFill>
                <a:latin typeface="Arial"/>
                <a:ea typeface="Arial"/>
                <a:cs typeface="Arial"/>
              </a:defRPr>
            </a:lvl1pPr>
            <a:lvl2pPr>
              <a:defRPr sz="2325" b="1">
                <a:solidFill>
                  <a:srgbClr val="087E80"/>
                </a:solidFill>
                <a:latin typeface="Arial"/>
                <a:ea typeface="Arial"/>
                <a:cs typeface="Arial"/>
              </a:defRPr>
            </a:lvl2pPr>
            <a:lvl3pPr>
              <a:defRPr sz="2325" b="1">
                <a:solidFill>
                  <a:srgbClr val="087E80"/>
                </a:solidFill>
                <a:latin typeface="Arial"/>
                <a:ea typeface="Arial"/>
                <a:cs typeface="Arial"/>
              </a:defRPr>
            </a:lvl3pPr>
            <a:lvl4pPr>
              <a:defRPr sz="2325" b="1">
                <a:solidFill>
                  <a:srgbClr val="087E80"/>
                </a:solidFill>
                <a:latin typeface="Arial"/>
                <a:ea typeface="Arial"/>
                <a:cs typeface="Arial"/>
              </a:defRPr>
            </a:lvl4pPr>
            <a:lvl5pPr>
              <a:defRPr sz="2325" b="1">
                <a:solidFill>
                  <a:srgbClr val="087E80"/>
                </a:solidFill>
                <a:latin typeface="Arial"/>
                <a:ea typeface="Arial"/>
                <a:cs typeface="Arial"/>
              </a:defRPr>
            </a:lvl5pPr>
            <a:lvl6pPr>
              <a:defRPr sz="2325" b="1">
                <a:solidFill>
                  <a:srgbClr val="087E80"/>
                </a:solidFill>
                <a:latin typeface="Arial"/>
                <a:ea typeface="Arial"/>
                <a:cs typeface="Arial"/>
              </a:defRPr>
            </a:lvl6pPr>
            <a:lvl7pPr>
              <a:defRPr sz="2325" b="1">
                <a:solidFill>
                  <a:srgbClr val="087E80"/>
                </a:solidFill>
                <a:latin typeface="Arial"/>
                <a:ea typeface="Arial"/>
                <a:cs typeface="Arial"/>
              </a:defRPr>
            </a:lvl7pPr>
            <a:lvl8pPr>
              <a:defRPr sz="2325" b="1">
                <a:solidFill>
                  <a:srgbClr val="087E80"/>
                </a:solidFill>
                <a:latin typeface="Arial"/>
                <a:ea typeface="Arial"/>
                <a:cs typeface="Arial"/>
              </a:defRPr>
            </a:lvl8pPr>
            <a:lvl9pPr>
              <a:defRPr sz="2325" b="1">
                <a:solidFill>
                  <a:srgbClr val="087E80"/>
                </a:solidFill>
                <a:latin typeface="Arial"/>
                <a:ea typeface="Arial"/>
                <a:cs typeface="Arial"/>
              </a:defRPr>
            </a:lvl9pPr>
          </a:lstStyle>
          <a:p xmlns:a="http://schemas.openxmlformats.org/drawingml/2006/main">
            <a:pPr>
              <a:defRPr sz="2325" b="1">
                <a:solidFill>
                  <a:srgbClr val="087E80"/>
                </a:solidFill>
                <a:latin typeface="Arial"/>
                <a:ea typeface="Arial"/>
                <a:cs typeface="Arial"/>
              </a:defRPr>
            </a:pPr>
            <a:r>
              <a:rPr sz="2325" b="1">
                <a:solidFill>
                  <a:srgbClr val="087E80"/>
                </a:solidFill>
                <a:latin typeface="Arial"/>
                <a:ea typeface="Arial"/>
                <a:cs typeface="Arial"/>
              </a:rPr>
              <a:t>Frozen experiment and audit</a:t>
            </a:r>
          </a:p>
        </p:txBody>
      </p:sp>
      <p:sp>
        <p:nvSpPr>
          <p:cNvPr id="7" name="">
            <a:extLst xmlns:a="http://schemas.openxmlformats.org/drawingml/2006/main">
              <a:ext uri="{FF2B5EF4-FFF2-40B4-BE49-F238E27FC236}">
                <a16:creationId xmlns:a16="http://schemas.microsoft.com/office/drawing/2014/main" id="{2F7FC419-D1BA-40D7-94EB-F511D8B98E63}"/>
              </a:ext>
            </a:extLst>
          </p:cNvPr>
          <p:cNvSpPr>
            <a:spLocks xmlns:a="http://schemas.openxmlformats.org/drawingml/2006/main" noGrp="1"/>
          </p:cNvSpPr>
          <p:nvPr/>
        </p:nvSpPr>
        <p:spPr>
          <a:xfrm xmlns:a="http://schemas.openxmlformats.org/drawingml/2006/main">
            <a:off x="666750" y="39052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32E3B"/>
                </a:solidFill>
                <a:latin typeface="Arial"/>
                <a:ea typeface="Arial"/>
                <a:cs typeface="Arial"/>
              </a:defRPr>
            </a:defPPr>
            <a:lvl1pPr>
              <a:defRPr sz="1875" b="0">
                <a:solidFill>
                  <a:srgbClr val="132E3B"/>
                </a:solidFill>
                <a:latin typeface="Arial"/>
                <a:ea typeface="Arial"/>
                <a:cs typeface="Arial"/>
              </a:defRPr>
            </a:lvl1pPr>
            <a:lvl2pPr>
              <a:defRPr sz="1875" b="0">
                <a:solidFill>
                  <a:srgbClr val="132E3B"/>
                </a:solidFill>
                <a:latin typeface="Arial"/>
                <a:ea typeface="Arial"/>
                <a:cs typeface="Arial"/>
              </a:defRPr>
            </a:lvl2pPr>
            <a:lvl3pPr>
              <a:defRPr sz="1875" b="0">
                <a:solidFill>
                  <a:srgbClr val="132E3B"/>
                </a:solidFill>
                <a:latin typeface="Arial"/>
                <a:ea typeface="Arial"/>
                <a:cs typeface="Arial"/>
              </a:defRPr>
            </a:lvl3pPr>
            <a:lvl4pPr>
              <a:defRPr sz="1875" b="0">
                <a:solidFill>
                  <a:srgbClr val="132E3B"/>
                </a:solidFill>
                <a:latin typeface="Arial"/>
                <a:ea typeface="Arial"/>
                <a:cs typeface="Arial"/>
              </a:defRPr>
            </a:lvl4pPr>
            <a:lvl5pPr>
              <a:defRPr sz="1875" b="0">
                <a:solidFill>
                  <a:srgbClr val="132E3B"/>
                </a:solidFill>
                <a:latin typeface="Arial"/>
                <a:ea typeface="Arial"/>
                <a:cs typeface="Arial"/>
              </a:defRPr>
            </a:lvl5pPr>
            <a:lvl6pPr>
              <a:defRPr sz="1875" b="0">
                <a:solidFill>
                  <a:srgbClr val="132E3B"/>
                </a:solidFill>
                <a:latin typeface="Arial"/>
                <a:ea typeface="Arial"/>
                <a:cs typeface="Arial"/>
              </a:defRPr>
            </a:lvl6pPr>
            <a:lvl7pPr>
              <a:defRPr sz="1875" b="0">
                <a:solidFill>
                  <a:srgbClr val="132E3B"/>
                </a:solidFill>
                <a:latin typeface="Arial"/>
                <a:ea typeface="Arial"/>
                <a:cs typeface="Arial"/>
              </a:defRPr>
            </a:lvl7pPr>
            <a:lvl8pPr>
              <a:defRPr sz="1875" b="0">
                <a:solidFill>
                  <a:srgbClr val="132E3B"/>
                </a:solidFill>
                <a:latin typeface="Arial"/>
                <a:ea typeface="Arial"/>
                <a:cs typeface="Arial"/>
              </a:defRPr>
            </a:lvl8pPr>
            <a:lvl9pPr>
              <a:defRPr sz="1875" b="0">
                <a:solidFill>
                  <a:srgbClr val="132E3B"/>
                </a:solidFill>
                <a:latin typeface="Arial"/>
                <a:ea typeface="Arial"/>
                <a:cs typeface="Arial"/>
              </a:defRPr>
            </a:lvl9pPr>
          </a:lstStyle>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reports/test_comparison.csv</a:t>
            </a:r>
          </a:p>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reports/frozen_config.json</a:t>
            </a:r>
          </a:p>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reports/documentation_event_audit.json</a:t>
            </a:r>
          </a:p>
        </p:txBody>
      </p:sp>
      <p:sp>
        <p:nvSpPr>
          <p:cNvPr id="8" name="">
            <a:extLst xmlns:a="http://schemas.openxmlformats.org/drawingml/2006/main">
              <a:ext uri="{FF2B5EF4-FFF2-40B4-BE49-F238E27FC236}">
                <a16:creationId xmlns:a16="http://schemas.microsoft.com/office/drawing/2014/main" id="{5E0CC0E6-6BD9-4D7C-B941-8AAB3F11E2BE}"/>
              </a:ext>
            </a:extLst>
          </p:cNvPr>
          <p:cNvSpPr>
            <a:spLocks xmlns:a="http://schemas.openxmlformats.org/drawingml/2006/main" noGrp="1"/>
          </p:cNvSpPr>
          <p:nvPr/>
        </p:nvSpPr>
        <p:spPr>
          <a:xfrm xmlns:a="http://schemas.openxmlformats.org/drawingml/2006/main">
            <a:off x="666750" y="5267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32E3B"/>
                </a:solidFill>
                <a:latin typeface="Arial"/>
                <a:ea typeface="Arial"/>
                <a:cs typeface="Arial"/>
              </a:defRPr>
            </a:defPPr>
            <a:lvl1pPr>
              <a:defRPr sz="1875" b="0">
                <a:solidFill>
                  <a:srgbClr val="132E3B"/>
                </a:solidFill>
                <a:latin typeface="Arial"/>
                <a:ea typeface="Arial"/>
                <a:cs typeface="Arial"/>
              </a:defRPr>
            </a:lvl1pPr>
            <a:lvl2pPr>
              <a:defRPr sz="1875" b="0">
                <a:solidFill>
                  <a:srgbClr val="132E3B"/>
                </a:solidFill>
                <a:latin typeface="Arial"/>
                <a:ea typeface="Arial"/>
                <a:cs typeface="Arial"/>
              </a:defRPr>
            </a:lvl2pPr>
            <a:lvl3pPr>
              <a:defRPr sz="1875" b="0">
                <a:solidFill>
                  <a:srgbClr val="132E3B"/>
                </a:solidFill>
                <a:latin typeface="Arial"/>
                <a:ea typeface="Arial"/>
                <a:cs typeface="Arial"/>
              </a:defRPr>
            </a:lvl3pPr>
            <a:lvl4pPr>
              <a:defRPr sz="1875" b="0">
                <a:solidFill>
                  <a:srgbClr val="132E3B"/>
                </a:solidFill>
                <a:latin typeface="Arial"/>
                <a:ea typeface="Arial"/>
                <a:cs typeface="Arial"/>
              </a:defRPr>
            </a:lvl4pPr>
            <a:lvl5pPr>
              <a:defRPr sz="1875" b="0">
                <a:solidFill>
                  <a:srgbClr val="132E3B"/>
                </a:solidFill>
                <a:latin typeface="Arial"/>
                <a:ea typeface="Arial"/>
                <a:cs typeface="Arial"/>
              </a:defRPr>
            </a:lvl5pPr>
            <a:lvl6pPr>
              <a:defRPr sz="1875" b="0">
                <a:solidFill>
                  <a:srgbClr val="132E3B"/>
                </a:solidFill>
                <a:latin typeface="Arial"/>
                <a:ea typeface="Arial"/>
                <a:cs typeface="Arial"/>
              </a:defRPr>
            </a:lvl6pPr>
            <a:lvl7pPr>
              <a:defRPr sz="1875" b="0">
                <a:solidFill>
                  <a:srgbClr val="132E3B"/>
                </a:solidFill>
                <a:latin typeface="Arial"/>
                <a:ea typeface="Arial"/>
                <a:cs typeface="Arial"/>
              </a:defRPr>
            </a:lvl7pPr>
            <a:lvl8pPr>
              <a:defRPr sz="1875" b="0">
                <a:solidFill>
                  <a:srgbClr val="132E3B"/>
                </a:solidFill>
                <a:latin typeface="Arial"/>
                <a:ea typeface="Arial"/>
                <a:cs typeface="Arial"/>
              </a:defRPr>
            </a:lvl8pPr>
            <a:lvl9pPr>
              <a:defRPr sz="1875" b="0">
                <a:solidFill>
                  <a:srgbClr val="132E3B"/>
                </a:solidFill>
                <a:latin typeface="Arial"/>
                <a:ea typeface="Arial"/>
                <a:cs typeface="Arial"/>
              </a:defRPr>
            </a:lvl9pPr>
          </a:lstStyle>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Local demo: python3 glucotwin/run.py</a:t>
            </a:r>
          </a:p>
          <a:p xmlns:a="http://schemas.openxmlformats.org/drawingml/2006/main">
            <a:pPr>
              <a:defRPr sz="1875" b="0">
                <a:solidFill>
                  <a:srgbClr val="132E3B"/>
                </a:solidFill>
                <a:latin typeface="Arial"/>
                <a:ea typeface="Arial"/>
                <a:cs typeface="Arial"/>
              </a:defRPr>
            </a:pPr>
            <a:r>
              <a:rPr sz="1875" b="0">
                <a:solidFill>
                  <a:srgbClr val="132E3B"/>
                </a:solidFill>
                <a:latin typeface="Arial"/>
                <a:ea typeface="Arial"/>
                <a:cs typeface="Arial"/>
              </a:rPr>
              <a:t>Verification: python3 scripts/check.py (inside glucotwin)</a:t>
            </a:r>
          </a:p>
        </p:txBody>
      </p:sp>
    </p:spTree>
    <p:extLst>
      <p:ext uri="{BB962C8B-B14F-4D97-AF65-F5344CB8AC3E}">
        <p14:creationId xmlns:p14="http://schemas.microsoft.com/office/powerpoint/2010/main" val="1676342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2026-10-24T10:57:29.5440000Z</dcterms:created>
  <dcterms:modified xsi:type="dcterms:W3CDTF">2026-10-24T10:57:29.5440000Z</dcterms:modified>
</coreProperties>
</file>